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884f89a31d415c" /><Relationship Type="http://schemas.openxmlformats.org/officeDocument/2006/relationships/extended-properties" Target="/docProps/app.xml" Id="R0cffde44c4d8440b" /><Relationship Type="http://schemas.openxmlformats.org/officeDocument/2006/relationships/officeDocument" Target="/ppt/presentation.xml" Id="Rfd06bd8b7b6b4408" /></Relationships>
</file>

<file path=ppt/presentation.xml><?xml version="1.0" encoding="utf-8"?>
<p:presentation xmlns:p="http://schemas.openxmlformats.org/presentationml/2006/main">
  <p:sldMasterIdLst>
    <p:sldMasterId xmlns:r="http://schemas.openxmlformats.org/officeDocument/2006/relationships" id="2147483648" r:id="Re88b95a3a5ab4ed5"/>
  </p:sldMasterIdLst>
  <p:notesMasterIdLst>
    <p:notesMasterId xmlns:r="http://schemas.openxmlformats.org/officeDocument/2006/relationships" r:id="R3515797c631c4d6f"/>
  </p:notesMasterIdLst>
  <p:sldIdLst>
    <p:sldId xmlns:r="http://schemas.openxmlformats.org/officeDocument/2006/relationships" id="256" r:id="R3795fa32638e4a2c"/>
    <p:sldId xmlns:r="http://schemas.openxmlformats.org/officeDocument/2006/relationships" id="257" r:id="R5fbeb16591714a65"/>
    <p:sldId xmlns:r="http://schemas.openxmlformats.org/officeDocument/2006/relationships" id="258" r:id="Rc8552d6d649a4f2b"/>
    <p:sldId xmlns:r="http://schemas.openxmlformats.org/officeDocument/2006/relationships" id="259" r:id="Rde656423e2b34850"/>
    <p:sldId xmlns:r="http://schemas.openxmlformats.org/officeDocument/2006/relationships" id="260" r:id="Rfebe2169e8594768"/>
    <p:sldId xmlns:r="http://schemas.openxmlformats.org/officeDocument/2006/relationships" id="261" r:id="Rf901cd984cb442fe"/>
    <p:sldId xmlns:r="http://schemas.openxmlformats.org/officeDocument/2006/relationships" id="262" r:id="R5ac19aad77c84a61"/>
    <p:sldId xmlns:r="http://schemas.openxmlformats.org/officeDocument/2006/relationships" id="263" r:id="R24dae5e80bb345d3"/>
    <p:sldId xmlns:r="http://schemas.openxmlformats.org/officeDocument/2006/relationships" id="264" r:id="R62eb98352e994026"/>
    <p:sldId xmlns:r="http://schemas.openxmlformats.org/officeDocument/2006/relationships" id="265" r:id="Rab65d65ff93b452b"/>
    <p:sldId xmlns:r="http://schemas.openxmlformats.org/officeDocument/2006/relationships" id="266" r:id="R62552bd362c84169"/>
    <p:sldId xmlns:r="http://schemas.openxmlformats.org/officeDocument/2006/relationships" id="267" r:id="R037cf800fcfd4b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6f902ef97c418a" /><Relationship Type="http://schemas.openxmlformats.org/officeDocument/2006/relationships/slideMaster" Target="/ppt/slideMasters/slideMaster1.xml" Id="Re88b95a3a5ab4ed5" /><Relationship Type="http://schemas.openxmlformats.org/officeDocument/2006/relationships/notesMaster" Target="/ppt/notesMasters/notesMaster1.xml" Id="R3515797c631c4d6f" /><Relationship Type="http://schemas.openxmlformats.org/officeDocument/2006/relationships/presProps" Target="/ppt/presProps.xml" Id="R2c88c0d9abea4561" /><Relationship Type="http://schemas.openxmlformats.org/officeDocument/2006/relationships/tableStyles" Target="/ppt/tableStyles.xml" Id="R4e691e6b7e36456d" /><Relationship Type="http://schemas.openxmlformats.org/officeDocument/2006/relationships/slide" Target="/ppt/slides/slide1.xml" Id="R3795fa32638e4a2c" /><Relationship Type="http://schemas.openxmlformats.org/officeDocument/2006/relationships/slide" Target="/ppt/slides/slide2.xml" Id="R5fbeb16591714a65" /><Relationship Type="http://schemas.openxmlformats.org/officeDocument/2006/relationships/slide" Target="/ppt/slides/slide3.xml" Id="Rc8552d6d649a4f2b" /><Relationship Type="http://schemas.openxmlformats.org/officeDocument/2006/relationships/slide" Target="/ppt/slides/slide4.xml" Id="Rde656423e2b34850" /><Relationship Type="http://schemas.openxmlformats.org/officeDocument/2006/relationships/slide" Target="/ppt/slides/slide5.xml" Id="Rfebe2169e8594768" /><Relationship Type="http://schemas.openxmlformats.org/officeDocument/2006/relationships/slide" Target="/ppt/slides/slide6.xml" Id="Rf901cd984cb442fe" /><Relationship Type="http://schemas.openxmlformats.org/officeDocument/2006/relationships/slide" Target="/ppt/slides/slide7.xml" Id="R5ac19aad77c84a61" /><Relationship Type="http://schemas.openxmlformats.org/officeDocument/2006/relationships/slide" Target="/ppt/slides/slide8.xml" Id="R24dae5e80bb345d3" /><Relationship Type="http://schemas.openxmlformats.org/officeDocument/2006/relationships/slide" Target="/ppt/slides/slide9.xml" Id="R62eb98352e994026" /><Relationship Type="http://schemas.openxmlformats.org/officeDocument/2006/relationships/slide" Target="/ppt/slides/slide10.xml" Id="Rab65d65ff93b452b" /><Relationship Type="http://schemas.openxmlformats.org/officeDocument/2006/relationships/slide" Target="/ppt/slides/slide11.xml" Id="R62552bd362c84169" /><Relationship Type="http://schemas.openxmlformats.org/officeDocument/2006/relationships/slide" Target="/ppt/slides/slide12.xml" Id="R037cf800fcfd4b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dc33e6b4f44a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dbe10651a040c9" /><Relationship Type="http://schemas.openxmlformats.org/officeDocument/2006/relationships/notesMaster" Target="/ppt/notesMasters/notesMaster1.xml" Id="Re2c6bd6ab2eb47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14a987a6f74332" /><Relationship Type="http://schemas.openxmlformats.org/officeDocument/2006/relationships/notesMaster" Target="/ppt/notesMasters/notesMaster1.xml" Id="R2109f95d0e1041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7d639fac0347e2" /><Relationship Type="http://schemas.openxmlformats.org/officeDocument/2006/relationships/notesMaster" Target="/ppt/notesMasters/notesMaster1.xml" Id="R060e91189bf54d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e88cfc3eb74b6e" /><Relationship Type="http://schemas.openxmlformats.org/officeDocument/2006/relationships/notesMaster" Target="/ppt/notesMasters/notesMaster1.xml" Id="Rbc604ff6f3f14c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0f9418bc474d46" /><Relationship Type="http://schemas.openxmlformats.org/officeDocument/2006/relationships/notesMaster" Target="/ppt/notesMasters/notesMaster1.xml" Id="R5ad6028fc70144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5a85af972a42be" /><Relationship Type="http://schemas.openxmlformats.org/officeDocument/2006/relationships/notesMaster" Target="/ppt/notesMasters/notesMaster1.xml" Id="R00bc094a6bb245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def8b366a94da1" /><Relationship Type="http://schemas.openxmlformats.org/officeDocument/2006/relationships/notesMaster" Target="/ppt/notesMasters/notesMaster1.xml" Id="R28c073cb2e8c41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d46c56cfce434d" /><Relationship Type="http://schemas.openxmlformats.org/officeDocument/2006/relationships/notesMaster" Target="/ppt/notesMasters/notesMaster1.xml" Id="R0e18777919874c8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a7d33ac2cd4c2e" /><Relationship Type="http://schemas.openxmlformats.org/officeDocument/2006/relationships/notesMaster" Target="/ppt/notesMasters/notesMaster1.xml" Id="R34d03e85c12e4a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ccef4439bc4ec7" /><Relationship Type="http://schemas.openxmlformats.org/officeDocument/2006/relationships/notesMaster" Target="/ppt/notesMasters/notesMaster1.xml" Id="R107242ff84cd41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428b544cfe4878" /><Relationship Type="http://schemas.openxmlformats.org/officeDocument/2006/relationships/notesMaster" Target="/ppt/notesMasters/notesMaster1.xml" Id="Rab44952fe10a4f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ded1263f794b74" /><Relationship Type="http://schemas.openxmlformats.org/officeDocument/2006/relationships/notesMaster" Target="/ppt/notesMasters/notesMaster1.xml" Id="Ra304b8f496e84a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TenderProof. Team: SwissChivers. A proposed enterprise engineering/procurement workflow, demonstrated only with authentic documents and actual recorded behavior. Target users are hypotheses, not claimed customers. Personal contributor details remain unset. Team-authored documentation CC-BY-4.0.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problem and proposed target-buyer framing: evidence passes across engineering, procurement and quality roles. This has not been validated through customer interviews or a deployed customer pilot. We propose making those handoffs inspectable; no measured time-saving, market-size or financial result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workspace behavior is described in track_2b/docs/FRONTEND_REPORT.md and the service code. The four launch features are requirements review, supplier comparison, acceptance evidence and change/approval control. Planned ERP/PLM, supplier portal, SSO and cross-project functions are not represented as implemented. Missing records remain absent in the live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service design: source-linked candidates stay pending; human reviewers approve interpretations; consistency is checked before implication for encoded supported quantities; absent/unsupported evidence stays unknown. Commercial arithmetic uses integer minor units. Full-package recomputation is conservative, not selective incremental reasoning. Purchase requires Engineer + Commercial; shipment Inspector + Commercial. Export produces an immutable local review packet, not an external order or physical shipment.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source-review capture: {"id":"final_price_detail","path":"captures/final-price-correction-detail.png","view":"audited_price_correction","caption":"Actual DOM region: original model total and assistant source-reading correction to unit price, explicitly pending.","sha256":"2a3b4c3ff7793719c0fbaa4367e467b77a76b638aa67c02bb3195daaeb398e81","captured_at":"2026-10-15T14:44:47.819108+00:00","source_ids":["gpa-op34276"],"inference_run_ids":["20261015T130000Z-gpa-07025-bid-abstract-supplier","20261015T131338Z-gpa-op34276-supplier","20261015T131723Z-gpa-07025-amendments-requirements","20261015T132316Z-gpa-op34276-requirements","20261015T134845Z-gpa-07025-full-ifb-amendment-i-requirements"],"snapshot_hash":"fec4b6ba125c296f9564f2e475ef6e441b1ee93a55a7ccbc2df826b2a2620ba6","project_version":13,"capture_revision":"index-BIw0oLeV.js / index-CEeYgm3n.css","method":"Playwright screenshot of authenticated local app; no business data mutated","review":"Visually inspected actual captured state","region_note":"Actual DOM element screenshot"}. Retained provenance checkpoint: {"id":"final_provenance","path":"captures/final-source-provenance.png","view":"source_provenance","caption":"Full tender provenance in the actual source inspector at version 13.","sha256":"cbf9d9cde07e4764ac96e0ac33489cf4678704ba6fe47ab2166c12b34d4a0288","captured_at":"2026-10-15T14:44:45.203606+00:00","source_ids":["gpa-07025-full-ifb-amendment-i"],"inference_run_ids":["20261015T130000Z-gpa-07025-bid-abstract-supplier","20261015T131338Z-gpa-op34276-supplier","20261015T131723Z-gpa-07025-amendments-requirements","20261015T132316Z-gpa-op34276-requirements","20261015T134845Z-gpa-07025-full-ifb-amendment-i-requirements"],"snapshot_hash":"fec4b6ba125c296f9564f2e475ef6e441b1ee93a55a7ccbc2df826b2a2620ba6","project_version":13,"capture_revision":"index-BIw0oLeV.js / index-CEeYgm3n.css","method":"Playwright screenshot of authenticated local app; no business data mutated","review":"Visually inspected actual captured state","region_note":"Full 1600x1000 viewport screenshot"}. Recorded PO item 2: 3 x USD37,105.50 = USD111,316.50; primary13.8kV, secondary120/208V. The USD201,964.10 total also includes a separate300kVA line outside this scope. Awarded vendor R&amp;D Marketing and Lypco International; manufacturer Eaglerise Electric &amp; Electronic (China) Co.; model ZGSLB-750/13.8-0.208. Five authentic source PDFs total95 attachment pages with overlap. Public historical case, not a GPA customer/partner claim. Guam Power Authority: Awarded purchase order OP34276. https://go.opengovguam.com/uploads/ggbids/packet_1765520985_OP%2034276.pdf; SHA-256 da91f24252a7131e06a9861e56593a66146173bf0e8d0764f2194e6e63b8c551; rights: Redistribution permission not established; original retained in ignored local runtime storage</a:t>
            </a:r>
          </a:p>
          <a:p xmlns:a="http://schemas.openxmlformats.org/drawingml/2006/main">
            <a:r>
              <a:t>Guam Power Authority: Engineering specification E-004 Revision 10. https://go.opengovguam.com/app/webroot/userfiles/files/Spec%20E-004%20Revision%2010%20-%20Three%20Phase%20Pad%20Mounted%20Distribution%20Transformer%282%29.pdf; SHA-256 d21a10dd0d4b31ad85c1bfa1fa07d577b0beeccd24774d109cef94129a05c414; rights: Redistribution permission not established; original retained in ignored local runtime storage</a:t>
            </a:r>
          </a:p>
          <a:p xmlns:a="http://schemas.openxmlformats.org/drawingml/2006/main">
            <a:r>
              <a:t>Guam Power Authority: GPA-070-25 original bid abstract. https://go.opengovguam.com/uploads/ggbids/packet_1765520985_GPA-070-25%20Bid%20Abstract.pdf; SHA-256 ea238725bcf796aa9df08ba0d7cffacd105943a0782fd05b736f9cc5ed9a4b8b; rights: Redistribution permission not established; original retained in ignored local runtime storage</a:t>
            </a:r>
          </a:p>
          <a:p xmlns:a="http://schemas.openxmlformats.org/drawingml/2006/main">
            <a:r>
              <a:t>Guam Power Authority: Portal issuance attachment: amendments and invitation, not the full original IFB. https://go.opengovguam.com/uploads/ggbids/packet_1765520985_GPA-070-25%20IFB%20Issuance.pdf; SHA-256 32b395fcaa2ea49d054f63b38f6f53508a4dba32be5f0559f51e94b530ece22b; rights: Redistribution permission not established; original retained in ignored local runtime storage</a:t>
            </a:r>
          </a:p>
          <a:p xmlns:a="http://schemas.openxmlformats.org/drawingml/2006/main">
            <a:r>
              <a:t>Guam Power Authority: Original 55-page GPA-070-25 IFB with Amendment I (57 PDF pages). https://www.ppa.org.fj/wp-content/uploads/2025/08/220825GPA-GPA-070-25-with-Amendment-I.pdf; SHA-256 a101432f314d0839c3d114779f42b03e7b08766476a78eb817074ea7d1f01d10; rights: Redistribution permission not established; mirror original retained in ignored local runtime storage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saved proposals include wrong properties and bidder/item associations. All remain pending. The full57-page run took427.118s, with all1214spans supplied, one failed audit and a row cap; source coverage is not extraction completeness. Actual completed inference record: {"directory":"20261015T134845Z-gpa-07025-full-ifb-amendment-i-requirements","document":"gpa-07025-full-ifb-amendment-i.pdf","kind":"requirements","status":"succeeded","http_status":200,"latency_seconds":427.118,"source_spans":1214,"api_response_sha256":"02d07eae5f486c0284aca76e8fd8f07a549070204e3e2d177b368f66ec1e8a15","failure_detail":null,"snapshot_before":"6601445a0d9b5665a5409f9fb7a740ec57d5769bc0e1fc36900f7d5d6c428e63","snapshot_after":"0abe08b3191437e6b1241711c220cce5912a76573589f5b747f61fa43ee54d3d","counts_after":{"requirements":35,"proposals":4,"suppliers":0,"evidence":0,"decisions":0},"id":"20261015T134845Z-gpa-07025-full-ifb-amendment-i-requirements","outcome_meaning":"Pipeline persisted pending proposals; not quality acceptance","model":"swiss-ai/Apertus-v1.5-8B","model_revision":"ef4bbc54d6fe658bc782280ff9f3b53a10a9758f","source_document_sha256":"a101432f314d0839c3d114779f42b03e7b08766476a78eb817074ea7d1f01d10","run_response_path":".runtime/actual-inference/20261015T134845Z-gpa-07025-full-ifb-amendment-i-requirements/api-response.json","run_response_sha256":"02d07eae5f486c0284aca76e8fd8f07a549070204e3e2d177b368f66ec1e8a15","call_trace_ids":["948075aa26aa44d9bea56e7e7196b890","50ec1fd094b84de4bc5fa4978d35b66c","96c04fba1af746e5b89304a10ca11ab0","9f98a7db77dd43f2854c0e8d41fbd2fd","d804ac4475f544d1a9c30d7bc9ad54c3","c5f552a62ace4c71ac0d7d77be019e42","cdd8ebcb7497481ab1e4ef51514fc84a","342478ff5b8448a692e4455dc12b7771","4229e1873843459f81945ac3129cc4fe","014ed9b567a9471d94031492b3888a22","87b91cc18b824b21bf267864d0b1c6ec","bac6f321d46643a29481d9396dfefd8e","55d2e8f177bf41649c9149d10e3f9827","33e0109fd04842da9a42d65434f0e8ad","4319f93f33834736a776c707e955faaf","f98c02bb2963470d8168de089942d992","fd4956f4f893430cb1e8c986ee8c59b7","99a021eb476349a19ff0968247cd6e36","9d784b70bd714fb28be5e3df4a6bea31","7c534a7a9f2a4b7a84245f8d114b041e","4cc3d173ab05429d85b7e442811ec00b","6b43f7aa8f7046dd9545481af091f8af","5fde18e12af043509a876e50c26f55aa"],"trace_calls_linked":23,"request_path":".runtime/actual-model-traces/50ec1fd094b84de4bc5fa4978d35b66c/request.json","raw_response_path":".runtime/actual-model-traces/50ec1fd094b84de4bc5fa4978d35b66c/response.json","input_sha256":"12a72488b75bda1bc2dcc98f55eb4e5bf8ba768ac23e122c2a61d3e0f4e54410","raw_response_sha256":"3b0b9791596e493f5d4ea3c73ccdf74535213563f0e34b755584b37362f4b602","request_scope":"Representative mapper call; complete run source coverage and all role calls recorded separately","coverage":{"all_original_spans_present":true,"source_character_count":233182,"source_sha256":"fb5b2d536fbabdd29d0f65ada6c79d1e3b67424f5a7ab3bc0e4f9bd9c30f3ca1","source_span_count":1214},"window_count":6,"planned_call_count":24,"audit_failures":[{"reason":"Apertus adversarial challenger failed or returned invalid structured output. Its output reached the max_tokens limit and was truncated. No decisions were approved.","role":"adversarial challenger","window":1}],"rejected_row_count":0,"issues":["Pad Mounted Transformers: unit 'kVA' not shown in source spans s9, s32, s168, s228 (span s9)","adversarial challenger returned invalid or truncated structured output; this window has no result from that role.","Transformer kVA Size: 750 kVA shown in source_ids [s730,s731,s732,s733,s734,s735,s736] but not in source_id s675","Secondary Voltage: 480Y/277V shown in source_ids [s731,s732] but not in source_id s675","External Dry-film Thickness: 3.5 mil shown in source_ids [s717] but not in source_id s675","Transformer kVA Size: No specific kVA value provided in source spans (span s730-s734). (span s730)","This window returned the 15-row output cap, so more obligations or offers may exist in it; review the source pages.","Transformer Rating: value '750' not shown in span s1012 (span contains no numeric rating)","Primary Voltage: value '13.8' not shown in span s1012 (span contains no numeric voltage)","Secondary Voltage: value '120' not shown in span s1012 (span contains no numeric voltage)","Equipment Type: value '3' not shown in span s1012 (span contains no numeric equipment type)","Transformer Rating: value '750' comes from the selected line item's own column, not from another line item (span s1012)","Primary Voltage: value '13.8' comes from the selected line item's own column, not from another line item (span s1012)","Secondary Voltage: value '120' comes from the selected line item's own column, not from another line item (span s1012)","Equipment Type: value '3' comes from the selected line item's own column, not from another line item (span s1012)","Equipment Type: 750 kVA not shown in source span s1089 (span shows only GPA-070-25 · OP34276 · Item 2)","Item Number: 2 not shown in source span s1089 (span shows only GPA-070-25 · OP34276 · Item 2)","Secondary Voltage: 120/208 V not shown in source span s1089 (span shows only GPA-070-25 · OP34276 · Item 2)","Primary Voltage: 13.8 kV not shown in source span s1089 (span shows only GPA-070-25 · OP34276 · Item 2)","Equipment Type '750 kVA' is not a line item column value but a description; no line item price is provided for GPA-070-25/OP34276 item 2 (span s1089) (span s1089)","Transformer Rating: 750 kVA not shown in span s1163 (shows 300 kVA item 1 and 750 kVA item 2 but no explicit 750 kVA value), span s1166 (same)","Pad Mounted: Not shown in span s1163 (only 300 kVA item 1 and 750 kVA item 2 but no explicit pad-mounted value)","Primary Voltage: Not shown in span s1163 (only 13.8 kV primary and 120/208 V secondary but no explicit 13.8 kV value)","Secondary Voltage: Not shown in span s1163 (only 120/208 V secondary but no explicit 120 V value)","Secondary Configuration: Not shown in span s1163 (only 120/208 V secondary but no explicit 208 V value)","Bid Guarantee Requirement: 15% not shown in span s1181 (only mentions Bid Guarantee – 15% but no explicit 15 value)","Manufacturer Certificate Requirement: 1 certificate not shown in span s1182 (only mentions Manufacturer’s Certificate but no explicit 1 value)","Local Procurement Preference: 750 kVA not shown in span s1207 (only mentions 750 kVA threshold but no explicit 750 value)","Bid Guarantee Requirement: 15% bid guarantee percentage not defined in source (span s1181)","Manufacturer Certificate Requirement: Requirement to submit manufacturer's certificate not defined in source (span s1182)","Local Procurement Preference: 750 kVA threshold for local procurement preference not defined in source (span s1207)","Bid submission envelope addressing: unit 'kV' is not present in span s1212 (span s1212)","Invoice copy requirement: unit 'copies' is not present in span s1213 (span s1213)","Service compliance phase: unit 'Phase' is not present in span s1214 (span s1214)","Bid submission envelope addressing: source s1212 does not specify envelope addressing instructions (span undefined)","Invoice copy requirement: source s1213 does not mention quadruplicate invoices (span undefined)","Service compliance phase: source s1214 lacks clear phase description (span undefined)"]}. Actual UI capture: {"id":"requirements_slide","path":"captures/requirements-slide-detail.png","view":"actual_inference","caption":"Actual pending requirements after five genuine source-kind runs; 35 pending, zero approved.","sha256":"87ba1f836c4bf328bb7dfaf9fdc95a82203b0ba2f32d38c5751b219608a52c0c","captured_at":"2026-10-15T14:44:44.315363+00:00","source_ids":["gpa-07025-full-ifb-amendment-i","gpa-op34276"],"inference_run_ids":["20261015T130000Z-gpa-07025-bid-abstract-supplier","20261015T131338Z-gpa-op34276-supplier","20261015T131723Z-gpa-07025-amendments-requirements","20261015T132316Z-gpa-op34276-requirements","20261015T134845Z-gpa-07025-full-ifb-amendment-i-requirements"],"snapshot_hash":"fec4b6ba125c296f9564f2e475ef6e441b1ee93a55a7ccbc2df826b2a2620ba6","project_version":13,"capture_revision":"index-BIw0oLeV.js / index-CEeYgm3n.css","method":"Unmodified pixel crop of registered actual UI screenshot for slide legibility","review":"Visually inspected actual captured state","region_note":"Full 1600x1000 viewport screenshot","parent_capture_id":"final_requirements","crop_pixels":[286,552,1234,952]}. The separately annotated QA reference is not the model input. Raw response is preserved. Results, corrections, failures and output counts must follow the actual trace; no model-quality score is prewritten. Guam Power Authority: Awarded purchase order OP34276. https://go.opengovguam.com/uploads/ggbids/packet_1765520985_OP%2034276.pdf; SHA-256 da91f24252a7131e06a9861e56593a66146173bf0e8d0764f2194e6e63b8c551; rights: Redistribution permission not established; original retained in ignored local runtime storage</a:t>
            </a:r>
          </a:p>
          <a:p xmlns:a="http://schemas.openxmlformats.org/drawingml/2006/main">
            <a:r>
              <a:t>Guam Power Authority: Engineering specification E-004 Revision 10. https://go.opengovguam.com/app/webroot/userfiles/files/Spec%20E-004%20Revision%2010%20-%20Three%20Phase%20Pad%20Mounted%20Distribution%20Transformer%282%29.pdf; SHA-256 d21a10dd0d4b31ad85c1bfa1fa07d577b0beeccd24774d109cef94129a05c414; rights: Redistribution permission not established; original retained in ignored local runtime storage</a:t>
            </a:r>
          </a:p>
          <a:p xmlns:a="http://schemas.openxmlformats.org/drawingml/2006/main">
            <a:r>
              <a:t>Guam Power Authority: GPA-070-25 original bid abstract. https://go.opengovguam.com/uploads/ggbids/packet_1765520985_GPA-070-25%20Bid%20Abstract.pdf; SHA-256 ea238725bcf796aa9df08ba0d7cffacd105943a0782fd05b736f9cc5ed9a4b8b; rights: Redistribution permission not established; original retained in ignored local runtime storage</a:t>
            </a:r>
          </a:p>
          <a:p xmlns:a="http://schemas.openxmlformats.org/drawingml/2006/main">
            <a:r>
              <a:t>Guam Power Authority: Portal issuance attachment: amendments and invitation, not the full original IFB. https://go.opengovguam.com/uploads/ggbids/packet_1765520985_GPA-070-25%20IFB%20Issuance.pdf; SHA-256 32b395fcaa2ea49d054f63b38f6f53508a4dba32be5f0559f51e94b530ece22b; rights: Redistribution permission not established; original retained in ignored local runtime storage</a:t>
            </a:r>
          </a:p>
          <a:p xmlns:a="http://schemas.openxmlformats.org/drawingml/2006/main">
            <a:r>
              <a:t>Guam Power Authority: Original 55-page GPA-070-25 IFB with Amendment I (57 PDF pages). https://www.ppa.org.fj/wp-content/uploads/2025/08/220825GPA-GPA-070-25-with-Amendment-I.pdf; SHA-256 a101432f314d0839c3d114779f42b03e7b08766476a78eb817074ea7d1f01d10; rights: Redistribution permission not established; mirror original retained in ignored local runtime storage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capture: {"id":"acceptance_slide","path":"captures/acceptance-slide-detail.png","view":"acceptance_blocked","caption":"Actual acceptance workspace with missing evidence, incomplete extraction and disabled gate creation.","sha256":"8f750ebba69743a84bf915a27b84da2b02fcaef11c23a4ac65fd10d944945cf0","captured_at":"2026-10-15T14:44:50.415097+00:00","source_ids":["gpa-07025-full-ifb-amendment-i","gpa-op34276"],"inference_run_ids":["20261015T130000Z-gpa-07025-bid-abstract-supplier","20261015T131338Z-gpa-op34276-supplier","20261015T131723Z-gpa-07025-amendments-requirements","20261015T132316Z-gpa-op34276-requirements","20261015T134845Z-gpa-07025-full-ifb-amendment-i-requirements"],"snapshot_hash":"fec4b6ba125c296f9564f2e475ef6e441b1ee93a55a7ccbc2df826b2a2620ba6","project_version":13,"capture_revision":"index-BIw0oLeV.js / index-CEeYgm3n.css","method":"Unmodified pixel crop of registered actual UI screenshot for slide legibility","review":"Visually inspected actual captured state","region_note":"Full 1600x1000 viewport screenshot","parent_capture_id":"final_acceptance","crop_pixels":[286,542,1568,974]}. All five authentic sources were reviewed. Requirements for certified tests, drawings and delivery identifiers are not completed test reports or manufactured-unit evidence. Specification Rev.10 is not the unit design revision. The 24-week delivery trigger follows actual drawing approval, whose date is absent. The prototype cannot clear shipment on those inputs; this does not establish supplier noncompliance. Guam Power Authority: Awarded purchase order OP34276. https://go.opengovguam.com/uploads/ggbids/packet_1765520985_OP%2034276.pdf; SHA-256 da91f24252a7131e06a9861e56593a66146173bf0e8d0764f2194e6e63b8c551; rights: Redistribution permission not established; original retained in ignored local runtime storage</a:t>
            </a:r>
          </a:p>
          <a:p xmlns:a="http://schemas.openxmlformats.org/drawingml/2006/main">
            <a:r>
              <a:t>Guam Power Authority: Engineering specification E-004 Revision 10. https://go.opengovguam.com/app/webroot/userfiles/files/Spec%20E-004%20Revision%2010%20-%20Three%20Phase%20Pad%20Mounted%20Distribution%20Transformer%282%29.pdf; SHA-256 d21a10dd0d4b31ad85c1bfa1fa07d577b0beeccd24774d109cef94129a05c414; rights: Redistribution permission not established; original retained in ignored local runtime storage</a:t>
            </a:r>
          </a:p>
          <a:p xmlns:a="http://schemas.openxmlformats.org/drawingml/2006/main">
            <a:r>
              <a:t>Guam Power Authority: GPA-070-25 original bid abstract. https://go.opengovguam.com/uploads/ggbids/packet_1765520985_GPA-070-25%20Bid%20Abstract.pdf; SHA-256 ea238725bcf796aa9df08ba0d7cffacd105943a0782fd05b736f9cc5ed9a4b8b; rights: Redistribution permission not established; original retained in ignored local runtime storage</a:t>
            </a:r>
          </a:p>
          <a:p xmlns:a="http://schemas.openxmlformats.org/drawingml/2006/main">
            <a:r>
              <a:t>Guam Power Authority: Portal issuance attachment: amendments and invitation, not the full original IFB. https://go.opengovguam.com/uploads/ggbids/packet_1765520985_GPA-070-25%20IFB%20Issuance.pdf; SHA-256 32b395fcaa2ea49d054f63b38f6f53508a4dba32be5f0559f51e94b530ece22b; rights: Redistribution permission not established; original retained in ignored local runtime storage</a:t>
            </a:r>
          </a:p>
          <a:p xmlns:a="http://schemas.openxmlformats.org/drawingml/2006/main">
            <a:r>
              <a:t>Guam Power Authority: Original 55-page GPA-070-25 IFB with Amendment I (57 PDF pages). https://www.ppa.org.fj/wp-content/uploads/2025/08/220825GPA-GPA-070-25-with-Amendment-I.pdf; SHA-256 a101432f314d0839c3d114779f42b03e7b08766476a78eb817074ea7d1f01d10; rights: Redistribution permission not established; mirror original retained in ignored local runtime storage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architecture and on-premise administrative target. Actual make run exit0, served current assets, PostgreSQL/Temporal/app restart with unchanged five-source project, read-only MCP and limited route checks are recorded in verification: {"backend":{"status":"passed","tests_passed":330,"command":"make check","evidence_path":".runtime/tonight-check.log","scope":"Final complete software QA; not a model-accuracy score"},"frontend":{"status":"passed","tests_passed":39,"command":"make check","evidence_path":".runtime/tonight-check.log"},"build":{"status":"passed","typescript":"passed","vite":"passed","js_asset":"index-BIw0oLeV.js","css_asset":"index-CEeYgm3n.css","evidence_path":".runtime/tonight-check.log","deployed_assets_verified":true},"docker":{"status":"passed","command":"make run","exit_code":0,"evidence_path":".runtime/tonight-make-run.log","postdeploy_verification":{"at":"2026-10-15T14:42:50.590382+00:00","health":{"status":"ok","mode":"live","model":"swiss-ai/Apertus-v1.5-8B","model_configured":true,"workflow":"temporal","database":"postgresql"},"snapshot":"fec4b6ba125c296f9564f2e475ef6e441b1ee93a55a7ccbc2df826b2a2620ba6","version":13,"counts":{"documents":5,"requirements":35,"proposals":4,"suppliers":0,"evidence":0,"decisions":0,"extraction_runs":5},"incomplete_runs":5,"original_content_and_events_preserved":true,"served_assets":["/assets/index-BIw0oLeV.js","/assets/index-CEeYgm3n.css"],"served_asset_hashes_match":true},"gateway_recovery":"Docker resolver refresh after app replacement; nginx syntax check and live authenticated routes pass"},"postgres_restart":{"status":"passed","scope":"Post-migration app/worker restart; prior full-stack restart separately retained","snapshot":"fec4b6ba125c296f9564f2e475ef6e441b1ee93a55a7ccbc2df826b2a2620ba6","original_content_preserved":true,"historical_events_preserved":true,"evidence_path":".runtime/tonight-deployed-verification.json","private_backup_available":true},"temporal_workflow":{"status":"actual_inference_and_inflight_duplicate_request_verified","duplicate_behavior":"duplicate attached to same workflow; no duplicate inference","midflight_worker_crash_tested":false,"evidence_index":".runtime/impl-evidence/EVIDENCE_INDEX.json"},"docling":{"status":"strict_success_across_two_contexts","source_count":5,"attachment_pages":95,"spans":2136,"characters":342307,"summary_path":".runtime/quality/revalidated/combined-summary.json","failure_preserved":"Parallel isolated full-tender attempt OOM/exit137; separate API parse succeeded"},"mcp":{"status":"read_only_tool_verified_at_earlier_checkpoint","evidence_path":".runtime/live-mcp-verification.json","scope":"read_package only; no external writes; earlier count of zero requirements predates inference"},"runtime_network":{"status":"bounded_routes_passed","evidence_path":".runtime/return-review/deployed-code-network.json","public_destinations_tested":["1.1.1.1:443","8.8.8.8:53"],"internal_destinations_reachable":["database:5432","temporal:7233","model-relay:8081"],"model_endpoint_currently_running":false},"actual_apertus_inference":{"status":"5_completed_source_kind_runs_all_pending","attempts":15,"completed_runs":5,"raw_call_triplets":64,"full_tender_seconds":427.118,"full_tender_spans_supplied":1214,"quality":"mixed; failed audit and row cap, audit findings, invalid rows preserved; no accuracy estimate"},"summary":"330 backend and 39 frontend tests passed; TypeScript/Vite build passed; rebuilt app and restart preserve all original records; actual inference produced 35 pending requirements and 4 pending offers; all 5 runs incomplete and both gates blocked.","evidence_files":[{"repository_relative_path":".runtime/backend-final.log","sha256":"09f434b7046bce73070a8f0ed2c391e8791382e4e2b9e58af1efd961a5a93c1b","bytes":180},{"repository_relative_path":".runtime/reproducible-image-build.log","sha256":"a44e7419aa3e5bdc52fd8517afd4dc9e68721a4cb4f0ec5950644d1ce768fd9d","bytes":5116},{"repository_relative_path":".runtime/real-source-restart-verification.json","sha256":"656cb34a4a2acb391debed4da7cec1997f50bc7d59b3d527021c8ff513e8382d","bytes":1320},{"repository_relative_path":".runtime/live-mcp-verification.json","sha256":"86fc0788c83238f8016c9712357c0da6abe052d984f703d9209ac38f33ac4b26","bytes":222},{"repository_relative_path":".runtime/live-network-verification.json","sha256":"09b5b1f57903eedeab470dc204ec314dc2daffd21336faf4e8d1f0c29596b5bf","bytes":431},{"repository_relative_path":".runtime/quality/revalidated/combined-summary.json","sha256":"661f1eaa5b78fc7f38d0f62687495db11fa60fe691ae15389f1863f5f9f8f4b8","bytes":25019},{"repository_relative_path":".runtime/make-run-live-verification.json","sha256":"6febce3258ac66320b9b74d40d8fba286b1d4b5537e3a6388e1174a871ef64ea","bytes":355},{"repository_relative_path":".runtime/make-run-verification.log","sha256":"bde714d4fe4dcf801a946a5a5d909782b6b28ed24020927980b69ca97d03002b","bytes":4508},{"repository_relative_path":".runtime/price-correction-deployment-verification.json","sha256":"0a05c4c679b0abb5adb112974cd4e831cdfdd0f5ad0475bd96ce9c27413da877","bytes":448},{"repository_relative_path":".runtime/make-run-price-correction.log","sha256":"b9ce8d0359d67e5dcbf670baf6a13c1f478d38e7af7500b9eb236ae61060857f","bytes":4511},{"repository_relative_path":"docs/PRICE_CORRECTION_REVIEW.md","sha256":"81c3a5093f4d90dd20de5245c29779fa226ec689ffc76f06d6416024b2bd324d","bytes":3545},{"repository_relative_path":"docs/PRICE_CORRECTION_INDEPENDENT_REVIEW.md","sha256":"feb0956cc0b8c17f4744d1331a08d5934ee20accf2eaf97909d275ec1515ca84","bytes":7111},{"repository_relative_path":".runtime/original-preview-deployment-verification.json","sha256":"a16ea436e19e0aefa2ffb0de84278aaf94c0108981896f232d159b74e7307ee1","bytes":1383}],"historical_checkpoints":[{"backend":{"status":"passed","command":".venv/bin/python -m pytest -q","tests_passed":127,"duration_seconds":9.53,"log_path":".runtime/backend-final.log","scope":"Isolated software QA, not model performance"},"frontend":{"status":"passed","command":"npm test","working_directory":"track_2b/src/web","tests_passed":20,"evidence_path":"track_2b/docs/FRONTEND_REPORT.md","scope":"Latest source-inspector change, not deployed browser verification"},"build":{"status":"passed","command":"npm run build","working_directory":"track_2b/src/web","typescript":"passed","vite":"passed","js_asset":"index-D6v-Jk9U.js","css_asset":"index-B2SGI0za.css","evidence_path":"track_2b/docs/FRONTEND_REPORT.md","deployed_assets_verified":true,"deployed_assets_verified_at":"2026-10-15T09:54:44.206920+00:00","deployed_asset_evidence_path":".runtime/make-run-live-verification.json"},"docker":{"status":"make_run_passed","command":"docker compose build app","log_path":".runtime/reproducible-image-build.log","make_run_status":"Completed from public Dockerfile; actual HTTP health and latest served assets verified","make_run_command":"make run","make_run_exit_code":0,"verified_at":"2026-10-15T09:54:44.206920+00:00","make_run_evidence_path":".runtime/make-run-live-verification.json","make_run_log_path":".runtime/make-run-verification.log","health":{"status":"ok","mode":"live","model":"swiss-ai/Apertus-v1.5-8B","model_configured":false,"workflow":"temporal","database":"postgresql"},"served_assets":["/assets/index-D6v-Jk9U.js","/assets/index-B2SGI0za.css"],"runtime_image":{"id":"sha256:7d005d4ccbcdb4552a9fb7fad91d943682b0e48ab42dd4dbbeedaa4c0cad8808","architecture":"arm64","bytes":7362150484,"source":"Parent runtime inspection at original make-run checkpoint"},"containers_up":6,"healthy_services":["app","database","temporal"]},"recorded_at":"2026-10-15T09:54:44.206920+00:00","label":"Pre-price-correction software/deployment checkpoint"},{"label":"Preserved earlier checkpoint, superseded where current execution is recorded","category":"actual_apertus_inference","record":{"status":"pending","completed_calls":0,"limits":"Six windows/24 planned calls are planning evidence only"}},{"label":"Preserved earlier checkpoint, superseded where current execution is recorded","category":"price_correction","record":{"status":"implemented_reviewed_and_deployed_not_yet_exercised_on_actual_model_proposal","evidence_paths":["docs/PRICE_CORRECTION_REVIEW.md","docs/PRICE_CORRECTION_INDEPENDENT_REVIEW.md","track_2b/docs/FRONTEND_REPORT.md",".runtime/price-correction-deployment-verification.json"],"mechanism":"Engineer/source/snapshot-bound edits preserve original_data and trace; audit before/after/reason/source, remain pending and require a separate approval action.","limits":"Not an independent second-reviewer identity check. No actual proposal or completed model response exists at this checkpoint."}},{"label":"Preserved earlier checkpoint, superseded where current execution is recorded","category":"original_pdf_preview","record":{"status":"actual_inline_original_preview_verified","evidence_path":".runtime/original-preview-deployment-verification.json","observed":{"checked_at":"2026-10-15T10:47:47.389055+00:00","health":{"status":"ok","mode":"live","model":"swiss-ai/Apertus-v1.5-8B","model_configured":false,"workflow":"temporal","database":"postgresql"},"assets":["/assets/index-CQJqGKmM.js","/assets/index-BEgCKw9W.css"],"project_unchanged":true,"snapshot_hash":"cdd3f564c90af98af33cd105510521297b4f0e19dbba7351d508b3044d13a73e","document_count":5,"previews":[{"document":"gpa-07025-bid-abstract.pdf","original_sha256":"ea238725bcf796aa9df08ba0d7cffacd105943a0782fd05b736f9cc5ed9a4b8b","page":3,"image_size":[1800,1165],"png_sha256":"28c47a4cf4daa97086a73ff6bed4337960d796d68e6577c415fe826f1c6147cd","cache_control":"private, no-store","unauthenticated_status":401},{"document":"gpa-07025-full-ifb-amendment-i.pdf","original_sha256":"a101432f314d0839c3d114779f42b03e7b08766476a78eb817074ea7d1f01d10","page":57,"image_size":[1093,1799],"png_sha256":"a6166c9df610e7eed26d9125c1eef955a3eab155dbe319bf49fce54cbbc0c228","cache_control":"private, no-store","unauthenticated_status":401}],"browser_capture":"track_2b/submission/captures/bid-original-page3-before-inference.jpg"},"limits":"Previewing stored originals supports source review; no requirement/model proposal or price correction was created."}},{"label":"Preserved earlier checkpoint, superseded where current execution is recorded","category":"mcp","record":{"status":"read_package_passed","protocol":"2025-11-25","listed_tools":["prepare_purchase_draft","read_document_revision","read_package"],"invoked_tool":"read_package","requirements":0,"mutations_performed":false,"evidence_path":".runtime/live-mcp-verification.json"}},{"label":"Preserved earlier checkpoint, superseded where current execution is recorded","category":"temporal_workflow","record":{"status":"actual_completed_runs_recorded","completed_runs":5,"duplicate_midrun_attached":true,"midflight_worker_crash_tested":false,"limits":"Agent restart/duplicate evidence retained; active-worker crash recovery not tested."}}],"price_correction":{"status":"exercised_on_actual_pending_PO_proposal","original_model_price_cents":11131650,"corrected_price_cents":3710550,"currency":"USD","price_basis":"unit","actor_scope":"AI assistant source reading, not qualified engineering approval","source":"PO page 4","raw_model_data_preserved":true,"proposal_remains_pending":true},"original_pdf_preview":{"status":"actual_PO_page4_preview_captured","capture_id":"final_po_page4","source_id":"gpa-op34276","page":4},"pending_implementation_delta":"deployed_verified","trace_integrity":{"status":"passed","trace_files_verified":192,"run_responses_verified":15,"source_mapper_spans_exact":true,"evidence_path":".runtime/return-review/full-source-verification.json"},"independent_release_control_review":{"status":"passed","backend_tests":96,"frontend_tests":39,"scope":"Assurance gaps, legacy migration, price bases, trace linkage; all scoped findings resolved"}}. Completed live-inference recovery and authenticated model boundary must be claimed only if recorded. The diagram does not establish an air-gap, Swiss data residency or production hardening.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Commercial plan, not demonstrated traction. Proposed users: EPC package engineer, procurement and quality manager; proposed buyer is the organization controlling that project/deployment. A project or enterprise deployment is an entry hypothesis. No customer, contract, price, ARR, ROI, procurement recommendation or measured productivity result is invented. Validate usability, decision quality, administrative requirements and measured operating economics before pricing or expansion. Adjacent-market fact: Partech announced18June2025 that Mercanis raised over$20million SeriesA led by Partech andAVP: https://partechpartners.com/news/mercanis-secures-over-20m-in-series-a-round (rechecked15October2026). This is adjacent procurement-software funding, not TenderProof traction, validation or ROI. No vendor performance/ROI marketing claim is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Single consolidated limits/validation slide. Source parsing:95 attachment pages with overlap,2136 spans,342307 retained characters; four isolated successes plus actual API full-tender success. Isolated parallel OOM/exit137 preserved. Strict conversion does not prove perfect OCR or image extraction. QA pass rate is not Apertus accuracy. Network evidence covers two direct public destinations only. Completed actual model runs: [{"directory":"20261015T124212Z-gpa-07025-bid-abstract-supplier","document":"gpa-07025-bid-abstract.pdf","kind":"supplier","status":"failed","http_status":503,"latency_seconds":35.134,"source_spans":104,"api_response_sha256":"4079ca26b4d98a7c4ff4166dff89dcc6e36ebc5eff269f29f9032ab9c21cbac8","failure_detail":"Durable extraction extract-ad352fdf9268d2b0d3dca04bc02b550088fab1f8e8cb1cf655353ceab7334b87 did not complete. Check the endpoint and worker, then explicitly retry extraction; a failed run can start a new attempt and its history is retained. No approvals were granted.","snapshot_before":"cdd3f564c90af98af33cd105510521297b4f0e19dbba7351d508b3044d13a73e","snapshot_after":"cdd3f564c90af98af33cd105510521297b4f0e19dbba7351d508b3044d13a73e","counts_after":{"requirements":0,"proposals":0,"suppliers":0,"evidence":0,"decisions":0},"id":"20261015T124212Z-gpa-07025-bid-abstract-supplier","outcome_meaning":"No proposals committed by this failed attempt","model":"swiss-ai/Apertus-v1.5-8B","model_revision":"ef4bbc54d6fe658bc782280ff9f3b53a10a9758f","source_document_sha256":"ea238725bcf796aa9df08ba0d7cffacd105943a0782fd05b736f9cc5ed9a4b8b","run_response_path":".runtime/actual-inference/20261015T124212Z-gpa-07025-bid-abstract-supplier/api-response.json","run_response_sha256":"4079ca26b4d98a7c4ff4166dff89dcc6e36ebc5eff269f29f9032ab9c21cbac8","call_trace_ids":[],"trace_calls_linked":0},{"directory":"20261015T124841Z-gpa-07025-bid-abstract-supplier","document":"gpa-07025-bid-abstract.pdf","kind":"supplier","status":"failed","http_status":503,"latency_seconds":36.882,"source_spans":104,"api_response_sha256":"4079ca26b4d98a7c4ff4166dff89dcc6e36ebc5eff269f29f9032ab9c21cbac8","failure_detail":"Durable extraction extract-ad352fdf9268d2b0d3dca04bc02b550088fab1f8e8cb1cf655353ceab7334b87 did not complete. Check the endpoint and worker, then explicitly retry extraction; a failed run can start a new attempt and its history is retained. No approvals were granted.","snapshot_before":"cdd3f564c90af98af33cd105510521297b4f0e19dbba7351d508b3044d13a73e","snapshot_after":"cdd3f564c90af98af33cd105510521297b4f0e19dbba7351d508b3044d13a73e","counts_after":{"requirements":0,"proposals":0,"suppliers":0,"evidence":0,"decisions":0},"id":"20261015T124841Z-gpa-07025-bid-abstract-supplier","outcome_meaning":"No proposals committed by this failed attempt","model":"swiss-ai/Apertus-v1.5-8B","model_revision":"ef4bbc54d6fe658bc782280ff9f3b53a10a9758f","source_document_sha256":"ea238725bcf796aa9df08ba0d7cffacd105943a0782fd05b736f9cc5ed9a4b8b","run_response_path":".runtime/actual-inference/20261015T124841Z-gpa-07025-bid-abstract-supplier/api-response.json","run_response_sha256":"4079ca26b4d98a7c4ff4166dff89dcc6e36ebc5eff269f29f9032ab9c21cbac8","call_trace_ids":[],"trace_calls_linked":0},{"directory":"20261015T125500Z-gpa-07025-bid-abstract-supplier","document":"gpa-07025-bid-abstract.pdf","kind":"supplier","status":"failed","http_status":503,"latency_seconds":62.854,"source_spans":104,"api_response_sha256":"4079ca26b4d98a7c4ff4166dff89dcc6e36ebc5eff269f29f9032ab9c21cbac8","failure_detail":"Durable extraction extract-ad352fdf9268d2b0d3dca04bc02b550088fab1f8e8cb1cf655353ceab7334b87 did not complete. Check the endpoint and worker, then explicitly retry extraction; a failed run can start a new attempt and its history is retained. No approvals were granted.","snapshot_before":"cdd3f564c90af98af33cd105510521297b4f0e19dbba7351d508b3044d13a73e","snapshot_after":"cdd3f564c90af98af33cd105510521297b4f0e19dbba7351d508b3044d13a73e","counts_after":{"requirements":0,"proposals":0,"suppliers":0,"evidence":0,"decisions":0},"id":"20261015T125500Z-gpa-07025-bid-abstract-supplier","outcome_meaning":"No proposals committed by this failed attempt","model":"swiss-ai/Apertus-v1.5-8B","model_revision":"ef4bbc54d6fe658bc782280ff9f3b53a10a9758f","source_document_sha256":"ea238725bcf796aa9df08ba0d7cffacd105943a0782fd05b736f9cc5ed9a4b8b","run_response_path":".runtime/actual-inference/20261015T125500Z-gpa-07025-bid-abstract-supplier/api-response.json","run_response_sha256":"4079ca26b4d98a7c4ff4166dff89dcc6e36ebc5eff269f29f9032ab9c21cbac8","call_trace_ids":[],"trace_calls_linked":0},{"directory":"20261015T130000Z-gpa-07025-bid-abstract-supplier","document":"gpa-07025-bid-abstract.pdf","kind":"supplier","status":"succeeded","http_status":200,"latency_seconds":33.871,"source_spans":104,"api_response_sha256":"bf297ffe3caa072860a565325182a59b6d599f0fa483ac523921c61c4c2a5fd3","failure_detail":null,"snapshot_before":"cdd3f564c90af98af33cd105510521297b4f0e19dbba7351d508b3044d13a73e","snapshot_after":"6a10e120b111d91f7351aa9be320751589a55a3121e2a2609fcd391b65bca63a","counts_after":{"requirements":0,"proposals":3,"suppliers":0,"evidence":0,"decisions":0},"id":"20261015T130000Z-gpa-07025-bid-abstract-supplier","outcome_meaning":"Pipeline persisted pending proposals; not quality acceptance","model":"swiss-ai/Apertus-v1.5-8B","model_revision":"ef4bbc54d6fe658bc782280ff9f3b53a10a9758f","source_document_sha256":"ea238725bcf796aa9df08ba0d7cffacd105943a0782fd05b736f9cc5ed9a4b8b","run_response_path":".runtime/actual-inference/20261015T130000Z-gpa-07025-bid-abstract-supplier/api-response.json","run_response_sha256":"bf297ffe3caa072860a565325182a59b6d599f0fa483ac523921c61c4c2a5fd3","call_trace_ids":["03169ab0c9274cccb2aa9bf48841d90b","ad0a13c296994f9d8bb6d7cf008525cd","7c14029da9e84d9e9cec16bb5f2ac411","d162dc4b8c1a41318eb3146467b4369f"],"trace_calls_linked":4,"request_path":".runtime/actual-model-traces/ad0a13c296994f9d8bb6d7cf008525cd/request.json","raw_response_path":".runtime/actual-model-traces/ad0a13c296994f9d8bb6d7cf008525cd/response.json","input_sha256":"6bc9c124fb00fb2e0a05e506fb16eea3fffc1fd79c540e1ee4d6df6379e777fc","raw_response_sha256":"3125d3aa0e049c21644d8ee1371e4627f3b06e5eafadc9585d62cb8b288aa6eb","request_scope":"Representative mapper call; complete run source coverage and all role calls recorded separately","coverage":{"all_original_spans_present":true,"source_character_count":22477,"source_sha256":"dd52ba47630e3f82aea5896da68595fc147927ecbf470168fcadb5ee13db8fd8","source_span_count":104},"window_count":1,"planned_call_count":4,"audit_failures":[],"rejected_row_count":0,"issues":["RDMaRKeting Bound Paper: price_cents, currency, delivery_weeks missing (span s4)","RDMaRKeting Bound Paper: facts missing (span s5)","RDMaRKeting Bound Paper: facts missing (span s6)","Benson Gwam EnteRpRises Jnc.: price_cents, currency, delivery_weeks missing (span s34)","Benson Gwam EnteRpRises Jnc.: facts missing (span s35)","Polyphase System Inc.: price_cents, currency, delivery_weeks missing (span s58)","Price for RDMaRKeting Bound Paper not specified in source spans (span s4-s6); price_cents null","Price for Benson Gwam EnteRpRises Jnc. not derived from any line item column; value 1719006 appears inconsistent with context (span s34-s35)","Price for Polyphase System Inc. not derived from any line item column; value 2536800 appears inconsistent with context (span s58)"]},{"directory":"20261015T130138Z-gpa-07025-full-ifb-amendment-i-requirements","document":"gpa-07025-full-ifb-amendment-i.pdf","kind":"requirements","status":"failed","http_status":503,"latency_seconds":188.964,"source_spans":1214,"api_response_sha256":"7911885a694b42d9652bfb0355ea43066fb0c360429666c389125882892c0c76","failure_detail":"Durable extraction extract-2fcbbfca994b04c06f07c81abf7a44cbc1f675d4b901c1191376c3c13dba7d61 did not complete. Check the endpoint and worker, then explicitly retry extraction; a failed run can start a new attempt and its history is retained. No approvals were granted.","snapshot_before":"6a10e120b111d91f7351aa9be320751589a55a3121e2a2609fcd391b65bca63a","snapshot_after":"6a10e120b111d91f7351aa9be320751589a55a3121e2a2609fcd391b65bca63a","counts_after":{"requirements":0,"proposals":3,"suppliers":0,"evidence":0,"decisions":0},"id":"20261015T130138Z-gpa-07025-full-ifb-amendment-i-requirements","outcome_meaning":"No proposals committed by this failed attempt","model":"swiss-ai/Apertus-v1.5-8B","model_revision":"ef4bbc54d6fe658bc782280ff9f3b53a10a9758f","source_document_sha256":"a101432f314d0839c3d114779f42b03e7b08766476a78eb817074ea7d1f01d10","run_response_path":".runtime/actual-inference/20261015T130138Z-gpa-07025-full-ifb-amendment-i-requirements/api-response.json","run_response_sha256":"7911885a694b42d9652bfb0355ea43066fb0c360429666c389125882892c0c76","call_trace_ids":[],"trace_calls_linked":0},{"directory":"20261015T130639Z-gpa-op34276-supplier","document":"gpa-op34276.pdf","kind":"supplier","status":"failed","http_status":503,"latency_seconds":87.903,"source_spans":329,"api_response_sha256":"d77b26998edbde6d946db0d423463f7e1829c54dc0ea482d38b4eb27176fb97f","failure_detail":"Durable extraction extract-208db8847e5acede490b38958a507b55999ac7a125ce57cb85b6c53b0feea0f2 did not complete. Check the endpoint and worker, then explicitly retry extraction; a failed run can start a new attempt and its history is retained. No approvals were granted.","snapshot_before":"6a10e120b111d91f7351aa9be320751589a55a3121e2a2609fcd391b65bca63a","snapshot_after":"6a10e120b111d91f7351aa9be320751589a55a3121e2a2609fcd391b65bca63a","counts_after":{"requirements":0,"proposals":3,"suppliers":0,"evidence":0,"decisions":0},"id":"20261015T130639Z-gpa-op34276-supplier","outcome_meaning":"No proposals committed by this failed attempt","model":"swiss-ai/Apertus-v1.5-8B","model_revision":"ef4bbc54d6fe658bc782280ff9f3b53a10a9758f","source_document_sha256":"da91f24252a7131e06a9861e56593a66146173bf0e8d0764f2194e6e63b8c551","run_response_path":".runtime/actual-inference/20261015T130639Z-gpa-op34276-supplier/api-response.json","run_response_sha256":"d77b26998edbde6d946db0d423463f7e1829c54dc0ea482d38b4eb27176fb97f","call_trace_ids":[],"trace_calls_linked":0},{"directory":"20261015T130808Z-gpa-op34276-requirements","document":"gpa-op34276.pdf","kind":"requirements","status":"failed","http_status":503,"latency_seconds":82.998,"source_spans":329,"api_response_sha256":"bc27a82a22c93f07fb65152df5e25e5a059545d4fefab04850c369f350c585aa","failure_detail":"Durable extraction extract-246edae9b3dff269b49fbcad04c5ed557bc6dcf00585021a246e7c0ddcf6f04a did not complete. Check the endpoint and worker, then explicitly retry extraction; a failed run can start a new attempt and its history is retained. No approvals were granted.","snapshot_before":"6a10e120b111d91f7351aa9be320751589a55a3121e2a2609fcd391b65bca63a","snapshot_after":"6a10e120b111d91f7351aa9be320751589a55a3121e2a2609fcd391b65bca63a","counts_after":{"requirements":0,"proposals":3,"suppliers":0,"evidence":0,"decisions":0},"id":"20261015T130808Z-gpa-op34276-requirements","outcome_meaning":"No proposals committed by this failed attempt","model":"swiss-ai/Apertus-v1.5-8B","model_revision":"ef4bbc54d6fe658bc782280ff9f3b53a10a9758f","source_document_sha256":"da91f24252a7131e06a9861e56593a66146173bf0e8d0764f2194e6e63b8c551","run_response_path":".runtime/actual-inference/20261015T130808Z-gpa-op34276-requirements/api-response.json","run_response_sha256":"bc27a82a22c93f07fb65152df5e25e5a059545d4fefab04850c369f350c585aa","call_trace_ids":[],"trace_calls_linked":0},{"directory":"20261015T130932Z-gpa-07025-amendments-requirements","document":"gpa-07025-amendments.pdf","kind":"requirements","status":"failed","http_status":503,"latency_seconds":47.366,"source_spans":105,"api_response_sha256":"73ac767841ef6cf7f738795a09831e5b36dc6db810c3031e1500c260acae5c41","failure_detail":"Durable extraction extract-3cfabac5b59cce3ef94975eb49b2ca5f42aabbff5b7fb422339bddf5c049466a did not complete. Check the endpoint and worker, then explicitly retry extraction; a failed run can start a new attempt and its history is retained. No approvals were granted.","snapshot_before":"6a10e120b111d91f7351aa9be320751589a55a3121e2a2609fcd391b65bca63a","snapshot_after":"6a10e120b111d91f7351aa9be320751589a55a3121e2a2609fcd391b65bca63a","counts_after":{"requirements":0,"proposals":3,"suppliers":0,"evidence":0,"decisions":0},"id":"20261015T130932Z-gpa-07025-amendments-requirements","outcome_meaning":"No proposals committed by this failed attempt","model":"swiss-ai/Apertus-v1.5-8B","model_revision":"ef4bbc54d6fe658bc782280ff9f3b53a10a9758f","source_document_sha256":"32b395fcaa2ea49d054f63b38f6f53508a4dba32be5f0559f51e94b530ece22b","run_response_path":".runtime/actual-inference/20261015T130932Z-gpa-07025-amendments-requirements/api-response.json","run_response_sha256":"73ac767841ef6cf7f738795a09831e5b36dc6db810c3031e1500c260acae5c41","call_trace_ids":[],"trace_calls_linked":0},{"directory":"20261015T131338Z-gpa-op34276-supplier","document":"gpa-op34276.pdf","kind":"supplier","status":"succeeded","http_status":200,"latency_seconds":49.243,"source_spans":329,"api_response_sha256":"b81534d479eb546af52a7fad5bb6e1e35eb2fb69e401774df112fe775df25dfd","failure_detail":null,"snapshot_before":"6a10e120b111d91f7351aa9be320751589a55a3121e2a2609fcd391b65bca63a","snapshot_after":"577f7de6b8e799f1d7ecb4a3c08874a7e48ede38bb09d202396ea599045afbcd","counts_after":{"requirements":0,"proposals":4,"suppliers":0,"evidence":0,"decisions":0},"id":"20261015T131338Z-gpa-op34276-supplier","outcome_meaning":"Pipeline persisted pending proposals; not quality acceptance","model":"swiss-ai/Apertus-v1.5-8B","model_revision":"ef4bbc54d6fe658bc782280ff9f3b53a10a9758f","source_document_sha256":"da91f24252a7131e06a9861e56593a66146173bf0e8d0764f2194e6e63b8c551","run_response_path":".runtime/actual-inference/20261015T131338Z-gpa-op34276-supplier/api-response.json","run_response_sha256":"b81534d479eb546af52a7fad5bb6e1e35eb2fb69e401774df112fe775df25dfd","call_trace_ids":["ee6e1c319f7546d88d3c7a231d461386","068095a0d53a4240b90d71ea0a92a6c8","2e87fa51e1f340799d9ec37a5c746527","05cd3017c0c449c0993cfd2a78d2087f"],"trace_calls_linked":4,"request_path":".runtime/actual-model-traces/068095a0d53a4240b90d71ea0a92a6c8/request.json","raw_response_path":".runtime/actual-model-traces/068095a0d53a4240b90d71ea0a92a6c8/response.json","input_sha256":"0fa782b2105121eccf33db29c54324ecd8151dd92323e3086b880ce7454191b1","raw_response_sha256":"bbc0f3eb8df7dcf8dc3ef5ebcc660b095d586f6e76120844d9c0a89219a966d7","request_scope":"Representative mapper call; complete run source coverage and all role calls recorded separately","coverage":{"all_original_spans_present":true,"source_character_count":36349,"source_sha256":"e4598f3d8aad3c2dc177d468e7c469096cf8e72a236b12accad8ced431f5c7b1","source_span_count":329},"window_count":1,"planned_call_count":4,"audit_failures":[],"rejected_row_count":0,"issues":["R&amp;D MARKETING AND LYPCO INTERNATIONAL: Vendor Number: 207386 is shown in source spans but price_cents 11131650 is not present in any of the cited spans.","Vendor price for 750 kVA transformer (111,316.50 USD) is not derived from the line item's own column (price 37,105.50 USD) but from a separate line item (Item 2) not shown in this window (span s139)"]},{"directory":"20261015T131428Z-gpa-op34276-requirements","document":"gpa-op34276.pdf","kind":"requirements","status":"failed","http_status":503,"latency_seconds":174.529,"source_spans":329,"api_response_sha256":"13c4f6d1d42bd5195c88ccdb5a67c5fae09168af53f55d5ff92455347c62160e","failure_detail":"Durable extraction extract-43b9c6c55c81b8ac35ddd8a53b9219d7931e51a6af25eb5abce3443c74aa63de did not complete. Check the endpoint and worker, then explicitly retry extraction; a failed run can start a new attempt and its history is retained. No approvals were granted.","snapshot_before":"577f7de6b8e799f1d7ecb4a3c08874a7e48ede38bb09d202396ea599045afbcd","snapshot_after":"577f7de6b8e799f1d7ecb4a3c08874a7e48ede38bb09d202396ea599045afbcd","counts_after":{"requirements":0,"proposals":4,"suppliers":0,"evidence":0,"decisions":0},"id":"20261015T131428Z-gpa-op34276-requirements","outcome_meaning":"No proposals committed by this failed attempt","model":"swiss-ai/Apertus-v1.5-8B","model_revision":"ef4bbc54d6fe658bc782280ff9f3b53a10a9758f","source_document_sha256":"da91f24252a7131e06a9861e56593a66146173bf0e8d0764f2194e6e63b8c551","run_response_path":".runtime/actual-inference/20261015T131428Z-gpa-op34276-requirements/api-response.json","run_response_sha256":"13c4f6d1d42bd5195c88ccdb5a67c5fae09168af53f55d5ff92455347c62160e","call_trace_ids":[],"trace_calls_linked":0},{"directory":"20261015T131723Z-gpa-07025-amendments-requirements","document":"gpa-07025-amendments.pdf","kind":"requirements","status":"succeeded","http_status":200,"latency_seconds":50.091,"source_spans":105,"api_response_sha256":"f57c3b1488cae0152c4f3be23a72a4e148e72d33bd5ad1f0e55947793b878417","failure_detail":null,"snapshot_before":"577f7de6b8e799f1d7ecb4a3c08874a7e48ede38bb09d202396ea599045afbcd","snapshot_after":"577f7de6b8e799f1d7ecb4a3c08874a7e48ede38bb09d202396ea599045afbcd","counts_after":{"requirements":0,"proposals":4,"suppliers":0,"evidence":0,"decisions":0},"id":"20261015T131723Z-gpa-07025-amendments-requirements","outcome_meaning":"Pipeline persisted pending proposals; not quality acceptance","model":"swiss-ai/Apertus-v1.5-8B","model_revision":"ef4bbc54d6fe658bc782280ff9f3b53a10a9758f","source_document_sha256":"32b395fcaa2ea49d054f63b38f6f53508a4dba32be5f0559f51e94b530ece22b","run_response_path":".runtime/actual-inference/20261015T131723Z-gpa-07025-amendments-requirements/api-response.json","run_response_sha256":"f57c3b1488cae0152c4f3be23a72a4e148e72d33bd5ad1f0e55947793b878417","call_trace_ids":["cde54e00aad746e38fe50d0ec6e4bb8c","15146eba97e446f4be08c5a6f281ecd7","cfd1187aace041e481862bda6d54203b","93c84395a4e243cb83ae723ac7e578a2"],"trace_calls_linked":4,"request_path":".runtime/actual-model-traces/15146eba97e446f4be08c5a6f281ecd7/request.json","raw_response_path":".runtime/actual-model-traces/15146eba97e446f4be08c5a6f281ecd7/response.json","input_sha256":"03eabf27e57f41b8655b52b5255fe3f65dbc6595737b468f688bf67838a35407","raw_response_sha256":"297e9fc01534115d502d710bfcb6e051ee9f8eceeb4c01fa384ac7ac436d3705","request_scope":"Representative mapper call; complete run source coverage and all role calls recorded separately","coverage":{"all_original_spans_present":true,"source_character_count":7744,"source_sha256":"c543ac54181f2b922ed6012c5b3424281af02e20797626c3c592afb5d742c8b1","source_span_count":105},"window_count":1,"planned_call_count":4,"audit_failures":[],"rejected_row_count":11,"issues":["bid opening date: September 16, 2025 9:00 A.M. (source s12) vs bid submission deadline: September 16, 2025 9:00 A.M. (source s18) – same value but listed twice with identical source_id s18 for both (s","Bid opening date and bid submission deadline are inconsistent (September 9 vs September 16 2025), conflicting with s12 and s18 (span s103)","Item 2 transformer rating 750 kVA, configuration three-phase, voltage levels 13.8 kV primary and 120/208 V secondary, mounting type pad-mounted, cover type welded, enclosure material Type 304L are not","Bid opening date changed FROM 10:00 A.M., Tuesday, September 9, 2025 (CHamoru Standard Time; ChST) TO NOW READ 9:00 A.M., Tuesday, September 16, 2025 (CHamoru Standard Time; ChST). (span s12)"]},{"directory":"20261015T131814Z-gpa-07025-full-ifb-amendment-i-requirements","document":"gpa-07025-full-ifb-amendment-i.pdf","kind":"requirements","status":"failed","http_status":503,"latency_seconds":207.084,"source_spans":1214,"api_response_sha256":"5a36c0534562ec2ca1609388375f8f8df837769f4eb71594e1a5f48ea580dc0d","failure_detail":"Durable extraction extract-416e04dd3f9928e3cebfabbd540228d844eab40a35a5f9e10f96c36350bec40e did not complete. Check the endpoint and worker, then explicitly retry extraction; a failed run can start a new attempt and its history is retained. No approvals were granted.","snapshot_before":"577f7de6b8e799f1d7ecb4a3c08874a7e48ede38bb09d202396ea599045afbcd","snapshot_after":"577f7de6b8e799f1d7ecb4a3c08874a7e48ede38bb09d202396ea599045afbcd","counts_after":{"requirements":0,"proposals":4,"suppliers":0,"evidence":0,"decisions":0},"id":"20261015T131814Z-gpa-07025-full-ifb-amendment-i-requirements","outcome_meaning":"No proposals committed by this failed attempt","model":"swiss-ai/Apertus-v1.5-8B","model_revision":"ef4bbc54d6fe658bc782280ff9f3b53a10a9758f","source_document_sha256":"a101432f314d0839c3d114779f42b03e7b08766476a78eb817074ea7d1f01d10","run_response_path":".runtime/actual-inference/20261015T131814Z-gpa-07025-full-ifb-amendment-i-requirements/api-response.json","run_response_sha256":"5a36c0534562ec2ca1609388375f8f8df837769f4eb71594e1a5f48ea580dc0d","call_trace_ids":[],"trace_calls_linked":0},{"directory":"20261015T132316Z-gpa-op34276-requirements","document":"gpa-op34276.pdf","kind":"requirements","status":"succeeded","http_status":200,"latency_seconds":41.281,"source_spans":329,"api_response_sha256":"7784ca2979cedfbc4fb4bdfd672aa3ea7fbabf5bc77176064e99b7918ca06365","failure_detail":null,"snapshot_before":"577f7de6b8e799f1d7ecb4a3c08874a7e48ede38bb09d202396ea599045afbcd","snapshot_after":"6601445a0d9b5665a5409f9fb7a740ec57d5769bc0e1fc36900f7d5d6c428e63","counts_after":{"requirements":2,"proposals":4,"suppliers":0,"evidence":0,"decisions":0},"id":"20261015T132316Z-gpa-op34276-requirements","outcome_meaning":"Pipeline persisted pending proposals; not quality acceptance","model":"swiss-ai/Apertus-v1.5-8B","model_revision":"ef4bbc54d6fe658bc782280ff9f3b53a10a9758f","source_document_sha256":"da91f24252a7131e06a9861e56593a66146173bf0e8d0764f2194e6e63b8c551","run_response_path":".runtime/actual-inference/20261015T132316Z-gpa-op34276-requirements/api-response.json","run_response_sha256":"7784ca2979cedfbc4fb4bdfd672aa3ea7fbabf5bc77176064e99b7918ca06365","call_trace_ids":["430d0a52554d4d21ba85c90bf21caa50","ed794c5a7217470cb56a7b0c7e7b5cc9","f22c81c9dd6c437980f2c6bfb162e65b","7ff49099a8b64b259650dc9395993359"],"trace_calls_linked":4,"request_path":".runtime/actual-model-traces/ed794c5a7217470cb56a7b0c7e7b5cc9/request.json","raw_response_path":".runtime/actual-model-traces/ed794c5a7217470cb56a7b0c7e7b5cc9/response.json","input_sha256":"bf7e00970ec034c175d32b3770fb372e23094fb9e55b70daa5c4be4a6a26d3c8","raw_response_sha256":"13f2844ec8526563eb537536be416a4d99e6b11bd944c5a7a4ff2065d9bf49d0","request_scope":"Representative mapper call; complete run source coverage and all role calls recorded separately","coverage":{"all_original_spans_present":true,"source_character_count":36349,"source_sha256":"e4598f3d8aad3c2dc177d468e7c469096cf8e72a236b12accad8ced431f5c7b1","source_span_count":329},"window_count":1,"planned_call_count":4,"audit_failures":[],"rejected_row_count":0,"issues":["Transformer Rating: unit 'kVA' not shown in source spans s7, s8 (span s7 shows 'TRANSFORMER, PAD MTD, 300 kVA' but no explicit 'kVA' unit label; span s8 shows '750 kVA Pad Mounted Transformer' with 'k","Equipment rating (300 kVA vs 750 kVA) differs between line items; source spans s7/s8 vs s139/s140. (span s7)"]},{"directory":"20261015T132358Z-gpa-07025-full-ifb-amendment-i-requirements","document":"gpa-07025-full-ifb-amendment-i.pdf","kind":"requirements","status":"failed","http_status":503,"latency_seconds":211.478,"source_spans":1214,"api_response_sha256":"2064476a078f51531a3d93fca263f911e15a815a77481320b937110d7aaf2d1b","failure_detail":"Durable extraction extract-c6f5bf8ddd86a9f714e41ae08be27f7a0bdc6e4cefc84c2dcc03cf0ee739564d did not complete. Check the endpoint and worker, then explicitly retry extraction; a failed run can start a new attempt and its history is retained. No approvals were granted.","snapshot_before":"6601445a0d9b5665a5409f9fb7a740ec57d5769bc0e1fc36900f7d5d6c428e63","snapshot_after":"6601445a0d9b5665a5409f9fb7a740ec57d5769bc0e1fc36900f7d5d6c428e63","counts_after":{"requirements":2,"proposals":4,"suppliers":0,"evidence":0,"decisions":0},"id":"20261015T132358Z-gpa-07025-full-ifb-amendment-i-requirements","outcome_meaning":"No proposals committed by this failed attempt","model":"swiss-ai/Apertus-v1.5-8B","model_revision":"ef4bbc54d6fe658bc782280ff9f3b53a10a9758f","source_document_sha256":"a101432f314d0839c3d114779f42b03e7b08766476a78eb817074ea7d1f01d10","run_response_path":".runtime/actual-inference/20261015T132358Z-gpa-07025-full-ifb-amendment-i-requirements/api-response.json","run_response_sha256":"2064476a078f51531a3d93fca263f911e15a815a77481320b937110d7aaf2d1b","call_trace_ids":[],"trace_calls_linked":0},{"directory":"20261015T134845Z-gpa-07025-full-ifb-amendment-i-requirements","document":"gpa-07025-full-ifb-amendment-i.pdf","kind":"requirements","status":"succeeded","http_status":200,"latency_seconds":427.118,"source_spans":1214,"api_response_sha256":"02d07eae5f486c0284aca76e8fd8f07a549070204e3e2d177b368f66ec1e8a15","failure_detail":null,"snapshot_before":"6601445a0d9b5665a5409f9fb7a740ec57d5769bc0e1fc36900f7d5d6c428e63","snapshot_after":"0abe08b3191437e6b1241711c220cce5912a76573589f5b747f61fa43ee54d3d","counts_after":{"requirements":35,"proposals":4,"suppliers":0,"evidence":0,"decisions":0},"id":"20261015T134845Z-gpa-07025-full-ifb-amendment-i-requirements","outcome_meaning":"Pipeline persisted pending proposals; not quality acceptance","model":"swiss-ai/Apertus-v1.5-8B","model_revision":"ef4bbc54d6fe658bc782280ff9f3b53a10a9758f","source_document_sha256":"a101432f314d0839c3d114779f42b03e7b08766476a78eb817074ea7d1f01d10","run_response_path":".runtime/actual-inference/20261015T134845Z-gpa-07025-full-ifb-amendment-i-requirements/api-response.json","run_response_sha256":"02d07eae5f486c0284aca76e8fd8f07a549070204e3e2d177b368f66ec1e8a15","call_trace_ids":["948075aa26aa44d9bea56e7e7196b890","50ec1fd094b84de4bc5fa4978d35b66c","96c04fba1af746e5b89304a10ca11ab0","9f98a7db77dd43f2854c0e8d41fbd2fd","d804ac4475f544d1a9c30d7bc9ad54c3","c5f552a62ace4c71ac0d7d77be019e42","cdd8ebcb7497481ab1e4ef51514fc84a","342478ff5b8448a692e4455dc12b7771","4229e1873843459f81945ac3129cc4fe","014ed9b567a9471d94031492b3888a22","87b91cc18b824b21bf267864d0b1c6ec","bac6f321d46643a29481d9396dfefd8e","55d2e8f177bf41649c9149d10e3f9827","33e0109fd04842da9a42d65434f0e8ad","4319f93f33834736a776c707e955faaf","f98c02bb2963470d8168de089942d992","fd4956f4f893430cb1e8c986ee8c59b7","99a021eb476349a19ff0968247cd6e36","9d784b70bd714fb28be5e3df4a6bea31","7c534a7a9f2a4b7a84245f8d114b041e","4cc3d173ab05429d85b7e442811ec00b","6b43f7aa8f7046dd9545481af091f8af","5fde18e12af043509a876e50c26f55aa"],"trace_calls_linked":23,"request_path":".runtime/actual-model-traces/50ec1fd094b84de4bc5fa4978d35b66c/request.json","raw_response_path":".runtime/actual-model-traces/50ec1fd094b84de4bc5fa4978d35b66c/response.json","input_sha256":"12a72488b75bda1bc2dcc98f55eb4e5bf8ba768ac23e122c2a61d3e0f4e54410","raw_response_sha256":"3b0b9791596e493f5d4ea3c73ccdf74535213563f0e34b755584b37362f4b602","request_scope":"Representative mapper call; complete run source coverage and all role calls recorded separately","coverage":{"all_original_spans_present":true,"source_character_count":233182,"source_sha256":"fb5b2d536fbabdd29d0f65ada6c79d1e3b67424f5a7ab3bc0e4f9bd9c30f3ca1","source_span_count":1214},"window_count":6,"planned_call_count":24,"audit_failures":[{"reason":"Apertus adversarial challenger failed or returned invalid structured output. Its output reached the max_tokens limit and was truncated. No decisions were approved.","role":"adversarial challenger","window":1}],"rejected_row_count":0,"issues":["Pad Mounted Transformers: unit 'kVA' not shown in source spans s9, s32, s168, s228 (span s9)","adversarial challenger returned invalid or truncated structured output; this window has no result from that role.","Transformer kVA Size: 750 kVA shown in source_ids [s730,s731,s732,s733,s734,s735,s736] but not in source_id s675","Secondary Voltage: 480Y/277V shown in source_ids [s731,s732] but not in source_id s675","External Dry-film Thickness: 3.5 mil shown in source_ids [s717] but not in source_id s675","Transformer kVA Size: No specific kVA value provided in source spans (span s730-s734). (span s730)","This window returned the 15-row output cap, so more obligations or offers may exist in it; review the source pages.","Transformer Rating: value '750' not shown in span s1012 (span contains no numeric rating)","Primary Voltage: value '13.8' not shown in span s1012 (span contains no numeric voltage)","Secondary Voltage: value '120' not shown in span s1012 (span contains no numeric voltage)","Equipment Type: value '3' not shown in span s1012 (span contains no numeric equipment type)","Transformer Rating: value '750' comes from the selected line item's own column, not from another line item (span s1012)","Primary Voltage: value '13.8' comes from the selected line item's own column, not from another line item (span s1012)","Secondary Voltage: value '120' comes from the selected line item's own column, not from another line item (span s1012)","Equipment Type: value '3' comes from the selected line item's own column, not from another line item (span s1012)","Equipment Type: 750 kVA not shown in source span s1089 (span shows only GPA-070-25 · OP34276 · Item 2)","Item Number: 2 not shown in source span s1089 (span shows only GPA-070-25 · OP34276 · Item 2)","Secondary Voltage: 120/208 V not shown in source span s1089 (span shows only GPA-070-25 · OP34276 · Item 2)","Primary Voltage: 13.8 kV not shown in source span s1089 (span shows only GPA-070-25 · OP34276 · Item 2)","Equipment Type '750 kVA' is not a line item column value but a description; no line item price is provided for GPA-070-25/OP34276 item 2 (span s1089) (span s1089)","Transformer Rating: 750 kVA not shown in span s1163 (shows 300 kVA item 1 and 750 kVA item 2 but no explicit 750 kVA value), span s1166 (same)","Pad Mounted: Not shown in span s1163 (only 300 kVA item 1 and 750 kVA item 2 but no explicit pad-mounted value)","Primary Voltage: Not shown in span s1163 (only 13.8 kV primary and 120/208 V secondary but no explicit 13.8 kV value)","Secondary Voltage: Not shown in span s1163 (only 120/208 V secondary but no explicit 120 V value)","Secondary Configuration: Not shown in span s1163 (only 120/208 V secondary but no explicit 208 V value)","Bid Guarantee Requirement: 15% not shown in span s1181 (only mentions Bid Guarantee – 15% but no explicit 15 value)","Manufacturer Certificate Requirement: 1 certificate not shown in span s1182 (only mentions Manufacturer’s Certificate but no explicit 1 value)","Local Procurement Preference: 750 kVA not shown in span s1207 (only mentions 750 kVA threshold but no explicit 750 value)","Bid Guarantee Requirement: 15% bid guarantee percentage not defined in source (span s1181)","Manufacturer Certificate Requirement: Requirement to submit manufacturer's certificate not defined in source (span s1182)","Local Procurement Preference: 750 kVA threshold for local procurement preference not defined in source (span s1207)","Bid submission envelope addressing: unit 'kV' is not present in span s1212 (span s1212)","Invoice copy requirement: unit 'copies' is not present in span s1213 (span s1213)","Service compliance phase: unit 'Phase' is not present in span s1214 (span s1214)","Bid submission envelope addressing: source s1212 does not specify envelope addressing instructions (span undefined)","Invoice copy requirement: source s1213 does not mention quadruplicate invoices (span undefined)","Service compliance phase: source s1214 lacks clear phase description (span undefined)"]}]. No ROI, customer validation, engineering certification or physical release claimed. {"backend":{"status":"passed","tests_passed":330,"command":"make check","evidence_path":".runtime/tonight-check.log","scope":"Final complete software QA; not a model-accuracy score"},"frontend":{"status":"passed","tests_passed":39,"command":"make check","evidence_path":".runtime/tonight-check.log"},"build":{"status":"passed","typescript":"passed","vite":"passed","js_asset":"index-BIw0oLeV.js","css_asset":"index-CEeYgm3n.css","evidence_path":".runtime/tonight-check.log","deployed_assets_verified":true},"docker":{"status":"passed","command":"make run","exit_code":0,"evidence_path":".runtime/tonight-make-run.log","postdeploy_verification":{"at":"2026-10-15T14:42:50.590382+00:00","health":{"status":"ok","mode":"live","model":"swiss-ai/Apertus-v1.5-8B","model_configured":true,"workflow":"temporal","database":"postgresql"},"snapshot":"fec4b6ba125c296f9564f2e475ef6e441b1ee93a55a7ccbc2df826b2a2620ba6","version":13,"counts":{"documents":5,"requirements":35,"proposals":4,"suppliers":0,"evidence":0,"decisions":0,"extraction_runs":5},"incomplete_runs":5,"original_content_and_events_preserved":true,"served_assets":["/assets/index-BIw0oLeV.js","/assets/index-CEeYgm3n.css"],"served_asset_hashes_match":true},"gateway_recovery":"Docker resolver refresh after app replacement; nginx syntax check and live authenticated routes pass"},"postgres_restart":{"status":"passed","scope":"Post-migration app/worker restart; prior full-stack restart separately retained","snapshot":"fec4b6ba125c296f9564f2e475ef6e441b1ee93a55a7ccbc2df826b2a2620ba6","original_content_preserved":true,"historical_events_preserved":true,"evidence_path":".runtime/tonight-deployed-verification.json","private_backup_available":true},"temporal_workflow":{"status":"actual_inference_and_inflight_duplicate_request_verified","duplicate_behavior":"duplicate attached to same workflow; no duplicate inference","midflight_worker_crash_tested":false,"evidence_index":".runtime/impl-evidence/EVIDENCE_INDEX.json"},"docling":{"status":"strict_success_across_two_contexts","source_count":5,"attachment_pages":95,"spans":2136,"characters":342307,"summary_path":".runtime/quality/revalidated/combined-summary.json","failure_preserved":"Parallel isolated full-tender attempt OOM/exit137; separate API parse succeeded"},"mcp":{"status":"read_only_tool_verified_at_earlier_checkpoint","evidence_path":".runtime/live-mcp-verification.json","scope":"read_package only; no external writes; earlier count of zero requirements predates inference"},"runtime_network":{"status":"bounded_routes_passed","evidence_path":".runtime/return-review/deployed-code-network.json","public_destinations_tested":["1.1.1.1:443","8.8.8.8:53"],"internal_destinations_reachable":["database:5432","temporal:7233","model-relay:8081"],"model_endpoint_currently_running":false},"actual_apertus_inference":{"status":"5_completed_source_kind_runs_all_pending","attempts":15,"completed_runs":5,"raw_call_triplets":64,"full_tender_seconds":427.118,"full_tender_spans_supplied":1214,"quality":"mixed; failed audit and row cap, audit findings, invalid rows preserved; no accuracy estimate"},"summary":"330 backend and 39 frontend tests passed; TypeScript/Vite build passed; rebuilt app and restart preserve all original records; actual inference produced 35 pending requirements and 4 pending offers; all 5 runs incomplete and both gates blocked.","evidence_files":[{"repository_relative_path":".runtime/backend-final.log","sha256":"09f434b7046bce73070a8f0ed2c391e8791382e4e2b9e58af1efd961a5a93c1b","bytes":180},{"repository_relative_path":".runtime/reproducible-image-build.log","sha256":"a44e7419aa3e5bdc52fd8517afd4dc9e68721a4cb4f0ec5950644d1ce768fd9d","bytes":5116},{"repository_relative_path":".runtime/real-source-restart-verification.json","sha256":"656cb34a4a2acb391debed4da7cec1997f50bc7d59b3d527021c8ff513e8382d","bytes":1320},{"repository_relative_path":".runtime/live-mcp-verification.json","sha256":"86fc0788c83238f8016c9712357c0da6abe052d984f703d9209ac38f33ac4b26","bytes":222},{"repository_relative_path":".runtime/live-network-verification.json","sha256":"09b5b1f57903eedeab470dc204ec314dc2daffd21336faf4e8d1f0c29596b5bf","bytes":431},{"repository_relative_path":".runtime/quality/revalidated/combined-summary.json","sha256":"661f1eaa5b78fc7f38d0f62687495db11fa60fe691ae15389f1863f5f9f8f4b8","bytes":25019},{"repository_relative_path":".runtime/make-run-live-verification.json","sha256":"6febce3258ac66320b9b74d40d8fba286b1d4b5537e3a6388e1174a871ef64ea","bytes":355},{"repository_relative_path":".runtime/make-run-verification.log","sha256":"bde714d4fe4dcf801a946a5a5d909782b6b28ed24020927980b69ca97d03002b","bytes":4508},{"repository_relative_path":".runtime/price-correction-deployment-verification.json","sha256":"0a05c4c679b0abb5adb112974cd4e831cdfdd0f5ad0475bd96ce9c27413da877","bytes":448},{"repository_relative_path":".runtime/make-run-price-correction.log","sha256":"b9ce8d0359d67e5dcbf670baf6a13c1f478d38e7af7500b9eb236ae61060857f","bytes":4511},{"repository_relative_path":"docs/PRICE_CORRECTION_REVIEW.md","sha256":"81c3a5093f4d90dd20de5245c29779fa226ec689ffc76f06d6416024b2bd324d","bytes":3545},{"repository_relative_path":"docs/PRICE_CORRECTION_INDEPENDENT_REVIEW.md","sha256":"feb0956cc0b8c17f4744d1331a08d5934ee20accf2eaf97909d275ec1515ca84","bytes":7111},{"repository_relative_path":".runtime/original-preview-deployment-verification.json","sha256":"a16ea436e19e0aefa2ffb0de84278aaf94c0108981896f232d159b74e7307ee1","bytes":1383}],"historical_checkpoints":[{"backend":{"status":"passed","command":".venv/bin/python -m pytest -q","tests_passed":127,"duration_seconds":9.53,"log_path":".runtime/backend-final.log","scope":"Isolated software QA, not model performance"},"frontend":{"status":"passed","command":"npm test","working_directory":"track_2b/src/web","tests_passed":20,"evidence_path":"track_2b/docs/FRONTEND_REPORT.md","scope":"Latest source-inspector change, not deployed browser verification"},"build":{"status":"passed","command":"npm run build","working_directory":"track_2b/src/web","typescript":"passed","vite":"passed","js_asset":"index-D6v-Jk9U.js","css_asset":"index-B2SGI0za.css","evidence_path":"track_2b/docs/FRONTEND_REPORT.md","deployed_assets_verified":true,"deployed_assets_verified_at":"2026-10-15T09:54:44.206920+00:00","deployed_asset_evidence_path":".runtime/make-run-live-verification.json"},"docker":{"status":"make_run_passed","command":"docker compose build app","log_path":".runtime/reproducible-image-build.log","make_run_status":"Completed from public Dockerfile; actual HTTP health and latest served assets verified","make_run_command":"make run","make_run_exit_code":0,"verified_at":"2026-10-15T09:54:44.206920+00:00","make_run_evidence_path":".runtime/make-run-live-verification.json","make_run_log_path":".runtime/make-run-verification.log","health":{"status":"ok","mode":"live","model":"swiss-ai/Apertus-v1.5-8B","model_configured":false,"workflow":"temporal","database":"postgresql"},"served_assets":["/assets/index-D6v-Jk9U.js","/assets/index-B2SGI0za.css"],"runtime_image":{"id":"sha256:7d005d4ccbcdb4552a9fb7fad91d943682b0e48ab42dd4dbbeedaa4c0cad8808","architecture":"arm64","bytes":7362150484,"source":"Parent runtime inspection at original make-run checkpoint"},"containers_up":6,"healthy_services":["app","database","temporal"]},"recorded_at":"2026-10-15T09:54:44.206920+00:00","label":"Pre-price-correction software/deployment checkpoint"},{"label":"Preserved earlier checkpoint, superseded where current execution is recorded","category":"actual_apertus_inference","record":{"status":"pending","completed_calls":0,"limits":"Six windows/24 planned calls are planning evidence only"}},{"label":"Preserved earlier checkpoint, superseded where current execution is recorded","category":"price_correction","record":{"status":"implemented_reviewed_and_deployed_not_yet_exercised_on_actual_model_proposal","evidence_paths":["docs/PRICE_CORRECTION_REVIEW.md","docs/PRICE_CORRECTION_INDEPENDENT_REVIEW.md","track_2b/docs/FRONTEND_REPORT.md",".runtime/price-correction-deployment-verification.json"],"mechanism":"Engineer/source/snapshot-bound edits preserve original_data and trace; audit before/after/reason/source, remain pending and require a separate approval action.","limits":"Not an independent second-reviewer identity check. No actual proposal or completed model response exists at this checkpoint."}},{"label":"Preserved earlier checkpoint, superseded where current execution is recorded","category":"original_pdf_preview","record":{"status":"actual_inline_original_preview_verified","evidence_path":".runtime/original-preview-deployment-verification.json","observed":{"checked_at":"2026-10-15T10:47:47.389055+00:00","health":{"status":"ok","mode":"live","model":"swiss-ai/Apertus-v1.5-8B","model_configured":false,"workflow":"temporal","database":"postgresql"},"assets":["/assets/index-CQJqGKmM.js","/assets/index-BEgCKw9W.css"],"project_unchanged":true,"snapshot_hash":"cdd3f564c90af98af33cd105510521297b4f0e19dbba7351d508b3044d13a73e","document_count":5,"previews":[{"document":"gpa-07025-bid-abstract.pdf","original_sha256":"ea238725bcf796aa9df08ba0d7cffacd105943a0782fd05b736f9cc5ed9a4b8b","page":3,"image_size":[1800,1165],"png_sha256":"28c47a4cf4daa97086a73ff6bed4337960d796d68e6577c415fe826f1c6147cd","cache_control":"private, no-store","unauthenticated_status":401},{"document":"gpa-07025-full-ifb-amendment-i.pdf","original_sha256":"a101432f314d0839c3d114779f42b03e7b08766476a78eb817074ea7d1f01d10","page":57,"image_size":[1093,1799],"png_sha256":"a6166c9df610e7eed26d9125c1eef955a3eab155dbe319bf49fce54cbbc0c228","cache_control":"private, no-store","unauthenticated_status":401}],"browser_capture":"track_2b/submission/captures/bid-original-page3-before-inference.jpg"},"limits":"Previewing stored originals supports source review; no requirement/model proposal or price correction was created."}},{"label":"Preserved earlier checkpoint, superseded where current execution is recorded","category":"mcp","record":{"status":"read_package_passed","protocol":"2025-11-25","listed_tools":["prepare_purchase_draft","read_document_revision","read_package"],"invoked_tool":"read_package","requirements":0,"mutations_performed":false,"evidence_path":".runtime/live-mcp-verification.json"}},{"label":"Preserved earlier checkpoint, superseded where current execution is recorded","category":"temporal_workflow","record":{"status":"actual_completed_runs_recorded","completed_runs":5,"duplicate_midrun_attached":true,"midflight_worker_crash_tested":false,"limits":"Agent restart/duplicate evidence retained; active-worker crash recovery not tested."}}],"price_correction":{"status":"exercised_on_actual_pending_PO_proposal","original_model_price_cents":11131650,"corrected_price_cents":3710550,"currency":"USD","price_basis":"unit","actor_scope":"AI assistant source reading, not qualified engineering approval","source":"PO page 4","raw_model_data_preserved":true,"proposal_remains_pending":true},"original_pdf_preview":{"status":"actual_PO_page4_preview_captured","capture_id":"final_po_page4","source_id":"gpa-op34276","page":4},"pending_implementation_delta":"deployed_verified","trace_integrity":{"status":"passed","trace_files_verified":192,"run_responses_verified":15,"source_mapper_spans_exact":true,"evidence_path":".runtime/return-review/full-source-verification.json"},"independent_release_control_review":{"status":"passed","backend_tests":96,"frontend_tests":39,"scope":"Assurance gaps, legacy migration, price bases, trace linkage; all scoped findings resolved"}}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All20items are planned extensions5–24 after the four implemented launch workspaces. Sequence follows track_2b/docs/ROADMAP.md: integration, broader engineering coverage, execution, economics/learning. This is a proposed roadmap, not committed delivery dates, existing integrations or revenue. Phase gates: validated design-partner demand, usable expert-reviewed cases, source rights, and measured deployment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Bid abstract PDF pages1,3,4,5: https://go.opengovguam.com/uploads/ggbids/packet_1765520985_GPA-070-25%20Bid%20Abstract.pdf. Assistant readings of handwriting, not expert-approved offers. JMI invitation-year suffix discrepancy preserved. Unknown losses/adjustments are not zero. Canonical OCR has three source-checked price mismatches (Benson25000 vs25600; Polyphase2252.24 vs27252.26; JMI34,a50 vs34250), a data-quality issue rather than a model score. One actual PO correction is demonstrated: 11131650 cents lot total corrected to3710550 cents per unit, source PO page4; it remains pending. Bid amounts on this appendix are assistant source readings, not corrected Apertus offers. Actual AmendmentII dated2025-09-02, issuance PDF page2: https://go.opengovguam.com/uploads/ggbids/packet_1765520985_GPA-070-25%20IFB%20Issuance.pdf. Flip-top interpretation is not physical inspection or a rating amendment. Full tender PDF page29 maps to E-004 AppendixA page20. Drawing approval date is absent, so no due date/current delay is inferred. Guam Power Authority: Awarded purchase order OP34276. https://go.opengovguam.com/uploads/ggbids/packet_1765520985_OP%2034276.pdf; SHA-256 da91f24252a7131e06a9861e56593a66146173bf0e8d0764f2194e6e63b8c551; rights: Redistribution permission not established; original retained in ignored local runtime storage</a:t>
            </a:r>
          </a:p>
          <a:p xmlns:a="http://schemas.openxmlformats.org/drawingml/2006/main">
            <a:r>
              <a:t>Guam Power Authority: Engineering specification E-004 Revision 10. https://go.opengovguam.com/app/webroot/userfiles/files/Spec%20E-004%20Revision%2010%20-%20Three%20Phase%20Pad%20Mounted%20Distribution%20Transformer%282%29.pdf; SHA-256 d21a10dd0d4b31ad85c1bfa1fa07d577b0beeccd24774d109cef94129a05c414; rights: Redistribution permission not established; original retained in ignored local runtime storage</a:t>
            </a:r>
          </a:p>
          <a:p xmlns:a="http://schemas.openxmlformats.org/drawingml/2006/main">
            <a:r>
              <a:t>Guam Power Authority: GPA-070-25 original bid abstract. https://go.opengovguam.com/uploads/ggbids/packet_1765520985_GPA-070-25%20Bid%20Abstract.pdf; SHA-256 ea238725bcf796aa9df08ba0d7cffacd105943a0782fd05b736f9cc5ed9a4b8b; rights: Redistribution permission not established; original retained in ignored local runtime storage</a:t>
            </a:r>
          </a:p>
          <a:p xmlns:a="http://schemas.openxmlformats.org/drawingml/2006/main">
            <a:r>
              <a:t>Guam Power Authority: Portal issuance attachment: amendments and invitation, not the full original IFB. https://go.opengovguam.com/uploads/ggbids/packet_1765520985_GPA-070-25%20IFB%20Issuance.pdf; SHA-256 32b395fcaa2ea49d054f63b38f6f53508a4dba32be5f0559f51e94b530ece22b; rights: Redistribution permission not established; original retained in ignored local runtime storage</a:t>
            </a:r>
          </a:p>
          <a:p xmlns:a="http://schemas.openxmlformats.org/drawingml/2006/main">
            <a:r>
              <a:t>Guam Power Authority: Original 55-page GPA-070-25 IFB with Amendment I (57 PDF pages). https://www.ppa.org.fj/wp-content/uploads/2025/08/220825GPA-GPA-070-25-with-Amendment-I.pdf; SHA-256 a101432f314d0839c3d114779f42b03e7b08766476a78eb817074ea7d1f01d10; rights: Redistribution permission not established; mirror original retained in ignored local runtime storage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f7665024fc4b8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0036a4b863d435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1717cf636dc45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f1fd8a8dcea471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d54092801b445e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20626e0cac44f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C62C57-F4B0-4093-917A-BB528B8797E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C4450D9-D468-4854-90A8-925773B0E28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5312227-E51C-4298-9488-121CDCBDEA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8EC0D8-8651-4E19-977A-44B500587E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4979454-786D-4049-A22B-741CE5DEC7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AC258A2-68A2-4F8F-88BE-364C9782A9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6464A6-6FF2-42E0-8028-DF43C1FF558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C6F12F5-2B23-4DC1-8E7D-78C59BD4934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CEF963-7040-467B-B3FD-F358956A03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D2A69A-432E-4EF8-9892-B4D74CFFF8E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8e0b72e241496e" /><Relationship Type="http://schemas.openxmlformats.org/officeDocument/2006/relationships/slideLayout" Target="/ppt/slideLayouts/slideLayout1.xml" Id="R5e917011cc8b45d3" /><Relationship Type="http://schemas.openxmlformats.org/officeDocument/2006/relationships/slideLayout" Target="/ppt/slideLayouts/slideLayout2.xml" Id="R4b8a21ac026c46b9" /><Relationship Type="http://schemas.openxmlformats.org/officeDocument/2006/relationships/slideLayout" Target="/ppt/slideLayouts/slideLayout3.xml" Id="R5df665167a8349f3" /><Relationship Type="http://schemas.openxmlformats.org/officeDocument/2006/relationships/slideLayout" Target="/ppt/slideLayouts/slideLayout4.xml" Id="R24b88aeccca94270" /><Relationship Type="http://schemas.openxmlformats.org/officeDocument/2006/relationships/slideLayout" Target="/ppt/slideLayouts/slideLayout5.xml" Id="R187a24db441e4c2b" /><Relationship Type="http://schemas.openxmlformats.org/officeDocument/2006/relationships/slideLayout" Target="/ppt/slideLayouts/slideLayout6.xml" Id="Rde9981fca1e641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917011cc8b45d3"/>
    <p:sldLayoutId xmlns:r="http://schemas.openxmlformats.org/officeDocument/2006/relationships" id="2147483650" r:id="R4b8a21ac026c46b9"/>
    <p:sldLayoutId xmlns:r="http://schemas.openxmlformats.org/officeDocument/2006/relationships" id="2147483651" r:id="R5df665167a8349f3"/>
    <p:sldLayoutId xmlns:r="http://schemas.openxmlformats.org/officeDocument/2006/relationships" id="2147483652" r:id="R24b88aeccca94270"/>
    <p:sldLayoutId xmlns:r="http://schemas.openxmlformats.org/officeDocument/2006/relationships" id="2147483653" r:id="R187a24db441e4c2b"/>
    <p:sldLayoutId xmlns:r="http://schemas.openxmlformats.org/officeDocument/2006/relationships" id="2147483654" r:id="Rde9981fca1e641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eaef12a09654fd4" /><Relationship Type="http://schemas.openxmlformats.org/officeDocument/2006/relationships/notesSlide" Target="/ppt/notesSlides/notesSlide1.xml" Id="R8e59d1a34d5e4d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642f4659b9d47ba" /><Relationship Type="http://schemas.openxmlformats.org/officeDocument/2006/relationships/notesSlide" Target="/ppt/notesSlides/notesSlide2.xml" Id="Rb275ded324a24f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750758fa8174651" /><Relationship Type="http://schemas.openxmlformats.org/officeDocument/2006/relationships/notesSlide" Target="/ppt/notesSlides/notesSlide3.xml" Id="Rf13d9e240b6b41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8cef3de63b94b9b" /><Relationship Type="http://schemas.openxmlformats.org/officeDocument/2006/relationships/notesSlide" Target="/ppt/notesSlides/notesSlide4.xml" Id="R06d8e229586c4d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49da538ff164138" /><Relationship Type="http://schemas.openxmlformats.org/officeDocument/2006/relationships/image" Target="/ppt/media/image.png" Id="R72e7df6497d6403f" /><Relationship Type="http://schemas.openxmlformats.org/officeDocument/2006/relationships/notesSlide" Target="/ppt/notesSlides/notesSlide5.xml" Id="Rc26dbcf6c7ad45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4b71a53239e41c9" /><Relationship Type="http://schemas.openxmlformats.org/officeDocument/2006/relationships/image" Target="/ppt/media/image2.png" Id="R56acbe67ca704334" /><Relationship Type="http://schemas.openxmlformats.org/officeDocument/2006/relationships/notesSlide" Target="/ppt/notesSlides/notesSlide6.xml" Id="Re2f44abd9c3046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91462ef443a49c0" /><Relationship Type="http://schemas.openxmlformats.org/officeDocument/2006/relationships/image" Target="/ppt/media/image3.png" Id="R0a88d5c6d996433d" /><Relationship Type="http://schemas.openxmlformats.org/officeDocument/2006/relationships/notesSlide" Target="/ppt/notesSlides/notesSlide7.xml" Id="R90dbec5fa52043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4c03d9622d14228" /><Relationship Type="http://schemas.openxmlformats.org/officeDocument/2006/relationships/notesSlide" Target="/ppt/notesSlides/notesSlide8.xml" Id="Rde35df1288c749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162348a6e624c2e" /><Relationship Type="http://schemas.openxmlformats.org/officeDocument/2006/relationships/notesSlide" Target="/ppt/notesSlides/notesSlide9.xml" Id="R7f92e0a5c8c54b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835ce07606640cf" /><Relationship Type="http://schemas.openxmlformats.org/officeDocument/2006/relationships/notesSlide" Target="/ppt/notesSlides/notesSlide10.xml" Id="R7da53e2df56e47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c25da2d243f4871" /><Relationship Type="http://schemas.openxmlformats.org/officeDocument/2006/relationships/notesSlide" Target="/ppt/notesSlides/notesSlide11.xml" Id="R63decf3b6bf04b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9045a10b5b54c13" /><Relationship Type="http://schemas.openxmlformats.org/officeDocument/2006/relationships/notesSlide" Target="/ppt/notesSlides/notesSlide12.xml" Id="Rb16084537fda4a92" /></Relationships>
</file>

<file path=ppt/slides/slide1.xml><?xml version="1.0" encoding="utf-8"?>
<p:sld xmlns:p="http://schemas.openxmlformats.org/presentationml/2006/main">
  <p:cSld>
    <p:bg>
      <p:bgPr>
        <a:solidFill xmlns:a="http://schemas.openxmlformats.org/drawingml/2006/main">
          <a:srgbClr val="142D3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9DE27CF-8F9C-4878-8CCB-EC08DECBDE9F}"/>
              </a:ext>
            </a:extLst>
          </p:cNvPr>
          <p:cNvSpPr>
            <a:spLocks xmlns:a="http://schemas.openxmlformats.org/drawingml/2006/main" noGrp="1"/>
          </p:cNvSpPr>
          <p:nvPr/>
        </p:nvSpPr>
        <p:spPr>
          <a:xfrm xmlns:a="http://schemas.openxmlformats.org/drawingml/2006/main">
            <a:off x="685800" y="5905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A8D0C7"/>
                </a:solidFill>
                <a:latin typeface="Arial"/>
                <a:ea typeface="Arial"/>
                <a:cs typeface="Arial"/>
              </a:defRPr>
            </a:defPPr>
          </a:lstStyle>
          <a:p xmlns:a="http://schemas.openxmlformats.org/drawingml/2006/main">
            <a:pPr>
              <a:defRPr sz="1575" b="1">
                <a:solidFill>
                  <a:srgbClr val="A8D0C7"/>
                </a:solidFill>
                <a:latin typeface="Arial"/>
                <a:ea typeface="Arial"/>
                <a:cs typeface="Arial"/>
              </a:defRPr>
            </a:pPr>
            <a:r>
              <a:rPr sz="1575" b="1">
                <a:solidFill>
                  <a:srgbClr val="A8D0C7"/>
                </a:solidFill>
                <a:latin typeface="Arial"/>
                <a:ea typeface="Arial"/>
                <a:cs typeface="Arial"/>
              </a:rPr>
              <a:t>TENDERPROOF</a:t>
            </a:r>
          </a:p>
        </p:txBody>
      </p:sp>
      <p:sp>
        <p:nvSpPr>
          <p:cNvPr id="2" name="">
            <a:extLst xmlns:a="http://schemas.openxmlformats.org/drawingml/2006/main">
              <a:ext uri="{FF2B5EF4-FFF2-40B4-BE49-F238E27FC236}">
                <a16:creationId xmlns:a16="http://schemas.microsoft.com/office/drawing/2014/main" id="{86D19FEF-C8EC-455C-AC73-E6122B2A2791}"/>
              </a:ext>
            </a:extLst>
          </p:cNvPr>
          <p:cNvSpPr>
            <a:spLocks xmlns:a="http://schemas.openxmlformats.org/drawingml/2006/main" noGrp="1"/>
          </p:cNvSpPr>
          <p:nvPr/>
        </p:nvSpPr>
        <p:spPr>
          <a:xfrm xmlns:a="http://schemas.openxmlformats.org/drawingml/2006/main">
            <a:off x="685800" y="1666875"/>
            <a:ext cx="108204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75" b="1">
                <a:solidFill>
                  <a:srgbClr val="F5F2EA"/>
                </a:solidFill>
                <a:latin typeface="Arial"/>
                <a:ea typeface="Arial"/>
                <a:cs typeface="Arial"/>
              </a:defRPr>
            </a:defPPr>
          </a:lstStyle>
          <a:p xmlns:a="http://schemas.openxmlformats.org/drawingml/2006/main">
            <a:pPr>
              <a:defRPr sz="4575" b="1">
                <a:solidFill>
                  <a:srgbClr val="F5F2EA"/>
                </a:solidFill>
                <a:latin typeface="Arial"/>
                <a:ea typeface="Arial"/>
                <a:cs typeface="Arial"/>
              </a:defRPr>
            </a:pPr>
            <a:r>
              <a:rPr sz="4575" b="1">
                <a:solidFill>
                  <a:srgbClr val="F5F2EA"/>
                </a:solidFill>
                <a:latin typeface="Arial"/>
                <a:ea typeface="Arial"/>
                <a:cs typeface="Arial"/>
              </a:rPr>
              <a:t>Engineering evidence</a:t>
            </a:r>
          </a:p>
          <a:p xmlns:a="http://schemas.openxmlformats.org/drawingml/2006/main">
            <a:pPr>
              <a:defRPr sz="4575" b="1">
                <a:solidFill>
                  <a:srgbClr val="F5F2EA"/>
                </a:solidFill>
                <a:latin typeface="Arial"/>
                <a:ea typeface="Arial"/>
                <a:cs typeface="Arial"/>
              </a:defRPr>
            </a:pPr>
            <a:r>
              <a:rPr sz="4575" b="1">
                <a:solidFill>
                  <a:srgbClr val="F5F2EA"/>
                </a:solidFill>
                <a:latin typeface="Arial"/>
                <a:ea typeface="Arial"/>
                <a:cs typeface="Arial"/>
              </a:rPr>
              <a:t>before equipment release</a:t>
            </a:r>
          </a:p>
        </p:txBody>
      </p:sp>
      <p:sp>
        <p:nvSpPr>
          <p:cNvPr id="3" name="">
            <a:extLst xmlns:a="http://schemas.openxmlformats.org/drawingml/2006/main">
              <a:ext uri="{FF2B5EF4-FFF2-40B4-BE49-F238E27FC236}">
                <a16:creationId xmlns:a16="http://schemas.microsoft.com/office/drawing/2014/main" id="{FFD1A78E-C1CB-4CF0-9943-34D4F70665F4}"/>
              </a:ext>
            </a:extLst>
          </p:cNvPr>
          <p:cNvSpPr>
            <a:spLocks xmlns:a="http://schemas.openxmlformats.org/drawingml/2006/main" noGrp="1"/>
          </p:cNvSpPr>
          <p:nvPr/>
        </p:nvSpPr>
        <p:spPr>
          <a:xfrm xmlns:a="http://schemas.openxmlformats.org/drawingml/2006/main">
            <a:off x="685800" y="4000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D9E3DC"/>
                </a:solidFill>
                <a:latin typeface="Arial"/>
                <a:ea typeface="Arial"/>
                <a:cs typeface="Arial"/>
              </a:defRPr>
            </a:defPPr>
          </a:lstStyle>
          <a:p xmlns:a="http://schemas.openxmlformats.org/drawingml/2006/main">
            <a:pPr>
              <a:defRPr sz="2325" b="0">
                <a:solidFill>
                  <a:srgbClr val="D9E3DC"/>
                </a:solidFill>
                <a:latin typeface="Arial"/>
                <a:ea typeface="Arial"/>
                <a:cs typeface="Arial"/>
              </a:defRPr>
            </a:pPr>
            <a:r>
              <a:rPr sz="2325" b="0">
                <a:solidFill>
                  <a:srgbClr val="D9E3DC"/>
                </a:solidFill>
                <a:latin typeface="Arial"/>
                <a:ea typeface="Arial"/>
                <a:cs typeface="Arial"/>
              </a:rPr>
              <a:t>An engineering review workbench for requirements,</a:t>
            </a:r>
          </a:p>
          <a:p xmlns:a="http://schemas.openxmlformats.org/drawingml/2006/main">
            <a:pPr>
              <a:defRPr sz="2325" b="0">
                <a:solidFill>
                  <a:srgbClr val="D9E3DC"/>
                </a:solidFill>
                <a:latin typeface="Arial"/>
                <a:ea typeface="Arial"/>
                <a:cs typeface="Arial"/>
              </a:defRPr>
            </a:pPr>
            <a:r>
              <a:rPr sz="2325" b="0">
                <a:solidFill>
                  <a:srgbClr val="D9E3DC"/>
                </a:solidFill>
                <a:latin typeface="Arial"/>
                <a:ea typeface="Arial"/>
                <a:cs typeface="Arial"/>
              </a:rPr>
              <a:t>supplier decisions and shipment evidence.</a:t>
            </a:r>
          </a:p>
        </p:txBody>
      </p:sp>
      <p:sp>
        <p:nvSpPr>
          <p:cNvPr id="4" name="">
            <a:extLst xmlns:a="http://schemas.openxmlformats.org/drawingml/2006/main">
              <a:ext uri="{FF2B5EF4-FFF2-40B4-BE49-F238E27FC236}">
                <a16:creationId xmlns:a16="http://schemas.microsoft.com/office/drawing/2014/main" id="{C8B4F0D3-93C9-4186-AA2E-9EC93BCA18AA}"/>
              </a:ext>
            </a:extLst>
          </p:cNvPr>
          <p:cNvSpPr>
            <a:spLocks xmlns:a="http://schemas.openxmlformats.org/drawingml/2006/main" noGrp="1"/>
          </p:cNvSpPr>
          <p:nvPr/>
        </p:nvSpPr>
        <p:spPr>
          <a:xfrm xmlns:a="http://schemas.openxmlformats.org/drawingml/2006/main">
            <a:off x="685800" y="61722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DC2C6"/>
                </a:solidFill>
                <a:latin typeface="Arial"/>
                <a:ea typeface="Arial"/>
                <a:cs typeface="Arial"/>
              </a:defRPr>
            </a:defPPr>
          </a:lstStyle>
          <a:p xmlns:a="http://schemas.openxmlformats.org/drawingml/2006/main">
            <a:pPr>
              <a:defRPr sz="1350" b="0">
                <a:solidFill>
                  <a:srgbClr val="ADC2C6"/>
                </a:solidFill>
                <a:latin typeface="Arial"/>
                <a:ea typeface="Arial"/>
                <a:cs typeface="Arial"/>
              </a:defRPr>
            </a:pPr>
            <a:r>
              <a:rPr sz="1350" b="0">
                <a:solidFill>
                  <a:srgbClr val="ADC2C6"/>
                </a:solidFill>
                <a:latin typeface="Arial"/>
                <a:ea typeface="Arial"/>
                <a:cs typeface="Arial"/>
              </a:rPr>
              <a:t>SwissChivers / Hack Apertus / Track 2B / October 2026</a:t>
            </a:r>
          </a:p>
        </p:txBody>
      </p:sp>
    </p:spTree>
    <p:extLst>
      <p:ext uri="{BB962C8B-B14F-4D97-AF65-F5344CB8AC3E}">
        <p14:creationId xmlns:p14="http://schemas.microsoft.com/office/powerpoint/2010/main" val="827781014"/>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088A3DF-61ED-4209-9459-67022F680E2C}"/>
              </a:ext>
            </a:extLst>
          </p:cNvPr>
          <p:cNvSpPr>
            <a:spLocks xmlns:a="http://schemas.openxmlformats.org/drawingml/2006/main" noGrp="1"/>
          </p:cNvSpPr>
          <p:nvPr/>
        </p:nvSpPr>
        <p:spPr>
          <a:xfrm xmlns:a="http://schemas.openxmlformats.org/drawingml/2006/main">
            <a:off x="685800" y="4762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2D3C"/>
                </a:solidFill>
                <a:latin typeface="Arial"/>
                <a:ea typeface="Arial"/>
                <a:cs typeface="Arial"/>
              </a:defRPr>
            </a:defPPr>
          </a:lstStyle>
          <a:p xmlns:a="http://schemas.openxmlformats.org/drawingml/2006/main">
            <a:pPr>
              <a:defRPr sz="3225" b="1">
                <a:solidFill>
                  <a:srgbClr val="142D3C"/>
                </a:solidFill>
                <a:latin typeface="Arial"/>
                <a:ea typeface="Arial"/>
                <a:cs typeface="Arial"/>
              </a:defRPr>
            </a:pPr>
            <a:r>
              <a:rPr sz="3225" b="1">
                <a:solidFill>
                  <a:srgbClr val="142D3C"/>
                </a:solidFill>
                <a:latin typeface="Arial"/>
                <a:ea typeface="Arial"/>
                <a:cs typeface="Arial"/>
              </a:rPr>
              <a:t>Can we buy? Can we ship?</a:t>
            </a:r>
          </a:p>
        </p:txBody>
      </p:sp>
      <p:sp>
        <p:nvSpPr>
          <p:cNvPr id="2" name="">
            <a:extLst xmlns:a="http://schemas.openxmlformats.org/drawingml/2006/main">
              <a:ext uri="{FF2B5EF4-FFF2-40B4-BE49-F238E27FC236}">
                <a16:creationId xmlns:a16="http://schemas.microsoft.com/office/drawing/2014/main" id="{9B6109FB-BA5C-4B42-8C29-7105D18B4C94}"/>
              </a:ext>
            </a:extLst>
          </p:cNvPr>
          <p:cNvSpPr>
            <a:spLocks xmlns:a="http://schemas.openxmlformats.org/drawingml/2006/main" noGrp="1"/>
          </p:cNvSpPr>
          <p:nvPr/>
        </p:nvSpPr>
        <p:spPr>
          <a:xfrm xmlns:a="http://schemas.openxmlformats.org/drawingml/2006/main">
            <a:off x="685800" y="12954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36B"/>
                </a:solidFill>
                <a:latin typeface="Arial"/>
                <a:ea typeface="Arial"/>
                <a:cs typeface="Arial"/>
              </a:defRPr>
            </a:defPPr>
          </a:lstStyle>
          <a:p xmlns:a="http://schemas.openxmlformats.org/drawingml/2006/main">
            <a:pPr>
              <a:defRPr sz="1800" b="0">
                <a:solidFill>
                  <a:srgbClr val="53636B"/>
                </a:solidFill>
                <a:latin typeface="Arial"/>
                <a:ea typeface="Arial"/>
                <a:cs typeface="Arial"/>
              </a:defRPr>
            </a:pPr>
            <a:r>
              <a:rPr sz="1800" b="0">
                <a:solidFill>
                  <a:srgbClr val="53636B"/>
                </a:solidFill>
                <a:latin typeface="Arial"/>
                <a:ea typeface="Arial"/>
                <a:cs typeface="Arial"/>
              </a:rPr>
              <a:t>Proposed users: EPC package engineers, procurement leads and quality managers</a:t>
            </a:r>
          </a:p>
        </p:txBody>
      </p:sp>
      <p:sp>
        <p:nvSpPr>
          <p:cNvPr id="3" name="">
            <a:extLst xmlns:a="http://schemas.openxmlformats.org/drawingml/2006/main">
              <a:ext uri="{FF2B5EF4-FFF2-40B4-BE49-F238E27FC236}">
                <a16:creationId xmlns:a16="http://schemas.microsoft.com/office/drawing/2014/main" id="{99FC7223-9C04-41B2-992A-355C584305CA}"/>
              </a:ext>
            </a:extLst>
          </p:cNvPr>
          <p:cNvSpPr>
            <a:spLocks xmlns:a="http://schemas.openxmlformats.org/drawingml/2006/main" noGrp="1"/>
          </p:cNvSpPr>
          <p:nvPr/>
        </p:nvSpPr>
        <p:spPr>
          <a:xfrm xmlns:a="http://schemas.openxmlformats.org/drawingml/2006/main">
            <a:off x="685800" y="6343650"/>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B"/>
                </a:solidFill>
                <a:latin typeface="Arial"/>
                <a:ea typeface="Arial"/>
                <a:cs typeface="Arial"/>
              </a:defRPr>
            </a:defPPr>
          </a:lstStyle>
          <a:p xmlns:a="http://schemas.openxmlformats.org/drawingml/2006/main">
            <a:pPr>
              <a:defRPr sz="1200" b="0">
                <a:solidFill>
                  <a:srgbClr val="53636B"/>
                </a:solidFill>
                <a:latin typeface="Arial"/>
                <a:ea typeface="Arial"/>
                <a:cs typeface="Arial"/>
              </a:defRPr>
            </a:pPr>
            <a:r>
              <a:rPr sz="1200" b="0">
                <a:solidFill>
                  <a:srgbClr val="53636B"/>
                </a:solidFill>
                <a:latin typeface="Arial"/>
                <a:ea typeface="Arial"/>
                <a:cs typeface="Arial"/>
              </a:rPr>
              <a:t>TenderProof / SwissChivers / 02</a:t>
            </a:r>
          </a:p>
        </p:txBody>
      </p:sp>
      <p:sp>
        <p:nvSpPr>
          <p:cNvPr id="4" name="">
            <a:extLst xmlns:a="http://schemas.openxmlformats.org/drawingml/2006/main">
              <a:ext uri="{FF2B5EF4-FFF2-40B4-BE49-F238E27FC236}">
                <a16:creationId xmlns:a16="http://schemas.microsoft.com/office/drawing/2014/main" id="{0127A65F-4DAE-4D32-A187-2639AE246C8E}"/>
              </a:ext>
            </a:extLst>
          </p:cNvPr>
          <p:cNvSpPr>
            <a:spLocks xmlns:a="http://schemas.openxmlformats.org/drawingml/2006/main" noGrp="1"/>
          </p:cNvSpPr>
          <p:nvPr/>
        </p:nvSpPr>
        <p:spPr>
          <a:xfrm xmlns:a="http://schemas.openxmlformats.org/drawingml/2006/main">
            <a:off x="685800" y="2381250"/>
            <a:ext cx="3314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2D3C"/>
                </a:solidFill>
                <a:latin typeface="Arial"/>
                <a:ea typeface="Arial"/>
                <a:cs typeface="Arial"/>
              </a:defRPr>
            </a:defPPr>
          </a:lstStyle>
          <a:p xmlns:a="http://schemas.openxmlformats.org/drawingml/2006/main">
            <a:pPr>
              <a:defRPr sz="2100" b="1">
                <a:solidFill>
                  <a:srgbClr val="142D3C"/>
                </a:solidFill>
                <a:latin typeface="Arial"/>
                <a:ea typeface="Arial"/>
                <a:cs typeface="Arial"/>
              </a:defRPr>
            </a:pPr>
            <a:r>
              <a:rPr sz="2100" b="1">
                <a:solidFill>
                  <a:srgbClr val="142D3C"/>
                </a:solidFill>
                <a:latin typeface="Arial"/>
                <a:ea typeface="Arial"/>
                <a:cs typeface="Arial"/>
              </a:rPr>
              <a:t>Package engineer</a:t>
            </a:r>
          </a:p>
        </p:txBody>
      </p:sp>
      <p:sp>
        <p:nvSpPr>
          <p:cNvPr id="5" name="">
            <a:extLst xmlns:a="http://schemas.openxmlformats.org/drawingml/2006/main">
              <a:ext uri="{FF2B5EF4-FFF2-40B4-BE49-F238E27FC236}">
                <a16:creationId xmlns:a16="http://schemas.microsoft.com/office/drawing/2014/main" id="{61BDB3F0-04C3-49D9-9F9C-8A4DE8670EDE}"/>
              </a:ext>
            </a:extLst>
          </p:cNvPr>
          <p:cNvSpPr>
            <a:spLocks xmlns:a="http://schemas.openxmlformats.org/drawingml/2006/main" noGrp="1"/>
          </p:cNvSpPr>
          <p:nvPr/>
        </p:nvSpPr>
        <p:spPr>
          <a:xfrm xmlns:a="http://schemas.openxmlformats.org/drawingml/2006/main">
            <a:off x="685800" y="3028950"/>
            <a:ext cx="3314700" cy="19050"/>
          </a:xfrm>
          <a:prstGeom xmlns:a="http://schemas.openxmlformats.org/drawingml/2006/main" prst="rect">
            <a:avLst/>
          </a:prstGeom>
          <a:solidFill xmlns:a="http://schemas.openxmlformats.org/drawingml/2006/main">
            <a:srgbClr val="C5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D08451E-9AFD-44CC-86D5-5D7B54409103}"/>
              </a:ext>
            </a:extLst>
          </p:cNvPr>
          <p:cNvSpPr>
            <a:spLocks xmlns:a="http://schemas.openxmlformats.org/drawingml/2006/main" noGrp="1"/>
          </p:cNvSpPr>
          <p:nvPr/>
        </p:nvSpPr>
        <p:spPr>
          <a:xfrm xmlns:a="http://schemas.openxmlformats.org/drawingml/2006/main">
            <a:off x="685800" y="3400425"/>
            <a:ext cx="33147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3636B"/>
                </a:solidFill>
                <a:latin typeface="Arial"/>
                <a:ea typeface="Arial"/>
                <a:cs typeface="Arial"/>
              </a:defRPr>
            </a:defPPr>
          </a:lstStyle>
          <a:p xmlns:a="http://schemas.openxmlformats.org/drawingml/2006/main">
            <a:pPr>
              <a:defRPr sz="2175" b="0">
                <a:solidFill>
                  <a:srgbClr val="53636B"/>
                </a:solidFill>
                <a:latin typeface="Arial"/>
                <a:ea typeface="Arial"/>
                <a:cs typeface="Arial"/>
              </a:defRPr>
            </a:pPr>
            <a:r>
              <a:rPr sz="2175" b="0">
                <a:solidFill>
                  <a:srgbClr val="53636B"/>
                </a:solidFill>
                <a:latin typeface="Arial"/>
                <a:ea typeface="Arial"/>
                <a:cs typeface="Arial"/>
              </a:rPr>
              <a:t>Which clauses apply?</a:t>
            </a:r>
          </a:p>
          <a:p xmlns:a="http://schemas.openxmlformats.org/drawingml/2006/main">
            <a:pPr>
              <a:defRPr sz="2175" b="0">
                <a:solidFill>
                  <a:srgbClr val="53636B"/>
                </a:solidFill>
                <a:latin typeface="Arial"/>
                <a:ea typeface="Arial"/>
                <a:cs typeface="Arial"/>
              </a:defRPr>
            </a:pPr>
            <a:r>
              <a:rPr sz="2175" b="0">
                <a:solidFill>
                  <a:srgbClr val="53636B"/>
                </a:solidFill>
                <a:latin typeface="Arial"/>
                <a:ea typeface="Arial"/>
                <a:cs typeface="Arial"/>
              </a:rPr>
              <a:t>Which interpretation</a:t>
            </a:r>
          </a:p>
          <a:p xmlns:a="http://schemas.openxmlformats.org/drawingml/2006/main">
            <a:pPr>
              <a:defRPr sz="2175" b="0">
                <a:solidFill>
                  <a:srgbClr val="53636B"/>
                </a:solidFill>
                <a:latin typeface="Arial"/>
                <a:ea typeface="Arial"/>
                <a:cs typeface="Arial"/>
              </a:defRPr>
            </a:pPr>
            <a:r>
              <a:rPr sz="2175" b="0">
                <a:solidFill>
                  <a:srgbClr val="53636B"/>
                </a:solidFill>
                <a:latin typeface="Arial"/>
                <a:ea typeface="Arial"/>
                <a:cs typeface="Arial"/>
              </a:rPr>
              <a:t>was reviewed?</a:t>
            </a:r>
          </a:p>
        </p:txBody>
      </p:sp>
      <p:sp>
        <p:nvSpPr>
          <p:cNvPr id="7" name="">
            <a:extLst xmlns:a="http://schemas.openxmlformats.org/drawingml/2006/main">
              <a:ext uri="{FF2B5EF4-FFF2-40B4-BE49-F238E27FC236}">
                <a16:creationId xmlns:a16="http://schemas.microsoft.com/office/drawing/2014/main" id="{CCD1CADD-3820-4C53-99A7-A5FAC56D04D9}"/>
              </a:ext>
            </a:extLst>
          </p:cNvPr>
          <p:cNvSpPr>
            <a:spLocks xmlns:a="http://schemas.openxmlformats.org/drawingml/2006/main" noGrp="1"/>
          </p:cNvSpPr>
          <p:nvPr/>
        </p:nvSpPr>
        <p:spPr>
          <a:xfrm xmlns:a="http://schemas.openxmlformats.org/drawingml/2006/main">
            <a:off x="4438650" y="2381250"/>
            <a:ext cx="3314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2D3C"/>
                </a:solidFill>
                <a:latin typeface="Arial"/>
                <a:ea typeface="Arial"/>
                <a:cs typeface="Arial"/>
              </a:defRPr>
            </a:defPPr>
          </a:lstStyle>
          <a:p xmlns:a="http://schemas.openxmlformats.org/drawingml/2006/main">
            <a:pPr>
              <a:defRPr sz="2100" b="1">
                <a:solidFill>
                  <a:srgbClr val="142D3C"/>
                </a:solidFill>
                <a:latin typeface="Arial"/>
                <a:ea typeface="Arial"/>
                <a:cs typeface="Arial"/>
              </a:defRPr>
            </a:pPr>
            <a:r>
              <a:rPr sz="2100" b="1">
                <a:solidFill>
                  <a:srgbClr val="142D3C"/>
                </a:solidFill>
                <a:latin typeface="Arial"/>
                <a:ea typeface="Arial"/>
                <a:cs typeface="Arial"/>
              </a:rPr>
              <a:t>Procurement lead</a:t>
            </a:r>
          </a:p>
        </p:txBody>
      </p:sp>
      <p:sp>
        <p:nvSpPr>
          <p:cNvPr id="8" name="">
            <a:extLst xmlns:a="http://schemas.openxmlformats.org/drawingml/2006/main">
              <a:ext uri="{FF2B5EF4-FFF2-40B4-BE49-F238E27FC236}">
                <a16:creationId xmlns:a16="http://schemas.microsoft.com/office/drawing/2014/main" id="{A71FA856-E159-499E-AEFA-3BEA86138B6F}"/>
              </a:ext>
            </a:extLst>
          </p:cNvPr>
          <p:cNvSpPr>
            <a:spLocks xmlns:a="http://schemas.openxmlformats.org/drawingml/2006/main" noGrp="1"/>
          </p:cNvSpPr>
          <p:nvPr/>
        </p:nvSpPr>
        <p:spPr>
          <a:xfrm xmlns:a="http://schemas.openxmlformats.org/drawingml/2006/main">
            <a:off x="4438650" y="3028950"/>
            <a:ext cx="3314700" cy="19050"/>
          </a:xfrm>
          <a:prstGeom xmlns:a="http://schemas.openxmlformats.org/drawingml/2006/main" prst="rect">
            <a:avLst/>
          </a:prstGeom>
          <a:solidFill xmlns:a="http://schemas.openxmlformats.org/drawingml/2006/main">
            <a:srgbClr val="C5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139E0E2-053A-4246-A039-C647526E3101}"/>
              </a:ext>
            </a:extLst>
          </p:cNvPr>
          <p:cNvSpPr>
            <a:spLocks xmlns:a="http://schemas.openxmlformats.org/drawingml/2006/main" noGrp="1"/>
          </p:cNvSpPr>
          <p:nvPr/>
        </p:nvSpPr>
        <p:spPr>
          <a:xfrm xmlns:a="http://schemas.openxmlformats.org/drawingml/2006/main">
            <a:off x="4438650" y="3400425"/>
            <a:ext cx="33147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3636B"/>
                </a:solidFill>
                <a:latin typeface="Arial"/>
                <a:ea typeface="Arial"/>
                <a:cs typeface="Arial"/>
              </a:defRPr>
            </a:defPPr>
          </a:lstStyle>
          <a:p xmlns:a="http://schemas.openxmlformats.org/drawingml/2006/main">
            <a:pPr>
              <a:defRPr sz="2175" b="0">
                <a:solidFill>
                  <a:srgbClr val="53636B"/>
                </a:solidFill>
                <a:latin typeface="Arial"/>
                <a:ea typeface="Arial"/>
                <a:cs typeface="Arial"/>
              </a:defRPr>
            </a:pPr>
            <a:r>
              <a:rPr sz="2175" b="0">
                <a:solidFill>
                  <a:srgbClr val="53636B"/>
                </a:solidFill>
                <a:latin typeface="Arial"/>
                <a:ea typeface="Arial"/>
                <a:cs typeface="Arial"/>
              </a:rPr>
              <a:t>Which supplier facts</a:t>
            </a:r>
          </a:p>
          <a:p xmlns:a="http://schemas.openxmlformats.org/drawingml/2006/main">
            <a:pPr>
              <a:defRPr sz="2175" b="0">
                <a:solidFill>
                  <a:srgbClr val="53636B"/>
                </a:solidFill>
                <a:latin typeface="Arial"/>
                <a:ea typeface="Arial"/>
                <a:cs typeface="Arial"/>
              </a:defRPr>
            </a:pPr>
            <a:r>
              <a:rPr sz="2175" b="0">
                <a:solidFill>
                  <a:srgbClr val="53636B"/>
                </a:solidFill>
                <a:latin typeface="Arial"/>
                <a:ea typeface="Arial"/>
                <a:cs typeface="Arial"/>
              </a:rPr>
              <a:t>and documented costs</a:t>
            </a:r>
          </a:p>
          <a:p xmlns:a="http://schemas.openxmlformats.org/drawingml/2006/main">
            <a:pPr>
              <a:defRPr sz="2175" b="0">
                <a:solidFill>
                  <a:srgbClr val="53636B"/>
                </a:solidFill>
                <a:latin typeface="Arial"/>
                <a:ea typeface="Arial"/>
                <a:cs typeface="Arial"/>
              </a:defRPr>
            </a:pPr>
            <a:r>
              <a:rPr sz="2175" b="0">
                <a:solidFill>
                  <a:srgbClr val="53636B"/>
                </a:solidFill>
                <a:latin typeface="Arial"/>
                <a:ea typeface="Arial"/>
                <a:cs typeface="Arial"/>
              </a:rPr>
              <a:t>support the decision?</a:t>
            </a:r>
          </a:p>
        </p:txBody>
      </p:sp>
      <p:sp>
        <p:nvSpPr>
          <p:cNvPr id="10" name="">
            <a:extLst xmlns:a="http://schemas.openxmlformats.org/drawingml/2006/main">
              <a:ext uri="{FF2B5EF4-FFF2-40B4-BE49-F238E27FC236}">
                <a16:creationId xmlns:a16="http://schemas.microsoft.com/office/drawing/2014/main" id="{158604F7-1673-4B67-9C51-1B55577DC88C}"/>
              </a:ext>
            </a:extLst>
          </p:cNvPr>
          <p:cNvSpPr>
            <a:spLocks xmlns:a="http://schemas.openxmlformats.org/drawingml/2006/main" noGrp="1"/>
          </p:cNvSpPr>
          <p:nvPr/>
        </p:nvSpPr>
        <p:spPr>
          <a:xfrm xmlns:a="http://schemas.openxmlformats.org/drawingml/2006/main">
            <a:off x="8191500" y="2381250"/>
            <a:ext cx="3314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2D3C"/>
                </a:solidFill>
                <a:latin typeface="Arial"/>
                <a:ea typeface="Arial"/>
                <a:cs typeface="Arial"/>
              </a:defRPr>
            </a:defPPr>
          </a:lstStyle>
          <a:p xmlns:a="http://schemas.openxmlformats.org/drawingml/2006/main">
            <a:pPr>
              <a:defRPr sz="2100" b="1">
                <a:solidFill>
                  <a:srgbClr val="142D3C"/>
                </a:solidFill>
                <a:latin typeface="Arial"/>
                <a:ea typeface="Arial"/>
                <a:cs typeface="Arial"/>
              </a:defRPr>
            </a:pPr>
            <a:r>
              <a:rPr sz="2100" b="1">
                <a:solidFill>
                  <a:srgbClr val="142D3C"/>
                </a:solidFill>
                <a:latin typeface="Arial"/>
                <a:ea typeface="Arial"/>
                <a:cs typeface="Arial"/>
              </a:rPr>
              <a:t>Quality manager</a:t>
            </a:r>
          </a:p>
        </p:txBody>
      </p:sp>
      <p:sp>
        <p:nvSpPr>
          <p:cNvPr id="11" name="">
            <a:extLst xmlns:a="http://schemas.openxmlformats.org/drawingml/2006/main">
              <a:ext uri="{FF2B5EF4-FFF2-40B4-BE49-F238E27FC236}">
                <a16:creationId xmlns:a16="http://schemas.microsoft.com/office/drawing/2014/main" id="{4DBD2819-9993-4823-B0FA-53FBF7DE036F}"/>
              </a:ext>
            </a:extLst>
          </p:cNvPr>
          <p:cNvSpPr>
            <a:spLocks xmlns:a="http://schemas.openxmlformats.org/drawingml/2006/main" noGrp="1"/>
          </p:cNvSpPr>
          <p:nvPr/>
        </p:nvSpPr>
        <p:spPr>
          <a:xfrm xmlns:a="http://schemas.openxmlformats.org/drawingml/2006/main">
            <a:off x="8191500" y="3028950"/>
            <a:ext cx="3314700" cy="19050"/>
          </a:xfrm>
          <a:prstGeom xmlns:a="http://schemas.openxmlformats.org/drawingml/2006/main" prst="rect">
            <a:avLst/>
          </a:prstGeom>
          <a:solidFill xmlns:a="http://schemas.openxmlformats.org/drawingml/2006/main">
            <a:srgbClr val="C5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9E8B36C-5450-4912-9EEB-927B28E1B7A8}"/>
              </a:ext>
            </a:extLst>
          </p:cNvPr>
          <p:cNvSpPr>
            <a:spLocks xmlns:a="http://schemas.openxmlformats.org/drawingml/2006/main" noGrp="1"/>
          </p:cNvSpPr>
          <p:nvPr/>
        </p:nvSpPr>
        <p:spPr>
          <a:xfrm xmlns:a="http://schemas.openxmlformats.org/drawingml/2006/main">
            <a:off x="8191500" y="3400425"/>
            <a:ext cx="33147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3636B"/>
                </a:solidFill>
                <a:latin typeface="Arial"/>
                <a:ea typeface="Arial"/>
                <a:cs typeface="Arial"/>
              </a:defRPr>
            </a:defPPr>
          </a:lstStyle>
          <a:p xmlns:a="http://schemas.openxmlformats.org/drawingml/2006/main">
            <a:pPr>
              <a:defRPr sz="2175" b="0">
                <a:solidFill>
                  <a:srgbClr val="53636B"/>
                </a:solidFill>
                <a:latin typeface="Arial"/>
                <a:ea typeface="Arial"/>
                <a:cs typeface="Arial"/>
              </a:defRPr>
            </a:pPr>
            <a:r>
              <a:rPr sz="2175" b="0">
                <a:solidFill>
                  <a:srgbClr val="53636B"/>
                </a:solidFill>
                <a:latin typeface="Arial"/>
                <a:ea typeface="Arial"/>
                <a:cs typeface="Arial"/>
              </a:rPr>
              <a:t>Does this evidence</a:t>
            </a:r>
          </a:p>
          <a:p xmlns:a="http://schemas.openxmlformats.org/drawingml/2006/main">
            <a:pPr>
              <a:defRPr sz="2175" b="0">
                <a:solidFill>
                  <a:srgbClr val="53636B"/>
                </a:solidFill>
                <a:latin typeface="Arial"/>
                <a:ea typeface="Arial"/>
                <a:cs typeface="Arial"/>
              </a:defRPr>
            </a:pPr>
            <a:r>
              <a:rPr sz="2175" b="0">
                <a:solidFill>
                  <a:srgbClr val="53636B"/>
                </a:solidFill>
                <a:latin typeface="Arial"/>
                <a:ea typeface="Arial"/>
                <a:cs typeface="Arial"/>
              </a:rPr>
              <a:t>apply to this unit</a:t>
            </a:r>
          </a:p>
          <a:p xmlns:a="http://schemas.openxmlformats.org/drawingml/2006/main">
            <a:pPr>
              <a:defRPr sz="2175" b="0">
                <a:solidFill>
                  <a:srgbClr val="53636B"/>
                </a:solidFill>
                <a:latin typeface="Arial"/>
                <a:ea typeface="Arial"/>
                <a:cs typeface="Arial"/>
              </a:defRPr>
            </a:pPr>
            <a:r>
              <a:rPr sz="2175" b="0">
                <a:solidFill>
                  <a:srgbClr val="53636B"/>
                </a:solidFill>
                <a:latin typeface="Arial"/>
                <a:ea typeface="Arial"/>
                <a:cs typeface="Arial"/>
              </a:rPr>
              <a:t>and this revision?</a:t>
            </a:r>
          </a:p>
        </p:txBody>
      </p:sp>
      <p:sp>
        <p:nvSpPr>
          <p:cNvPr id="13" name="">
            <a:extLst xmlns:a="http://schemas.openxmlformats.org/drawingml/2006/main">
              <a:ext uri="{FF2B5EF4-FFF2-40B4-BE49-F238E27FC236}">
                <a16:creationId xmlns:a16="http://schemas.microsoft.com/office/drawing/2014/main" id="{0A2BB89F-C8CB-456E-9388-E3D3FAFA7966}"/>
              </a:ext>
            </a:extLst>
          </p:cNvPr>
          <p:cNvSpPr>
            <a:spLocks xmlns:a="http://schemas.openxmlformats.org/drawingml/2006/main" noGrp="1"/>
          </p:cNvSpPr>
          <p:nvPr/>
        </p:nvSpPr>
        <p:spPr>
          <a:xfrm xmlns:a="http://schemas.openxmlformats.org/drawingml/2006/main">
            <a:off x="685800" y="55245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76F69"/>
                </a:solidFill>
                <a:latin typeface="Arial"/>
                <a:ea typeface="Arial"/>
                <a:cs typeface="Arial"/>
              </a:defRPr>
            </a:defPPr>
          </a:lstStyle>
          <a:p xmlns:a="http://schemas.openxmlformats.org/drawingml/2006/main">
            <a:pPr>
              <a:defRPr sz="2475" b="1">
                <a:solidFill>
                  <a:srgbClr val="176F69"/>
                </a:solidFill>
                <a:latin typeface="Arial"/>
                <a:ea typeface="Arial"/>
                <a:cs typeface="Arial"/>
              </a:defRPr>
            </a:pPr>
            <a:r>
              <a:rPr sz="2475" b="1">
                <a:solidFill>
                  <a:srgbClr val="176F69"/>
                </a:solidFill>
                <a:latin typeface="Arial"/>
                <a:ea typeface="Arial"/>
                <a:cs typeface="Arial"/>
              </a:rPr>
              <a:t>Keep the source, checks and decision authority together.</a:t>
            </a:r>
          </a:p>
        </p:txBody>
      </p:sp>
    </p:spTree>
    <p:extLst>
      <p:ext uri="{BB962C8B-B14F-4D97-AF65-F5344CB8AC3E}">
        <p14:creationId xmlns:p14="http://schemas.microsoft.com/office/powerpoint/2010/main" val="1953413181"/>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549E9B-E5C9-4346-86C5-93B3B12B1DC5}"/>
              </a:ext>
            </a:extLst>
          </p:cNvPr>
          <p:cNvSpPr>
            <a:spLocks xmlns:a="http://schemas.openxmlformats.org/drawingml/2006/main" noGrp="1"/>
          </p:cNvSpPr>
          <p:nvPr/>
        </p:nvSpPr>
        <p:spPr>
          <a:xfrm xmlns:a="http://schemas.openxmlformats.org/drawingml/2006/main">
            <a:off x="685800" y="4762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2D3C"/>
                </a:solidFill>
                <a:latin typeface="Arial"/>
                <a:ea typeface="Arial"/>
                <a:cs typeface="Arial"/>
              </a:defRPr>
            </a:defPPr>
          </a:lstStyle>
          <a:p xmlns:a="http://schemas.openxmlformats.org/drawingml/2006/main">
            <a:pPr>
              <a:defRPr sz="3225" b="1">
                <a:solidFill>
                  <a:srgbClr val="142D3C"/>
                </a:solidFill>
                <a:latin typeface="Arial"/>
                <a:ea typeface="Arial"/>
                <a:cs typeface="Arial"/>
              </a:defRPr>
            </a:pPr>
            <a:r>
              <a:rPr sz="3225" b="1">
                <a:solidFill>
                  <a:srgbClr val="142D3C"/>
                </a:solidFill>
                <a:latin typeface="Arial"/>
                <a:ea typeface="Arial"/>
                <a:cs typeface="Arial"/>
              </a:rPr>
              <a:t>Four connected workspaces</a:t>
            </a:r>
          </a:p>
        </p:txBody>
      </p:sp>
      <p:sp>
        <p:nvSpPr>
          <p:cNvPr id="2" name="">
            <a:extLst xmlns:a="http://schemas.openxmlformats.org/drawingml/2006/main">
              <a:ext uri="{FF2B5EF4-FFF2-40B4-BE49-F238E27FC236}">
                <a16:creationId xmlns:a16="http://schemas.microsoft.com/office/drawing/2014/main" id="{B2F3D319-5C49-40DE-9313-701BDA735AE7}"/>
              </a:ext>
            </a:extLst>
          </p:cNvPr>
          <p:cNvSpPr>
            <a:spLocks xmlns:a="http://schemas.openxmlformats.org/drawingml/2006/main" noGrp="1"/>
          </p:cNvSpPr>
          <p:nvPr/>
        </p:nvSpPr>
        <p:spPr>
          <a:xfrm xmlns:a="http://schemas.openxmlformats.org/drawingml/2006/main">
            <a:off x="685800" y="12954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36B"/>
                </a:solidFill>
                <a:latin typeface="Arial"/>
                <a:ea typeface="Arial"/>
                <a:cs typeface="Arial"/>
              </a:defRPr>
            </a:defPPr>
          </a:lstStyle>
          <a:p xmlns:a="http://schemas.openxmlformats.org/drawingml/2006/main">
            <a:pPr>
              <a:defRPr sz="1800" b="0">
                <a:solidFill>
                  <a:srgbClr val="53636B"/>
                </a:solidFill>
                <a:latin typeface="Arial"/>
                <a:ea typeface="Arial"/>
                <a:cs typeface="Arial"/>
              </a:defRPr>
            </a:pPr>
            <a:r>
              <a:rPr sz="1800" b="0">
                <a:solidFill>
                  <a:srgbClr val="53636B"/>
                </a:solidFill>
                <a:latin typeface="Arial"/>
                <a:ea typeface="Arial"/>
                <a:cs typeface="Arial"/>
              </a:rPr>
              <a:t>Implemented review surfaces share one versioned package</a:t>
            </a:r>
          </a:p>
        </p:txBody>
      </p:sp>
      <p:sp>
        <p:nvSpPr>
          <p:cNvPr id="3" name="">
            <a:extLst xmlns:a="http://schemas.openxmlformats.org/drawingml/2006/main">
              <a:ext uri="{FF2B5EF4-FFF2-40B4-BE49-F238E27FC236}">
                <a16:creationId xmlns:a16="http://schemas.microsoft.com/office/drawing/2014/main" id="{5FEF5B38-3536-4010-B4FF-B2197528A34D}"/>
              </a:ext>
            </a:extLst>
          </p:cNvPr>
          <p:cNvSpPr>
            <a:spLocks xmlns:a="http://schemas.openxmlformats.org/drawingml/2006/main" noGrp="1"/>
          </p:cNvSpPr>
          <p:nvPr/>
        </p:nvSpPr>
        <p:spPr>
          <a:xfrm xmlns:a="http://schemas.openxmlformats.org/drawingml/2006/main">
            <a:off x="685800" y="6343650"/>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B"/>
                </a:solidFill>
                <a:latin typeface="Arial"/>
                <a:ea typeface="Arial"/>
                <a:cs typeface="Arial"/>
              </a:defRPr>
            </a:defPPr>
          </a:lstStyle>
          <a:p xmlns:a="http://schemas.openxmlformats.org/drawingml/2006/main">
            <a:pPr>
              <a:defRPr sz="1200" b="0">
                <a:solidFill>
                  <a:srgbClr val="53636B"/>
                </a:solidFill>
                <a:latin typeface="Arial"/>
                <a:ea typeface="Arial"/>
                <a:cs typeface="Arial"/>
              </a:defRPr>
            </a:pPr>
            <a:r>
              <a:rPr sz="1200" b="0">
                <a:solidFill>
                  <a:srgbClr val="53636B"/>
                </a:solidFill>
                <a:latin typeface="Arial"/>
                <a:ea typeface="Arial"/>
                <a:cs typeface="Arial"/>
              </a:rPr>
              <a:t>TenderProof / SwissChivers / 03</a:t>
            </a:r>
          </a:p>
        </p:txBody>
      </p:sp>
      <p:graphicFrame>
        <p:nvGraphicFramePr>
          <p:cNvPr id="4" name="">
            <a:extLst xmlns:a="http://schemas.openxmlformats.org/drawingml/2006/main">
              <a:ext uri="{FF2B5EF4-FFF2-40B4-BE49-F238E27FC236}">
                <a16:creationId xmlns:a16="http://schemas.microsoft.com/office/drawing/2014/main" id="{9F5ED719-B63B-40D9-926E-4921B22E31BF}"/>
              </a:ext>
            </a:extLst>
          </p:cNvPr>
          <p:cNvGraphicFramePr/>
          <p:nvPr/>
        </p:nvGraphicFramePr>
        <p:xfrm>
          <a:off xmlns:a="http://schemas.openxmlformats.org/drawingml/2006/main" x="685800" y="2076450"/>
          <a:ext xmlns:a="http://schemas.openxmlformats.org/drawingml/2006/main" cx="10820400" cy="3476625"/>
        </p:xfrm>
        <a:graphic xmlns:a="http://schemas.openxmlformats.org/drawingml/2006/main">
          <a:graphicData uri="http://schemas.openxmlformats.org/drawingml/2006/table">
            <a:tbl>
              <a:tblPr/>
              <a:tblGrid>
                <a:gridCol w="2286000"/>
                <a:gridCol w="4267200"/>
                <a:gridCol w="4267200"/>
              </a:tblGrid>
              <a:tr h="695325">
                <a:tc>
                  <a:txBody>
                    <a:bodyPr/>
                    <a:lstStyle/>
                    <a:p>
                      <a:r>
                        <a:rPr sz="1650" b="1">
                          <a:solidFill>
                            <a:srgbClr val="FFFFFF"/>
                          </a:solidFill>
                          <a:latin typeface="Arial"/>
                          <a:ea typeface="Arial"/>
                          <a:cs typeface="Arial"/>
                        </a:rPr>
                        <a:t>Workspace</a:t>
                      </a:r>
                    </a:p>
                  </a:txBody>
                  <a:tcPr marL="91440" marR="91440" marT="45720" marB="45720">
                    <a:lnL w="9525">
                      <a:solidFill>
                        <a:srgbClr val="C5CEC9"/>
                      </a:solidFill>
                      <a:prstDash val="solid"/>
                    </a:lnL>
                    <a:lnR w="9525">
                      <a:solidFill>
                        <a:srgbClr val="C5CEC9"/>
                      </a:solidFill>
                      <a:prstDash val="solid"/>
                    </a:lnR>
                    <a:lnT w="9525">
                      <a:solidFill>
                        <a:srgbClr val="C5CEC9"/>
                      </a:solidFill>
                      <a:prstDash val="solid"/>
                    </a:lnT>
                    <a:lnB w="9525">
                      <a:solidFill>
                        <a:srgbClr val="C5CEC9"/>
                      </a:solidFill>
                      <a:prstDash val="solid"/>
                    </a:lnB>
                    <a:solidFill>
                      <a:srgbClr val="142D3C"/>
                    </a:solidFill>
                  </a:tcPr>
                </a:tc>
                <a:tc>
                  <a:txBody>
                    <a:bodyPr/>
                    <a:lstStyle/>
                    <a:p>
                      <a:r>
                        <a:rPr sz="1650" b="1">
                          <a:solidFill>
                            <a:srgbClr val="FFFFFF"/>
                          </a:solidFill>
                          <a:latin typeface="Arial"/>
                          <a:ea typeface="Arial"/>
                          <a:cs typeface="Arial"/>
                        </a:rPr>
                        <a:t>What the reviewer does</a:t>
                      </a:r>
                    </a:p>
                  </a:txBody>
                  <a:tcPr marL="91440" marR="91440" marT="45720" marB="45720">
                    <a:lnR w="9525">
                      <a:solidFill>
                        <a:srgbClr val="C5CEC9"/>
                      </a:solidFill>
                      <a:prstDash val="solid"/>
                    </a:lnR>
                    <a:lnT w="9525">
                      <a:solidFill>
                        <a:srgbClr val="C5CEC9"/>
                      </a:solidFill>
                      <a:prstDash val="solid"/>
                    </a:lnT>
                    <a:lnB w="9525">
                      <a:solidFill>
                        <a:srgbClr val="C5CEC9"/>
                      </a:solidFill>
                      <a:prstDash val="solid"/>
                    </a:lnB>
                    <a:solidFill>
                      <a:srgbClr val="142D3C"/>
                    </a:solidFill>
                  </a:tcPr>
                </a:tc>
                <a:tc>
                  <a:txBody>
                    <a:bodyPr/>
                    <a:lstStyle/>
                    <a:p>
                      <a:r>
                        <a:rPr sz="1650" b="1">
                          <a:solidFill>
                            <a:srgbClr val="FFFFFF"/>
                          </a:solidFill>
                          <a:latin typeface="Arial"/>
                          <a:ea typeface="Arial"/>
                          <a:cs typeface="Arial"/>
                        </a:rPr>
                        <a:t>What stays connected</a:t>
                      </a:r>
                    </a:p>
                  </a:txBody>
                  <a:tcPr marL="91440" marR="91440" marT="45720" marB="45720">
                    <a:lnR w="9525">
                      <a:solidFill>
                        <a:srgbClr val="C5CEC9"/>
                      </a:solidFill>
                      <a:prstDash val="solid"/>
                    </a:lnR>
                    <a:lnT w="9525">
                      <a:solidFill>
                        <a:srgbClr val="C5CEC9"/>
                      </a:solidFill>
                      <a:prstDash val="solid"/>
                    </a:lnT>
                    <a:lnB w="9525">
                      <a:solidFill>
                        <a:srgbClr val="C5CEC9"/>
                      </a:solidFill>
                      <a:prstDash val="solid"/>
                    </a:lnB>
                    <a:solidFill>
                      <a:srgbClr val="142D3C"/>
                    </a:solidFill>
                  </a:tcPr>
                </a:tc>
              </a:tr>
              <a:tr h="695325">
                <a:tc>
                  <a:txBody>
                    <a:bodyPr/>
                    <a:lstStyle/>
                    <a:p>
                      <a:r>
                        <a:rPr sz="1650" b="0">
                          <a:solidFill>
                            <a:srgbClr val="142D3C"/>
                          </a:solidFill>
                          <a:latin typeface="Arial"/>
                          <a:ea typeface="Arial"/>
                          <a:cs typeface="Arial"/>
                        </a:rPr>
                        <a:t>Requirements</a:t>
                      </a:r>
                    </a:p>
                  </a:txBody>
                  <a:tcPr marL="91440" marR="91440" marT="45720" marB="45720">
                    <a:lnL w="9525">
                      <a:solidFill>
                        <a:srgbClr val="C5CEC9"/>
                      </a:solidFill>
                      <a:prstDash val="solid"/>
                    </a:lnL>
                    <a:lnR w="9525">
                      <a:solidFill>
                        <a:srgbClr val="C5CEC9"/>
                      </a:solidFill>
                      <a:prstDash val="solid"/>
                    </a:lnR>
                    <a:lnB w="9525">
                      <a:solidFill>
                        <a:srgbClr val="C5CEC9"/>
                      </a:solidFill>
                      <a:prstDash val="solid"/>
                    </a:lnB>
                    <a:solidFill>
                      <a:srgbClr val="F5F2EA"/>
                    </a:solidFill>
                  </a:tcPr>
                </a:tc>
                <a:tc>
                  <a:txBody>
                    <a:bodyPr/>
                    <a:lstStyle/>
                    <a:p>
                      <a:r>
                        <a:rPr sz="1650" b="0">
                          <a:solidFill>
                            <a:srgbClr val="142D3C"/>
                          </a:solidFill>
                          <a:latin typeface="Arial"/>
                          <a:ea typeface="Arial"/>
                          <a:cs typeface="Arial"/>
                        </a:rPr>
                        <a:t>Review clauses and typed proposals</a:t>
                      </a:r>
                    </a:p>
                  </a:txBody>
                  <a:tcPr marL="91440" marR="91440" marT="45720" marB="45720">
                    <a:lnR w="9525">
                      <a:solidFill>
                        <a:srgbClr val="C5CEC9"/>
                      </a:solidFill>
                      <a:prstDash val="solid"/>
                    </a:lnR>
                    <a:lnB w="9525">
                      <a:solidFill>
                        <a:srgbClr val="C5CEC9"/>
                      </a:solidFill>
                      <a:prstDash val="solid"/>
                    </a:lnB>
                    <a:solidFill>
                      <a:srgbClr val="F5F2EA"/>
                    </a:solidFill>
                  </a:tcPr>
                </a:tc>
                <a:tc>
                  <a:txBody>
                    <a:bodyPr/>
                    <a:lstStyle/>
                    <a:p>
                      <a:r>
                        <a:rPr sz="1650" b="0">
                          <a:solidFill>
                            <a:srgbClr val="142D3C"/>
                          </a:solidFill>
                          <a:latin typeface="Arial"/>
                          <a:ea typeface="Arial"/>
                          <a:cs typeface="Arial"/>
                        </a:rPr>
                        <a:t>Source page, span and interpretation</a:t>
                      </a:r>
                    </a:p>
                  </a:txBody>
                  <a:tcPr marL="91440" marR="91440" marT="45720" marB="45720">
                    <a:lnR w="9525">
                      <a:solidFill>
                        <a:srgbClr val="C5CEC9"/>
                      </a:solidFill>
                      <a:prstDash val="solid"/>
                    </a:lnR>
                    <a:lnB w="9525">
                      <a:solidFill>
                        <a:srgbClr val="C5CEC9"/>
                      </a:solidFill>
                      <a:prstDash val="solid"/>
                    </a:lnB>
                    <a:solidFill>
                      <a:srgbClr val="F5F2EA"/>
                    </a:solidFill>
                  </a:tcPr>
                </a:tc>
              </a:tr>
              <a:tr h="695325">
                <a:tc>
                  <a:txBody>
                    <a:bodyPr/>
                    <a:lstStyle/>
                    <a:p>
                      <a:r>
                        <a:rPr sz="1650" b="0">
                          <a:solidFill>
                            <a:srgbClr val="142D3C"/>
                          </a:solidFill>
                          <a:latin typeface="Arial"/>
                          <a:ea typeface="Arial"/>
                          <a:cs typeface="Arial"/>
                        </a:rPr>
                        <a:t>Supplier comparison</a:t>
                      </a:r>
                    </a:p>
                  </a:txBody>
                  <a:tcPr marL="91440" marR="91440" marT="45720" marB="45720">
                    <a:lnL w="9525">
                      <a:solidFill>
                        <a:srgbClr val="C5CEC9"/>
                      </a:solidFill>
                      <a:prstDash val="solid"/>
                    </a:lnL>
                    <a:lnR w="9525">
                      <a:solidFill>
                        <a:srgbClr val="C5CEC9"/>
                      </a:solidFill>
                      <a:prstDash val="solid"/>
                    </a:lnR>
                    <a:lnB w="9525">
                      <a:solidFill>
                        <a:srgbClr val="C5CEC9"/>
                      </a:solidFill>
                      <a:prstDash val="solid"/>
                    </a:lnB>
                    <a:solidFill>
                      <a:srgbClr val="E7EDE5"/>
                    </a:solidFill>
                  </a:tcPr>
                </a:tc>
                <a:tc>
                  <a:txBody>
                    <a:bodyPr/>
                    <a:lstStyle/>
                    <a:p>
                      <a:r>
                        <a:rPr sz="1650" b="0">
                          <a:solidFill>
                            <a:srgbClr val="142D3C"/>
                          </a:solidFill>
                          <a:latin typeface="Arial"/>
                          <a:ea typeface="Arial"/>
                          <a:cs typeface="Arial"/>
                        </a:rPr>
                        <a:t>Inspect technical outcomes and documented costs</a:t>
                      </a:r>
                    </a:p>
                  </a:txBody>
                  <a:tcPr marL="91440" marR="91440" marT="45720" marB="45720">
                    <a:lnR w="9525">
                      <a:solidFill>
                        <a:srgbClr val="C5CEC9"/>
                      </a:solidFill>
                      <a:prstDash val="solid"/>
                    </a:lnR>
                    <a:lnB w="9525">
                      <a:solidFill>
                        <a:srgbClr val="C5CEC9"/>
                      </a:solidFill>
                      <a:prstDash val="solid"/>
                    </a:lnB>
                    <a:solidFill>
                      <a:srgbClr val="E7EDE5"/>
                    </a:solidFill>
                  </a:tcPr>
                </a:tc>
                <a:tc>
                  <a:txBody>
                    <a:bodyPr/>
                    <a:lstStyle/>
                    <a:p>
                      <a:r>
                        <a:rPr sz="1650" b="0">
                          <a:solidFill>
                            <a:srgbClr val="142D3C"/>
                          </a:solidFill>
                          <a:latin typeface="Arial"/>
                          <a:ea typeface="Arial"/>
                          <a:cs typeface="Arial"/>
                        </a:rPr>
                        <a:t>Supplier configuration and source facts</a:t>
                      </a:r>
                    </a:p>
                  </a:txBody>
                  <a:tcPr marL="91440" marR="91440" marT="45720" marB="45720">
                    <a:lnR w="9525">
                      <a:solidFill>
                        <a:srgbClr val="C5CEC9"/>
                      </a:solidFill>
                      <a:prstDash val="solid"/>
                    </a:lnR>
                    <a:lnB w="9525">
                      <a:solidFill>
                        <a:srgbClr val="C5CEC9"/>
                      </a:solidFill>
                      <a:prstDash val="solid"/>
                    </a:lnB>
                    <a:solidFill>
                      <a:srgbClr val="E7EDE5"/>
                    </a:solidFill>
                  </a:tcPr>
                </a:tc>
              </a:tr>
              <a:tr h="695325">
                <a:tc>
                  <a:txBody>
                    <a:bodyPr/>
                    <a:lstStyle/>
                    <a:p>
                      <a:r>
                        <a:rPr sz="1650" b="0">
                          <a:solidFill>
                            <a:srgbClr val="142D3C"/>
                          </a:solidFill>
                          <a:latin typeface="Arial"/>
                          <a:ea typeface="Arial"/>
                          <a:cs typeface="Arial"/>
                        </a:rPr>
                        <a:t>Acceptance</a:t>
                      </a:r>
                    </a:p>
                  </a:txBody>
                  <a:tcPr marL="91440" marR="91440" marT="45720" marB="45720">
                    <a:lnL w="9525">
                      <a:solidFill>
                        <a:srgbClr val="C5CEC9"/>
                      </a:solidFill>
                      <a:prstDash val="solid"/>
                    </a:lnL>
                    <a:lnR w="9525">
                      <a:solidFill>
                        <a:srgbClr val="C5CEC9"/>
                      </a:solidFill>
                      <a:prstDash val="solid"/>
                    </a:lnR>
                    <a:lnB w="9525">
                      <a:solidFill>
                        <a:srgbClr val="C5CEC9"/>
                      </a:solidFill>
                      <a:prstDash val="solid"/>
                    </a:lnB>
                    <a:solidFill>
                      <a:srgbClr val="F5F2EA"/>
                    </a:solidFill>
                  </a:tcPr>
                </a:tc>
                <a:tc>
                  <a:txBody>
                    <a:bodyPr/>
                    <a:lstStyle/>
                    <a:p>
                      <a:r>
                        <a:rPr sz="1650" b="0">
                          <a:solidFill>
                            <a:srgbClr val="142D3C"/>
                          </a:solidFill>
                          <a:latin typeface="Arial"/>
                          <a:ea typeface="Arial"/>
                          <a:cs typeface="Arial"/>
                        </a:rPr>
                        <a:t>Review evidence applicability and release prerequisites</a:t>
                      </a:r>
                    </a:p>
                  </a:txBody>
                  <a:tcPr marL="91440" marR="91440" marT="45720" marB="45720">
                    <a:lnR w="9525">
                      <a:solidFill>
                        <a:srgbClr val="C5CEC9"/>
                      </a:solidFill>
                      <a:prstDash val="solid"/>
                    </a:lnR>
                    <a:lnB w="9525">
                      <a:solidFill>
                        <a:srgbClr val="C5CEC9"/>
                      </a:solidFill>
                      <a:prstDash val="solid"/>
                    </a:lnB>
                    <a:solidFill>
                      <a:srgbClr val="F5F2EA"/>
                    </a:solidFill>
                  </a:tcPr>
                </a:tc>
                <a:tc>
                  <a:txBody>
                    <a:bodyPr/>
                    <a:lstStyle/>
                    <a:p>
                      <a:r>
                        <a:rPr sz="1650" b="0">
                          <a:solidFill>
                            <a:srgbClr val="142D3C"/>
                          </a:solidFill>
                          <a:latin typeface="Arial"/>
                          <a:ea typeface="Arial"/>
                          <a:cs typeface="Arial"/>
                        </a:rPr>
                        <a:t>Unit / revision / evidence gaps</a:t>
                      </a:r>
                    </a:p>
                  </a:txBody>
                  <a:tcPr marL="91440" marR="91440" marT="45720" marB="45720">
                    <a:lnR w="9525">
                      <a:solidFill>
                        <a:srgbClr val="C5CEC9"/>
                      </a:solidFill>
                      <a:prstDash val="solid"/>
                    </a:lnR>
                    <a:lnB w="9525">
                      <a:solidFill>
                        <a:srgbClr val="C5CEC9"/>
                      </a:solidFill>
                      <a:prstDash val="solid"/>
                    </a:lnB>
                    <a:solidFill>
                      <a:srgbClr val="F5F2EA"/>
                    </a:solidFill>
                  </a:tcPr>
                </a:tc>
              </a:tr>
              <a:tr h="695325">
                <a:tc>
                  <a:txBody>
                    <a:bodyPr/>
                    <a:lstStyle/>
                    <a:p>
                      <a:r>
                        <a:rPr sz="1650" b="0">
                          <a:solidFill>
                            <a:srgbClr val="142D3C"/>
                          </a:solidFill>
                          <a:latin typeface="Arial"/>
                          <a:ea typeface="Arial"/>
                          <a:cs typeface="Arial"/>
                        </a:rPr>
                        <a:t>History and approvals</a:t>
                      </a:r>
                    </a:p>
                  </a:txBody>
                  <a:tcPr marL="91440" marR="91440" marT="45720" marB="45720">
                    <a:lnL w="9525">
                      <a:solidFill>
                        <a:srgbClr val="C5CEC9"/>
                      </a:solidFill>
                      <a:prstDash val="solid"/>
                    </a:lnL>
                    <a:lnR w="9525">
                      <a:solidFill>
                        <a:srgbClr val="C5CEC9"/>
                      </a:solidFill>
                      <a:prstDash val="solid"/>
                    </a:lnR>
                    <a:lnB w="9525">
                      <a:solidFill>
                        <a:srgbClr val="C5CEC9"/>
                      </a:solidFill>
                      <a:prstDash val="solid"/>
                    </a:lnB>
                    <a:solidFill>
                      <a:srgbClr val="E7EDE5"/>
                    </a:solidFill>
                  </a:tcPr>
                </a:tc>
                <a:tc>
                  <a:txBody>
                    <a:bodyPr/>
                    <a:lstStyle/>
                    <a:p>
                      <a:r>
                        <a:rPr sz="1650" b="0">
                          <a:solidFill>
                            <a:srgbClr val="142D3C"/>
                          </a:solidFill>
                          <a:latin typeface="Arial"/>
                          <a:ea typeface="Arial"/>
                          <a:cs typeface="Arial"/>
                        </a:rPr>
                        <a:t>Inspect changes, role approvals and immutable packets</a:t>
                      </a:r>
                    </a:p>
                  </a:txBody>
                  <a:tcPr marL="91440" marR="91440" marT="45720" marB="45720">
                    <a:lnR w="9525">
                      <a:solidFill>
                        <a:srgbClr val="C5CEC9"/>
                      </a:solidFill>
                      <a:prstDash val="solid"/>
                    </a:lnR>
                    <a:lnB w="9525">
                      <a:solidFill>
                        <a:srgbClr val="C5CEC9"/>
                      </a:solidFill>
                      <a:prstDash val="solid"/>
                    </a:lnB>
                    <a:solidFill>
                      <a:srgbClr val="E7EDE5"/>
                    </a:solidFill>
                  </a:tcPr>
                </a:tc>
                <a:tc>
                  <a:txBody>
                    <a:bodyPr/>
                    <a:lstStyle/>
                    <a:p>
                      <a:r>
                        <a:rPr sz="1650" b="0">
                          <a:solidFill>
                            <a:srgbClr val="142D3C"/>
                          </a:solidFill>
                          <a:latin typeface="Arial"/>
                          <a:ea typeface="Arial"/>
                          <a:cs typeface="Arial"/>
                        </a:rPr>
                        <a:t>Reviewed snapshot and authority</a:t>
                      </a:r>
                    </a:p>
                  </a:txBody>
                  <a:tcPr marL="91440" marR="91440" marT="45720" marB="45720">
                    <a:lnR w="9525">
                      <a:solidFill>
                        <a:srgbClr val="C5CEC9"/>
                      </a:solidFill>
                      <a:prstDash val="solid"/>
                    </a:lnR>
                    <a:lnB w="9525">
                      <a:solidFill>
                        <a:srgbClr val="C5CEC9"/>
                      </a:solidFill>
                      <a:prstDash val="solid"/>
                    </a:lnB>
                    <a:solidFill>
                      <a:srgbClr val="E7EDE5"/>
                    </a:solidFill>
                  </a:tcPr>
                </a:tc>
              </a:tr>
            </a:tbl>
          </a:graphicData>
        </a:graphic>
      </p:graphicFrame>
      <p:sp>
        <p:nvSpPr>
          <p:cNvPr id="5" name="">
            <a:extLst xmlns:a="http://schemas.openxmlformats.org/drawingml/2006/main">
              <a:ext uri="{FF2B5EF4-FFF2-40B4-BE49-F238E27FC236}">
                <a16:creationId xmlns:a16="http://schemas.microsoft.com/office/drawing/2014/main" id="{470DFFF2-A6D5-4936-BDFC-A15E4C617C06}"/>
              </a:ext>
            </a:extLst>
          </p:cNvPr>
          <p:cNvSpPr>
            <a:spLocks xmlns:a="http://schemas.openxmlformats.org/drawingml/2006/main" noGrp="1"/>
          </p:cNvSpPr>
          <p:nvPr/>
        </p:nvSpPr>
        <p:spPr>
          <a:xfrm xmlns:a="http://schemas.openxmlformats.org/drawingml/2006/main">
            <a:off x="685800" y="581977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3636B"/>
                </a:solidFill>
                <a:latin typeface="Arial"/>
                <a:ea typeface="Arial"/>
                <a:cs typeface="Arial"/>
              </a:defRPr>
            </a:defPPr>
          </a:lstStyle>
          <a:p xmlns:a="http://schemas.openxmlformats.org/drawingml/2006/main">
            <a:pPr>
              <a:defRPr sz="1650" b="0">
                <a:solidFill>
                  <a:srgbClr val="53636B"/>
                </a:solidFill>
                <a:latin typeface="Arial"/>
                <a:ea typeface="Arial"/>
                <a:cs typeface="Arial"/>
              </a:defRPr>
            </a:pPr>
            <a:r>
              <a:rPr sz="1650" b="0">
                <a:solidFill>
                  <a:srgbClr val="53636B"/>
                </a:solidFill>
                <a:latin typeface="Arial"/>
                <a:ea typeface="Arial"/>
                <a:cs typeface="Arial"/>
              </a:rPr>
              <a:t>The current real package contains genuine inference; all results remain pending.</a:t>
            </a:r>
          </a:p>
        </p:txBody>
      </p:sp>
    </p:spTree>
    <p:extLst>
      <p:ext uri="{BB962C8B-B14F-4D97-AF65-F5344CB8AC3E}">
        <p14:creationId xmlns:p14="http://schemas.microsoft.com/office/powerpoint/2010/main" val="439949245"/>
      </p:ext>
    </p:extLst>
  </p:cSld>
</p:sld>
</file>

<file path=ppt/slides/slide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5073201-6CAE-435F-B47F-62C5CA383EB9}"/>
              </a:ext>
            </a:extLst>
          </p:cNvPr>
          <p:cNvSpPr>
            <a:spLocks xmlns:a="http://schemas.openxmlformats.org/drawingml/2006/main" noGrp="1"/>
          </p:cNvSpPr>
          <p:nvPr/>
        </p:nvSpPr>
        <p:spPr>
          <a:xfrm xmlns:a="http://schemas.openxmlformats.org/drawingml/2006/main">
            <a:off x="685800" y="4762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2D3C"/>
                </a:solidFill>
                <a:latin typeface="Arial"/>
                <a:ea typeface="Arial"/>
                <a:cs typeface="Arial"/>
              </a:defRPr>
            </a:defPPr>
          </a:lstStyle>
          <a:p xmlns:a="http://schemas.openxmlformats.org/drawingml/2006/main">
            <a:pPr>
              <a:defRPr sz="3225" b="1">
                <a:solidFill>
                  <a:srgbClr val="142D3C"/>
                </a:solidFill>
                <a:latin typeface="Arial"/>
                <a:ea typeface="Arial"/>
                <a:cs typeface="Arial"/>
              </a:defRPr>
            </a:pPr>
            <a:r>
              <a:rPr sz="3225" b="1">
                <a:solidFill>
                  <a:srgbClr val="142D3C"/>
                </a:solidFill>
                <a:latin typeface="Arial"/>
                <a:ea typeface="Arial"/>
                <a:cs typeface="Arial"/>
              </a:rPr>
              <a:t>A proposal becomes a governed decision</a:t>
            </a:r>
          </a:p>
        </p:txBody>
      </p:sp>
      <p:sp>
        <p:nvSpPr>
          <p:cNvPr id="2" name="">
            <a:extLst xmlns:a="http://schemas.openxmlformats.org/drawingml/2006/main">
              <a:ext uri="{FF2B5EF4-FFF2-40B4-BE49-F238E27FC236}">
                <a16:creationId xmlns:a16="http://schemas.microsoft.com/office/drawing/2014/main" id="{623C0AAE-DDE5-4650-8A42-B6DF90EC9DC9}"/>
              </a:ext>
            </a:extLst>
          </p:cNvPr>
          <p:cNvSpPr>
            <a:spLocks xmlns:a="http://schemas.openxmlformats.org/drawingml/2006/main" noGrp="1"/>
          </p:cNvSpPr>
          <p:nvPr/>
        </p:nvSpPr>
        <p:spPr>
          <a:xfrm xmlns:a="http://schemas.openxmlformats.org/drawingml/2006/main">
            <a:off x="685800" y="12954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36B"/>
                </a:solidFill>
                <a:latin typeface="Arial"/>
                <a:ea typeface="Arial"/>
                <a:cs typeface="Arial"/>
              </a:defRPr>
            </a:defPPr>
          </a:lstStyle>
          <a:p xmlns:a="http://schemas.openxmlformats.org/drawingml/2006/main">
            <a:pPr>
              <a:defRPr sz="1800" b="0">
                <a:solidFill>
                  <a:srgbClr val="53636B"/>
                </a:solidFill>
                <a:latin typeface="Arial"/>
                <a:ea typeface="Arial"/>
                <a:cs typeface="Arial"/>
              </a:defRPr>
            </a:pPr>
            <a:r>
              <a:rPr sz="1800" b="0">
                <a:solidFill>
                  <a:srgbClr val="53636B"/>
                </a:solidFill>
                <a:latin typeface="Arial"/>
                <a:ea typeface="Arial"/>
                <a:cs typeface="Arial"/>
              </a:rPr>
              <a:t>End-to-end mechanism implemented in the prototype</a:t>
            </a:r>
          </a:p>
        </p:txBody>
      </p:sp>
      <p:sp>
        <p:nvSpPr>
          <p:cNvPr id="3" name="">
            <a:extLst xmlns:a="http://schemas.openxmlformats.org/drawingml/2006/main">
              <a:ext uri="{FF2B5EF4-FFF2-40B4-BE49-F238E27FC236}">
                <a16:creationId xmlns:a16="http://schemas.microsoft.com/office/drawing/2014/main" id="{8F7FAC33-CC49-449B-89E1-66330E04B11E}"/>
              </a:ext>
            </a:extLst>
          </p:cNvPr>
          <p:cNvSpPr>
            <a:spLocks xmlns:a="http://schemas.openxmlformats.org/drawingml/2006/main" noGrp="1"/>
          </p:cNvSpPr>
          <p:nvPr/>
        </p:nvSpPr>
        <p:spPr>
          <a:xfrm xmlns:a="http://schemas.openxmlformats.org/drawingml/2006/main">
            <a:off x="685800" y="6343650"/>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B"/>
                </a:solidFill>
                <a:latin typeface="Arial"/>
                <a:ea typeface="Arial"/>
                <a:cs typeface="Arial"/>
              </a:defRPr>
            </a:defPPr>
          </a:lstStyle>
          <a:p xmlns:a="http://schemas.openxmlformats.org/drawingml/2006/main">
            <a:pPr>
              <a:defRPr sz="1200" b="0">
                <a:solidFill>
                  <a:srgbClr val="53636B"/>
                </a:solidFill>
                <a:latin typeface="Arial"/>
                <a:ea typeface="Arial"/>
                <a:cs typeface="Arial"/>
              </a:defRPr>
            </a:pPr>
            <a:r>
              <a:rPr sz="1200" b="0">
                <a:solidFill>
                  <a:srgbClr val="53636B"/>
                </a:solidFill>
                <a:latin typeface="Arial"/>
                <a:ea typeface="Arial"/>
                <a:cs typeface="Arial"/>
              </a:rPr>
              <a:t>TenderProof / SwissChivers / 04</a:t>
            </a:r>
          </a:p>
        </p:txBody>
      </p:sp>
      <p:sp>
        <p:nvSpPr>
          <p:cNvPr id="4" name="">
            <a:extLst xmlns:a="http://schemas.openxmlformats.org/drawingml/2006/main">
              <a:ext uri="{FF2B5EF4-FFF2-40B4-BE49-F238E27FC236}">
                <a16:creationId xmlns:a16="http://schemas.microsoft.com/office/drawing/2014/main" id="{5EC32919-FB00-4F60-ADFF-57C3483CDF9D}"/>
              </a:ext>
            </a:extLst>
          </p:cNvPr>
          <p:cNvSpPr>
            <a:spLocks xmlns:a="http://schemas.openxmlformats.org/drawingml/2006/main" noGrp="1"/>
          </p:cNvSpPr>
          <p:nvPr/>
        </p:nvSpPr>
        <p:spPr>
          <a:xfrm xmlns:a="http://schemas.openxmlformats.org/drawingml/2006/main">
            <a:off x="685800" y="2257425"/>
            <a:ext cx="1981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76F69"/>
                </a:solidFill>
                <a:latin typeface="Arial"/>
                <a:ea typeface="Arial"/>
                <a:cs typeface="Arial"/>
              </a:defRPr>
            </a:defPPr>
          </a:lstStyle>
          <a:p xmlns:a="http://schemas.openxmlformats.org/drawingml/2006/main">
            <a:pPr>
              <a:defRPr sz="1650" b="1">
                <a:solidFill>
                  <a:srgbClr val="176F69"/>
                </a:solidFill>
                <a:latin typeface="Arial"/>
                <a:ea typeface="Arial"/>
                <a:cs typeface="Arial"/>
              </a:defRPr>
            </a:pPr>
            <a:r>
              <a:rPr sz="1650" b="1">
                <a:solidFill>
                  <a:srgbClr val="176F69"/>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4101A46-D1A8-4347-891A-F616B98EB239}"/>
              </a:ext>
            </a:extLst>
          </p:cNvPr>
          <p:cNvSpPr>
            <a:spLocks xmlns:a="http://schemas.openxmlformats.org/drawingml/2006/main" noGrp="1"/>
          </p:cNvSpPr>
          <p:nvPr/>
        </p:nvSpPr>
        <p:spPr>
          <a:xfrm xmlns:a="http://schemas.openxmlformats.org/drawingml/2006/main">
            <a:off x="685800" y="2809875"/>
            <a:ext cx="1981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D3C"/>
                </a:solidFill>
                <a:latin typeface="Arial"/>
                <a:ea typeface="Arial"/>
                <a:cs typeface="Arial"/>
              </a:defRPr>
            </a:defPPr>
          </a:lstStyle>
          <a:p xmlns:a="http://schemas.openxmlformats.org/drawingml/2006/main">
            <a:pPr>
              <a:defRPr sz="2250" b="1">
                <a:solidFill>
                  <a:srgbClr val="142D3C"/>
                </a:solidFill>
                <a:latin typeface="Arial"/>
                <a:ea typeface="Arial"/>
                <a:cs typeface="Arial"/>
              </a:defRPr>
            </a:pPr>
            <a:r>
              <a:rPr sz="2250" b="1">
                <a:solidFill>
                  <a:srgbClr val="142D3C"/>
                </a:solidFill>
                <a:latin typeface="Arial"/>
                <a:ea typeface="Arial"/>
                <a:cs typeface="Arial"/>
              </a:rPr>
              <a:t>Intake</a:t>
            </a:r>
          </a:p>
        </p:txBody>
      </p:sp>
      <p:sp>
        <p:nvSpPr>
          <p:cNvPr id="6" name="">
            <a:extLst xmlns:a="http://schemas.openxmlformats.org/drawingml/2006/main">
              <a:ext uri="{FF2B5EF4-FFF2-40B4-BE49-F238E27FC236}">
                <a16:creationId xmlns:a16="http://schemas.microsoft.com/office/drawing/2014/main" id="{F7CBF0A9-17C1-4F0D-B77B-799A39D26AF0}"/>
              </a:ext>
            </a:extLst>
          </p:cNvPr>
          <p:cNvSpPr>
            <a:spLocks xmlns:a="http://schemas.openxmlformats.org/drawingml/2006/main" noGrp="1"/>
          </p:cNvSpPr>
          <p:nvPr/>
        </p:nvSpPr>
        <p:spPr>
          <a:xfrm xmlns:a="http://schemas.openxmlformats.org/drawingml/2006/main">
            <a:off x="685800" y="3419475"/>
            <a:ext cx="1981200" cy="19050"/>
          </a:xfrm>
          <a:prstGeom xmlns:a="http://schemas.openxmlformats.org/drawingml/2006/main" prst="rect">
            <a:avLst/>
          </a:prstGeom>
          <a:solidFill xmlns:a="http://schemas.openxmlformats.org/drawingml/2006/main">
            <a:srgbClr val="C5CE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06CA4C9-8B6D-44AD-B3C8-A85469890EF2}"/>
              </a:ext>
            </a:extLst>
          </p:cNvPr>
          <p:cNvSpPr>
            <a:spLocks xmlns:a="http://schemas.openxmlformats.org/drawingml/2006/main" noGrp="1"/>
          </p:cNvSpPr>
          <p:nvPr/>
        </p:nvSpPr>
        <p:spPr>
          <a:xfrm xmlns:a="http://schemas.openxmlformats.org/drawingml/2006/main">
            <a:off x="685800" y="3752850"/>
            <a:ext cx="19812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36B"/>
                </a:solidFill>
                <a:latin typeface="Arial"/>
                <a:ea typeface="Arial"/>
                <a:cs typeface="Arial"/>
              </a:defRPr>
            </a:defPPr>
          </a:lstStyle>
          <a:p xmlns:a="http://schemas.openxmlformats.org/drawingml/2006/main">
            <a:pPr>
              <a:defRPr sz="1725" b="0">
                <a:solidFill>
                  <a:srgbClr val="53636B"/>
                </a:solidFill>
                <a:latin typeface="Arial"/>
                <a:ea typeface="Arial"/>
                <a:cs typeface="Arial"/>
              </a:defRPr>
            </a:pPr>
            <a:r>
              <a:rPr sz="1725" b="0">
                <a:solidFill>
                  <a:srgbClr val="53636B"/>
                </a:solidFill>
                <a:latin typeface="Arial"/>
                <a:ea typeface="Arial"/>
                <a:cs typeface="Arial"/>
              </a:rPr>
              <a:t>Docling spans</a:t>
            </a:r>
          </a:p>
          <a:p xmlns:a="http://schemas.openxmlformats.org/drawingml/2006/main">
            <a:pPr>
              <a:defRPr sz="1725" b="0">
                <a:solidFill>
                  <a:srgbClr val="53636B"/>
                </a:solidFill>
                <a:latin typeface="Arial"/>
                <a:ea typeface="Arial"/>
                <a:cs typeface="Arial"/>
              </a:defRPr>
            </a:pPr>
            <a:r>
              <a:rPr sz="1725" b="0">
                <a:solidFill>
                  <a:srgbClr val="53636B"/>
                </a:solidFill>
                <a:latin typeface="Arial"/>
                <a:ea typeface="Arial"/>
                <a:cs typeface="Arial"/>
              </a:rPr>
              <a:t>Original hash</a:t>
            </a:r>
          </a:p>
        </p:txBody>
      </p:sp>
      <p:sp>
        <p:nvSpPr>
          <p:cNvPr id="8" name="">
            <a:extLst xmlns:a="http://schemas.openxmlformats.org/drawingml/2006/main">
              <a:ext uri="{FF2B5EF4-FFF2-40B4-BE49-F238E27FC236}">
                <a16:creationId xmlns:a16="http://schemas.microsoft.com/office/drawing/2014/main" id="{3A94BCDB-2A28-4BA5-8D52-9CD67F765D74}"/>
              </a:ext>
            </a:extLst>
          </p:cNvPr>
          <p:cNvSpPr>
            <a:spLocks xmlns:a="http://schemas.openxmlformats.org/drawingml/2006/main" noGrp="1"/>
          </p:cNvSpPr>
          <p:nvPr/>
        </p:nvSpPr>
        <p:spPr>
          <a:xfrm xmlns:a="http://schemas.openxmlformats.org/drawingml/2006/main">
            <a:off x="2895600" y="2257425"/>
            <a:ext cx="1981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76F69"/>
                </a:solidFill>
                <a:latin typeface="Arial"/>
                <a:ea typeface="Arial"/>
                <a:cs typeface="Arial"/>
              </a:defRPr>
            </a:defPPr>
          </a:lstStyle>
          <a:p xmlns:a="http://schemas.openxmlformats.org/drawingml/2006/main">
            <a:pPr>
              <a:defRPr sz="1650" b="1">
                <a:solidFill>
                  <a:srgbClr val="176F69"/>
                </a:solidFill>
                <a:latin typeface="Arial"/>
                <a:ea typeface="Arial"/>
                <a:cs typeface="Arial"/>
              </a:defRPr>
            </a:pPr>
            <a:r>
              <a:rPr sz="1650" b="1">
                <a:solidFill>
                  <a:srgbClr val="176F69"/>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509A964-A7D2-4894-8D32-6DA356DC5C12}"/>
              </a:ext>
            </a:extLst>
          </p:cNvPr>
          <p:cNvSpPr>
            <a:spLocks xmlns:a="http://schemas.openxmlformats.org/drawingml/2006/main" noGrp="1"/>
          </p:cNvSpPr>
          <p:nvPr/>
        </p:nvSpPr>
        <p:spPr>
          <a:xfrm xmlns:a="http://schemas.openxmlformats.org/drawingml/2006/main">
            <a:off x="2895600" y="2809875"/>
            <a:ext cx="1981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D3C"/>
                </a:solidFill>
                <a:latin typeface="Arial"/>
                <a:ea typeface="Arial"/>
                <a:cs typeface="Arial"/>
              </a:defRPr>
            </a:defPPr>
          </a:lstStyle>
          <a:p xmlns:a="http://schemas.openxmlformats.org/drawingml/2006/main">
            <a:pPr>
              <a:defRPr sz="2250" b="1">
                <a:solidFill>
                  <a:srgbClr val="142D3C"/>
                </a:solidFill>
                <a:latin typeface="Arial"/>
                <a:ea typeface="Arial"/>
                <a:cs typeface="Arial"/>
              </a:defRPr>
            </a:pPr>
            <a:r>
              <a:rPr sz="2250" b="1">
                <a:solidFill>
                  <a:srgbClr val="142D3C"/>
                </a:solidFill>
                <a:latin typeface="Arial"/>
                <a:ea typeface="Arial"/>
                <a:cs typeface="Arial"/>
              </a:rPr>
              <a:t>Interpret</a:t>
            </a:r>
          </a:p>
        </p:txBody>
      </p:sp>
      <p:sp>
        <p:nvSpPr>
          <p:cNvPr id="10" name="">
            <a:extLst xmlns:a="http://schemas.openxmlformats.org/drawingml/2006/main">
              <a:ext uri="{FF2B5EF4-FFF2-40B4-BE49-F238E27FC236}">
                <a16:creationId xmlns:a16="http://schemas.microsoft.com/office/drawing/2014/main" id="{EDE8A689-E622-42B4-B3D4-55A59DF4BB5E}"/>
              </a:ext>
            </a:extLst>
          </p:cNvPr>
          <p:cNvSpPr>
            <a:spLocks xmlns:a="http://schemas.openxmlformats.org/drawingml/2006/main" noGrp="1"/>
          </p:cNvSpPr>
          <p:nvPr/>
        </p:nvSpPr>
        <p:spPr>
          <a:xfrm xmlns:a="http://schemas.openxmlformats.org/drawingml/2006/main">
            <a:off x="2895600" y="3419475"/>
            <a:ext cx="1981200" cy="19050"/>
          </a:xfrm>
          <a:prstGeom xmlns:a="http://schemas.openxmlformats.org/drawingml/2006/main" prst="rect">
            <a:avLst/>
          </a:prstGeom>
          <a:solidFill xmlns:a="http://schemas.openxmlformats.org/drawingml/2006/main">
            <a:srgbClr val="C5CEC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198EE0B-E9FB-43F7-A3A3-CE975DE98E78}"/>
              </a:ext>
            </a:extLst>
          </p:cNvPr>
          <p:cNvSpPr>
            <a:spLocks xmlns:a="http://schemas.openxmlformats.org/drawingml/2006/main" noGrp="1"/>
          </p:cNvSpPr>
          <p:nvPr/>
        </p:nvSpPr>
        <p:spPr>
          <a:xfrm xmlns:a="http://schemas.openxmlformats.org/drawingml/2006/main">
            <a:off x="2895600" y="3752850"/>
            <a:ext cx="19812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36B"/>
                </a:solidFill>
                <a:latin typeface="Arial"/>
                <a:ea typeface="Arial"/>
                <a:cs typeface="Arial"/>
              </a:defRPr>
            </a:defPPr>
          </a:lstStyle>
          <a:p xmlns:a="http://schemas.openxmlformats.org/drawingml/2006/main">
            <a:pPr>
              <a:defRPr sz="1725" b="0">
                <a:solidFill>
                  <a:srgbClr val="53636B"/>
                </a:solidFill>
                <a:latin typeface="Arial"/>
                <a:ea typeface="Arial"/>
                <a:cs typeface="Arial"/>
              </a:defRPr>
            </a:pPr>
            <a:r>
              <a:rPr sz="1725" b="0">
                <a:solidFill>
                  <a:srgbClr val="53636B"/>
                </a:solidFill>
                <a:latin typeface="Arial"/>
                <a:ea typeface="Arial"/>
                <a:cs typeface="Arial"/>
              </a:rPr>
              <a:t>Apertus proposes</a:t>
            </a:r>
          </a:p>
          <a:p xmlns:a="http://schemas.openxmlformats.org/drawingml/2006/main">
            <a:pPr>
              <a:defRPr sz="1725" b="0">
                <a:solidFill>
                  <a:srgbClr val="53636B"/>
                </a:solidFill>
                <a:latin typeface="Arial"/>
                <a:ea typeface="Arial"/>
                <a:cs typeface="Arial"/>
              </a:defRPr>
            </a:pPr>
            <a:r>
              <a:rPr sz="1725" b="0">
                <a:solidFill>
                  <a:srgbClr val="53636B"/>
                </a:solidFill>
                <a:latin typeface="Arial"/>
                <a:ea typeface="Arial"/>
                <a:cs typeface="Arial"/>
              </a:rPr>
              <a:t>Pending candidates</a:t>
            </a:r>
          </a:p>
        </p:txBody>
      </p:sp>
      <p:sp>
        <p:nvSpPr>
          <p:cNvPr id="12" name="">
            <a:extLst xmlns:a="http://schemas.openxmlformats.org/drawingml/2006/main">
              <a:ext uri="{FF2B5EF4-FFF2-40B4-BE49-F238E27FC236}">
                <a16:creationId xmlns:a16="http://schemas.microsoft.com/office/drawing/2014/main" id="{718E0E2D-26D8-42D6-BD33-9076A469C80E}"/>
              </a:ext>
            </a:extLst>
          </p:cNvPr>
          <p:cNvSpPr>
            <a:spLocks xmlns:a="http://schemas.openxmlformats.org/drawingml/2006/main" noGrp="1"/>
          </p:cNvSpPr>
          <p:nvPr/>
        </p:nvSpPr>
        <p:spPr>
          <a:xfrm xmlns:a="http://schemas.openxmlformats.org/drawingml/2006/main">
            <a:off x="5105400" y="2257425"/>
            <a:ext cx="1981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76F69"/>
                </a:solidFill>
                <a:latin typeface="Arial"/>
                <a:ea typeface="Arial"/>
                <a:cs typeface="Arial"/>
              </a:defRPr>
            </a:defPPr>
          </a:lstStyle>
          <a:p xmlns:a="http://schemas.openxmlformats.org/drawingml/2006/main">
            <a:pPr>
              <a:defRPr sz="1650" b="1">
                <a:solidFill>
                  <a:srgbClr val="176F69"/>
                </a:solidFill>
                <a:latin typeface="Arial"/>
                <a:ea typeface="Arial"/>
                <a:cs typeface="Arial"/>
              </a:defRPr>
            </a:pPr>
            <a:r>
              <a:rPr sz="1650" b="1">
                <a:solidFill>
                  <a:srgbClr val="176F69"/>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FBB92C3B-CBE1-4A1E-9CD9-76C47219BB48}"/>
              </a:ext>
            </a:extLst>
          </p:cNvPr>
          <p:cNvSpPr>
            <a:spLocks xmlns:a="http://schemas.openxmlformats.org/drawingml/2006/main" noGrp="1"/>
          </p:cNvSpPr>
          <p:nvPr/>
        </p:nvSpPr>
        <p:spPr>
          <a:xfrm xmlns:a="http://schemas.openxmlformats.org/drawingml/2006/main">
            <a:off x="5105400" y="2809875"/>
            <a:ext cx="1981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D3C"/>
                </a:solidFill>
                <a:latin typeface="Arial"/>
                <a:ea typeface="Arial"/>
                <a:cs typeface="Arial"/>
              </a:defRPr>
            </a:defPPr>
          </a:lstStyle>
          <a:p xmlns:a="http://schemas.openxmlformats.org/drawingml/2006/main">
            <a:pPr>
              <a:defRPr sz="2250" b="1">
                <a:solidFill>
                  <a:srgbClr val="142D3C"/>
                </a:solidFill>
                <a:latin typeface="Arial"/>
                <a:ea typeface="Arial"/>
                <a:cs typeface="Arial"/>
              </a:defRPr>
            </a:pPr>
            <a:r>
              <a:rPr sz="2250" b="1">
                <a:solidFill>
                  <a:srgbClr val="142D3C"/>
                </a:solidFill>
                <a:latin typeface="Arial"/>
                <a:ea typeface="Arial"/>
                <a:cs typeface="Arial"/>
              </a:rPr>
              <a:t>Review</a:t>
            </a:r>
          </a:p>
        </p:txBody>
      </p:sp>
      <p:sp>
        <p:nvSpPr>
          <p:cNvPr id="14" name="">
            <a:extLst xmlns:a="http://schemas.openxmlformats.org/drawingml/2006/main">
              <a:ext uri="{FF2B5EF4-FFF2-40B4-BE49-F238E27FC236}">
                <a16:creationId xmlns:a16="http://schemas.microsoft.com/office/drawing/2014/main" id="{1C36D892-A06E-46B1-999D-8AADEDADF4E7}"/>
              </a:ext>
            </a:extLst>
          </p:cNvPr>
          <p:cNvSpPr>
            <a:spLocks xmlns:a="http://schemas.openxmlformats.org/drawingml/2006/main" noGrp="1"/>
          </p:cNvSpPr>
          <p:nvPr/>
        </p:nvSpPr>
        <p:spPr>
          <a:xfrm xmlns:a="http://schemas.openxmlformats.org/drawingml/2006/main">
            <a:off x="5105400" y="3419475"/>
            <a:ext cx="1981200" cy="19050"/>
          </a:xfrm>
          <a:prstGeom xmlns:a="http://schemas.openxmlformats.org/drawingml/2006/main" prst="rect">
            <a:avLst/>
          </a:prstGeom>
          <a:solidFill xmlns:a="http://schemas.openxmlformats.org/drawingml/2006/main">
            <a:srgbClr val="C5CEC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B375A13-4A15-4711-9CA7-A83EB2973643}"/>
              </a:ext>
            </a:extLst>
          </p:cNvPr>
          <p:cNvSpPr>
            <a:spLocks xmlns:a="http://schemas.openxmlformats.org/drawingml/2006/main" noGrp="1"/>
          </p:cNvSpPr>
          <p:nvPr/>
        </p:nvSpPr>
        <p:spPr>
          <a:xfrm xmlns:a="http://schemas.openxmlformats.org/drawingml/2006/main">
            <a:off x="5105400" y="3752850"/>
            <a:ext cx="19812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36B"/>
                </a:solidFill>
                <a:latin typeface="Arial"/>
                <a:ea typeface="Arial"/>
                <a:cs typeface="Arial"/>
              </a:defRPr>
            </a:defPPr>
          </a:lstStyle>
          <a:p xmlns:a="http://schemas.openxmlformats.org/drawingml/2006/main">
            <a:pPr>
              <a:defRPr sz="1725" b="0">
                <a:solidFill>
                  <a:srgbClr val="53636B"/>
                </a:solidFill>
                <a:latin typeface="Arial"/>
                <a:ea typeface="Arial"/>
                <a:cs typeface="Arial"/>
              </a:defRPr>
            </a:pPr>
            <a:r>
              <a:rPr sz="1725" b="0">
                <a:solidFill>
                  <a:srgbClr val="53636B"/>
                </a:solidFill>
                <a:latin typeface="Arial"/>
                <a:ea typeface="Arial"/>
                <a:cs typeface="Arial"/>
              </a:rPr>
              <a:t>Human meaning</a:t>
            </a:r>
          </a:p>
          <a:p xmlns:a="http://schemas.openxmlformats.org/drawingml/2006/main">
            <a:pPr>
              <a:defRPr sz="1725" b="0">
                <a:solidFill>
                  <a:srgbClr val="53636B"/>
                </a:solidFill>
                <a:latin typeface="Arial"/>
                <a:ea typeface="Arial"/>
                <a:cs typeface="Arial"/>
              </a:defRPr>
            </a:pPr>
            <a:r>
              <a:rPr sz="1725" b="0">
                <a:solidFill>
                  <a:srgbClr val="53636B"/>
                </a:solidFill>
                <a:latin typeface="Arial"/>
                <a:ea typeface="Arial"/>
                <a:cs typeface="Arial"/>
              </a:rPr>
              <a:t>Source references</a:t>
            </a:r>
          </a:p>
        </p:txBody>
      </p:sp>
      <p:sp>
        <p:nvSpPr>
          <p:cNvPr id="16" name="">
            <a:extLst xmlns:a="http://schemas.openxmlformats.org/drawingml/2006/main">
              <a:ext uri="{FF2B5EF4-FFF2-40B4-BE49-F238E27FC236}">
                <a16:creationId xmlns:a16="http://schemas.microsoft.com/office/drawing/2014/main" id="{06D0EB59-7B30-4ACB-A9AA-A9E2D2267B51}"/>
              </a:ext>
            </a:extLst>
          </p:cNvPr>
          <p:cNvSpPr>
            <a:spLocks xmlns:a="http://schemas.openxmlformats.org/drawingml/2006/main" noGrp="1"/>
          </p:cNvSpPr>
          <p:nvPr/>
        </p:nvSpPr>
        <p:spPr>
          <a:xfrm xmlns:a="http://schemas.openxmlformats.org/drawingml/2006/main">
            <a:off x="7315200" y="2257425"/>
            <a:ext cx="1981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76F69"/>
                </a:solidFill>
                <a:latin typeface="Arial"/>
                <a:ea typeface="Arial"/>
                <a:cs typeface="Arial"/>
              </a:defRPr>
            </a:defPPr>
          </a:lstStyle>
          <a:p xmlns:a="http://schemas.openxmlformats.org/drawingml/2006/main">
            <a:pPr>
              <a:defRPr sz="1650" b="1">
                <a:solidFill>
                  <a:srgbClr val="176F69"/>
                </a:solidFill>
                <a:latin typeface="Arial"/>
                <a:ea typeface="Arial"/>
                <a:cs typeface="Arial"/>
              </a:defRPr>
            </a:pPr>
            <a:r>
              <a:rPr sz="1650" b="1">
                <a:solidFill>
                  <a:srgbClr val="176F69"/>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0A2C6C2F-8B1C-4187-B635-DEFE3DD3FE30}"/>
              </a:ext>
            </a:extLst>
          </p:cNvPr>
          <p:cNvSpPr>
            <a:spLocks xmlns:a="http://schemas.openxmlformats.org/drawingml/2006/main" noGrp="1"/>
          </p:cNvSpPr>
          <p:nvPr/>
        </p:nvSpPr>
        <p:spPr>
          <a:xfrm xmlns:a="http://schemas.openxmlformats.org/drawingml/2006/main">
            <a:off x="7315200" y="2809875"/>
            <a:ext cx="1981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D3C"/>
                </a:solidFill>
                <a:latin typeface="Arial"/>
                <a:ea typeface="Arial"/>
                <a:cs typeface="Arial"/>
              </a:defRPr>
            </a:defPPr>
          </a:lstStyle>
          <a:p xmlns:a="http://schemas.openxmlformats.org/drawingml/2006/main">
            <a:pPr>
              <a:defRPr sz="2250" b="1">
                <a:solidFill>
                  <a:srgbClr val="142D3C"/>
                </a:solidFill>
                <a:latin typeface="Arial"/>
                <a:ea typeface="Arial"/>
                <a:cs typeface="Arial"/>
              </a:defRPr>
            </a:pPr>
            <a:r>
              <a:rPr sz="2250" b="1">
                <a:solidFill>
                  <a:srgbClr val="142D3C"/>
                </a:solidFill>
                <a:latin typeface="Arial"/>
                <a:ea typeface="Arial"/>
                <a:cs typeface="Arial"/>
              </a:rPr>
              <a:t>Check</a:t>
            </a:r>
          </a:p>
        </p:txBody>
      </p:sp>
      <p:sp>
        <p:nvSpPr>
          <p:cNvPr id="18" name="">
            <a:extLst xmlns:a="http://schemas.openxmlformats.org/drawingml/2006/main">
              <a:ext uri="{FF2B5EF4-FFF2-40B4-BE49-F238E27FC236}">
                <a16:creationId xmlns:a16="http://schemas.microsoft.com/office/drawing/2014/main" id="{E37B57DF-E147-4B64-B1B4-9EDBD69E2810}"/>
              </a:ext>
            </a:extLst>
          </p:cNvPr>
          <p:cNvSpPr>
            <a:spLocks xmlns:a="http://schemas.openxmlformats.org/drawingml/2006/main" noGrp="1"/>
          </p:cNvSpPr>
          <p:nvPr/>
        </p:nvSpPr>
        <p:spPr>
          <a:xfrm xmlns:a="http://schemas.openxmlformats.org/drawingml/2006/main">
            <a:off x="7315200" y="3419475"/>
            <a:ext cx="1981200" cy="19050"/>
          </a:xfrm>
          <a:prstGeom xmlns:a="http://schemas.openxmlformats.org/drawingml/2006/main" prst="rect">
            <a:avLst/>
          </a:prstGeom>
          <a:solidFill xmlns:a="http://schemas.openxmlformats.org/drawingml/2006/main">
            <a:srgbClr val="C5CEC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D59FE71-B238-47EF-947D-15C2ED4960CF}"/>
              </a:ext>
            </a:extLst>
          </p:cNvPr>
          <p:cNvSpPr>
            <a:spLocks xmlns:a="http://schemas.openxmlformats.org/drawingml/2006/main" noGrp="1"/>
          </p:cNvSpPr>
          <p:nvPr/>
        </p:nvSpPr>
        <p:spPr>
          <a:xfrm xmlns:a="http://schemas.openxmlformats.org/drawingml/2006/main">
            <a:off x="7315200" y="3752850"/>
            <a:ext cx="19812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36B"/>
                </a:solidFill>
                <a:latin typeface="Arial"/>
                <a:ea typeface="Arial"/>
                <a:cs typeface="Arial"/>
              </a:defRPr>
            </a:defPPr>
          </a:lstStyle>
          <a:p xmlns:a="http://schemas.openxmlformats.org/drawingml/2006/main">
            <a:pPr>
              <a:defRPr sz="1725" b="0">
                <a:solidFill>
                  <a:srgbClr val="53636B"/>
                </a:solidFill>
                <a:latin typeface="Arial"/>
                <a:ea typeface="Arial"/>
                <a:cs typeface="Arial"/>
              </a:defRPr>
            </a:pPr>
            <a:r>
              <a:rPr sz="1725" b="0">
                <a:solidFill>
                  <a:srgbClr val="53636B"/>
                </a:solidFill>
                <a:latin typeface="Arial"/>
                <a:ea typeface="Arial"/>
                <a:cs typeface="Arial"/>
              </a:rPr>
              <a:t>Z3 constraints</a:t>
            </a:r>
          </a:p>
          <a:p xmlns:a="http://schemas.openxmlformats.org/drawingml/2006/main">
            <a:pPr>
              <a:defRPr sz="1725" b="0">
                <a:solidFill>
                  <a:srgbClr val="53636B"/>
                </a:solidFill>
                <a:latin typeface="Arial"/>
                <a:ea typeface="Arial"/>
                <a:cs typeface="Arial"/>
              </a:defRPr>
            </a:pPr>
            <a:r>
              <a:rPr sz="1725" b="0">
                <a:solidFill>
                  <a:srgbClr val="53636B"/>
                </a:solidFill>
                <a:latin typeface="Arial"/>
                <a:ea typeface="Arial"/>
                <a:cs typeface="Arial"/>
              </a:rPr>
              <a:t>Exact arithmetic</a:t>
            </a:r>
          </a:p>
        </p:txBody>
      </p:sp>
      <p:sp>
        <p:nvSpPr>
          <p:cNvPr id="20" name="">
            <a:extLst xmlns:a="http://schemas.openxmlformats.org/drawingml/2006/main">
              <a:ext uri="{FF2B5EF4-FFF2-40B4-BE49-F238E27FC236}">
                <a16:creationId xmlns:a16="http://schemas.microsoft.com/office/drawing/2014/main" id="{FDC0F7B4-85A2-4DA6-8051-7DEA62C5CAEB}"/>
              </a:ext>
            </a:extLst>
          </p:cNvPr>
          <p:cNvSpPr>
            <a:spLocks xmlns:a="http://schemas.openxmlformats.org/drawingml/2006/main" noGrp="1"/>
          </p:cNvSpPr>
          <p:nvPr/>
        </p:nvSpPr>
        <p:spPr>
          <a:xfrm xmlns:a="http://schemas.openxmlformats.org/drawingml/2006/main">
            <a:off x="9525000" y="2257425"/>
            <a:ext cx="1981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76F69"/>
                </a:solidFill>
                <a:latin typeface="Arial"/>
                <a:ea typeface="Arial"/>
                <a:cs typeface="Arial"/>
              </a:defRPr>
            </a:defPPr>
          </a:lstStyle>
          <a:p xmlns:a="http://schemas.openxmlformats.org/drawingml/2006/main">
            <a:pPr>
              <a:defRPr sz="1650" b="1">
                <a:solidFill>
                  <a:srgbClr val="176F69"/>
                </a:solidFill>
                <a:latin typeface="Arial"/>
                <a:ea typeface="Arial"/>
                <a:cs typeface="Arial"/>
              </a:defRPr>
            </a:pPr>
            <a:r>
              <a:rPr sz="1650" b="1">
                <a:solidFill>
                  <a:srgbClr val="176F69"/>
                </a:solidFill>
                <a:latin typeface="Arial"/>
                <a:ea typeface="Arial"/>
                <a:cs typeface="Arial"/>
              </a:rPr>
              <a:t>05</a:t>
            </a:r>
          </a:p>
        </p:txBody>
      </p:sp>
      <p:sp>
        <p:nvSpPr>
          <p:cNvPr id="21" name="">
            <a:extLst xmlns:a="http://schemas.openxmlformats.org/drawingml/2006/main">
              <a:ext uri="{FF2B5EF4-FFF2-40B4-BE49-F238E27FC236}">
                <a16:creationId xmlns:a16="http://schemas.microsoft.com/office/drawing/2014/main" id="{972ABB4D-6E35-4571-B34B-6733923973C7}"/>
              </a:ext>
            </a:extLst>
          </p:cNvPr>
          <p:cNvSpPr>
            <a:spLocks xmlns:a="http://schemas.openxmlformats.org/drawingml/2006/main" noGrp="1"/>
          </p:cNvSpPr>
          <p:nvPr/>
        </p:nvSpPr>
        <p:spPr>
          <a:xfrm xmlns:a="http://schemas.openxmlformats.org/drawingml/2006/main">
            <a:off x="9525000" y="2809875"/>
            <a:ext cx="1981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D3C"/>
                </a:solidFill>
                <a:latin typeface="Arial"/>
                <a:ea typeface="Arial"/>
                <a:cs typeface="Arial"/>
              </a:defRPr>
            </a:defPPr>
          </a:lstStyle>
          <a:p xmlns:a="http://schemas.openxmlformats.org/drawingml/2006/main">
            <a:pPr>
              <a:defRPr sz="2250" b="1">
                <a:solidFill>
                  <a:srgbClr val="142D3C"/>
                </a:solidFill>
                <a:latin typeface="Arial"/>
                <a:ea typeface="Arial"/>
                <a:cs typeface="Arial"/>
              </a:defRPr>
            </a:pPr>
            <a:r>
              <a:rPr sz="2250" b="1">
                <a:solidFill>
                  <a:srgbClr val="142D3C"/>
                </a:solidFill>
                <a:latin typeface="Arial"/>
                <a:ea typeface="Arial"/>
                <a:cs typeface="Arial"/>
              </a:rPr>
              <a:t>Authorize</a:t>
            </a:r>
          </a:p>
        </p:txBody>
      </p:sp>
      <p:sp>
        <p:nvSpPr>
          <p:cNvPr id="22" name="">
            <a:extLst xmlns:a="http://schemas.openxmlformats.org/drawingml/2006/main">
              <a:ext uri="{FF2B5EF4-FFF2-40B4-BE49-F238E27FC236}">
                <a16:creationId xmlns:a16="http://schemas.microsoft.com/office/drawing/2014/main" id="{BDD4B1B2-4428-47BA-AD13-E7E36D3751D4}"/>
              </a:ext>
            </a:extLst>
          </p:cNvPr>
          <p:cNvSpPr>
            <a:spLocks xmlns:a="http://schemas.openxmlformats.org/drawingml/2006/main" noGrp="1"/>
          </p:cNvSpPr>
          <p:nvPr/>
        </p:nvSpPr>
        <p:spPr>
          <a:xfrm xmlns:a="http://schemas.openxmlformats.org/drawingml/2006/main">
            <a:off x="9525000" y="3419475"/>
            <a:ext cx="1981200" cy="19050"/>
          </a:xfrm>
          <a:prstGeom xmlns:a="http://schemas.openxmlformats.org/drawingml/2006/main" prst="rect">
            <a:avLst/>
          </a:prstGeom>
          <a:solidFill xmlns:a="http://schemas.openxmlformats.org/drawingml/2006/main">
            <a:srgbClr val="C5CEC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93CBEF7-A448-458C-9BCA-2EA97245440C}"/>
              </a:ext>
            </a:extLst>
          </p:cNvPr>
          <p:cNvSpPr>
            <a:spLocks xmlns:a="http://schemas.openxmlformats.org/drawingml/2006/main" noGrp="1"/>
          </p:cNvSpPr>
          <p:nvPr/>
        </p:nvSpPr>
        <p:spPr>
          <a:xfrm xmlns:a="http://schemas.openxmlformats.org/drawingml/2006/main">
            <a:off x="9525000" y="3752850"/>
            <a:ext cx="19812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36B"/>
                </a:solidFill>
                <a:latin typeface="Arial"/>
                <a:ea typeface="Arial"/>
                <a:cs typeface="Arial"/>
              </a:defRPr>
            </a:defPPr>
          </a:lstStyle>
          <a:p xmlns:a="http://schemas.openxmlformats.org/drawingml/2006/main">
            <a:pPr>
              <a:defRPr sz="1725" b="0">
                <a:solidFill>
                  <a:srgbClr val="53636B"/>
                </a:solidFill>
                <a:latin typeface="Arial"/>
                <a:ea typeface="Arial"/>
                <a:cs typeface="Arial"/>
              </a:defRPr>
            </a:pPr>
            <a:r>
              <a:rPr sz="1725" b="0">
                <a:solidFill>
                  <a:srgbClr val="53636B"/>
                </a:solidFill>
                <a:latin typeface="Arial"/>
                <a:ea typeface="Arial"/>
                <a:cs typeface="Arial"/>
              </a:rPr>
              <a:t>Role approvals</a:t>
            </a:r>
          </a:p>
          <a:p xmlns:a="http://schemas.openxmlformats.org/drawingml/2006/main">
            <a:pPr>
              <a:defRPr sz="1725" b="0">
                <a:solidFill>
                  <a:srgbClr val="53636B"/>
                </a:solidFill>
                <a:latin typeface="Arial"/>
                <a:ea typeface="Arial"/>
                <a:cs typeface="Arial"/>
              </a:defRPr>
            </a:pPr>
            <a:r>
              <a:rPr sz="1725" b="0">
                <a:solidFill>
                  <a:srgbClr val="53636B"/>
                </a:solidFill>
                <a:latin typeface="Arial"/>
                <a:ea typeface="Arial"/>
                <a:cs typeface="Arial"/>
              </a:rPr>
              <a:t>Current snapshot</a:t>
            </a:r>
          </a:p>
        </p:txBody>
      </p:sp>
      <p:sp>
        <p:nvSpPr>
          <p:cNvPr id="24" name="">
            <a:extLst xmlns:a="http://schemas.openxmlformats.org/drawingml/2006/main">
              <a:ext uri="{FF2B5EF4-FFF2-40B4-BE49-F238E27FC236}">
                <a16:creationId xmlns:a16="http://schemas.microsoft.com/office/drawing/2014/main" id="{1F47BC0A-A10F-45A6-AE59-9EC4CEF6527D}"/>
              </a:ext>
            </a:extLst>
          </p:cNvPr>
          <p:cNvSpPr>
            <a:spLocks xmlns:a="http://schemas.openxmlformats.org/drawingml/2006/main" noGrp="1"/>
          </p:cNvSpPr>
          <p:nvPr/>
        </p:nvSpPr>
        <p:spPr>
          <a:xfrm xmlns:a="http://schemas.openxmlformats.org/drawingml/2006/main">
            <a:off x="685800" y="5191125"/>
            <a:ext cx="10820400" cy="9525"/>
          </a:xfrm>
          <a:prstGeom xmlns:a="http://schemas.openxmlformats.org/drawingml/2006/main" prst="rect">
            <a:avLst/>
          </a:prstGeom>
          <a:solidFill xmlns:a="http://schemas.openxmlformats.org/drawingml/2006/main">
            <a:srgbClr val="C5CEC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9BBA97A-F69C-4E78-B892-867C26F0941E}"/>
              </a:ext>
            </a:extLst>
          </p:cNvPr>
          <p:cNvSpPr>
            <a:spLocks xmlns:a="http://schemas.openxmlformats.org/drawingml/2006/main" noGrp="1"/>
          </p:cNvSpPr>
          <p:nvPr/>
        </p:nvSpPr>
        <p:spPr>
          <a:xfrm xmlns:a="http://schemas.openxmlformats.org/drawingml/2006/main">
            <a:off x="685800" y="54578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D3C"/>
                </a:solidFill>
                <a:latin typeface="Arial"/>
                <a:ea typeface="Arial"/>
                <a:cs typeface="Arial"/>
              </a:defRPr>
            </a:defPPr>
          </a:lstStyle>
          <a:p xmlns:a="http://schemas.openxmlformats.org/drawingml/2006/main">
            <a:pPr>
              <a:defRPr sz="2025" b="1">
                <a:solidFill>
                  <a:srgbClr val="142D3C"/>
                </a:solidFill>
                <a:latin typeface="Arial"/>
                <a:ea typeface="Arial"/>
                <a:cs typeface="Arial"/>
              </a:defRPr>
            </a:pPr>
            <a:r>
              <a:rPr sz="2025" b="1">
                <a:solidFill>
                  <a:srgbClr val="142D3C"/>
                </a:solidFill>
                <a:latin typeface="Arial"/>
                <a:ea typeface="Arial"/>
                <a:cs typeface="Arial"/>
              </a:rPr>
              <a:t>A content change recomputes the package and makes prior approvals stale.</a:t>
            </a:r>
          </a:p>
        </p:txBody>
      </p:sp>
      <p:sp>
        <p:nvSpPr>
          <p:cNvPr id="26" name="">
            <a:extLst xmlns:a="http://schemas.openxmlformats.org/drawingml/2006/main">
              <a:ext uri="{FF2B5EF4-FFF2-40B4-BE49-F238E27FC236}">
                <a16:creationId xmlns:a16="http://schemas.microsoft.com/office/drawing/2014/main" id="{EEFCDAC1-A53E-4D66-8A44-278A1D29B674}"/>
              </a:ext>
            </a:extLst>
          </p:cNvPr>
          <p:cNvSpPr>
            <a:spLocks xmlns:a="http://schemas.openxmlformats.org/drawingml/2006/main" noGrp="1"/>
          </p:cNvSpPr>
          <p:nvPr/>
        </p:nvSpPr>
        <p:spPr>
          <a:xfrm xmlns:a="http://schemas.openxmlformats.org/drawingml/2006/main">
            <a:off x="685800" y="59055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76F69"/>
                </a:solidFill>
                <a:latin typeface="Arial"/>
                <a:ea typeface="Arial"/>
                <a:cs typeface="Arial"/>
              </a:defRPr>
            </a:defPPr>
          </a:lstStyle>
          <a:p xmlns:a="http://schemas.openxmlformats.org/drawingml/2006/main">
            <a:pPr>
              <a:defRPr sz="1725" b="0">
                <a:solidFill>
                  <a:srgbClr val="176F69"/>
                </a:solidFill>
                <a:latin typeface="Arial"/>
                <a:ea typeface="Arial"/>
                <a:cs typeface="Arial"/>
              </a:defRPr>
            </a:pPr>
            <a:r>
              <a:rPr sz="1725" b="0">
                <a:solidFill>
                  <a:srgbClr val="176F69"/>
                </a:solidFill>
                <a:latin typeface="Arial"/>
                <a:ea typeface="Arial"/>
                <a:cs typeface="Arial"/>
              </a:rPr>
              <a:t>Unresolved extraction conditions block both release gates.</a:t>
            </a:r>
          </a:p>
        </p:txBody>
      </p:sp>
    </p:spTree>
    <p:extLst>
      <p:ext uri="{BB962C8B-B14F-4D97-AF65-F5344CB8AC3E}">
        <p14:creationId xmlns:p14="http://schemas.microsoft.com/office/powerpoint/2010/main" val="787932288"/>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AE8371-E2C4-4B67-A335-30E56255CF65}"/>
              </a:ext>
            </a:extLst>
          </p:cNvPr>
          <p:cNvSpPr>
            <a:spLocks xmlns:a="http://schemas.openxmlformats.org/drawingml/2006/main" noGrp="1"/>
          </p:cNvSpPr>
          <p:nvPr/>
        </p:nvSpPr>
        <p:spPr>
          <a:xfrm xmlns:a="http://schemas.openxmlformats.org/drawingml/2006/main">
            <a:off x="685800" y="4762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2D3C"/>
                </a:solidFill>
                <a:latin typeface="Arial"/>
                <a:ea typeface="Arial"/>
                <a:cs typeface="Arial"/>
              </a:defRPr>
            </a:defPPr>
          </a:lstStyle>
          <a:p xmlns:a="http://schemas.openxmlformats.org/drawingml/2006/main">
            <a:pPr>
              <a:defRPr sz="3225" b="1">
                <a:solidFill>
                  <a:srgbClr val="142D3C"/>
                </a:solidFill>
                <a:latin typeface="Arial"/>
                <a:ea typeface="Arial"/>
                <a:cs typeface="Arial"/>
              </a:defRPr>
            </a:pPr>
            <a:r>
              <a:rPr sz="3225" b="1">
                <a:solidFill>
                  <a:srgbClr val="142D3C"/>
                </a:solidFill>
                <a:latin typeface="Arial"/>
                <a:ea typeface="Arial"/>
                <a:cs typeface="Arial"/>
              </a:rPr>
              <a:t>A real transformer purchase</a:t>
            </a:r>
          </a:p>
        </p:txBody>
      </p:sp>
      <p:sp>
        <p:nvSpPr>
          <p:cNvPr id="2" name="">
            <a:extLst xmlns:a="http://schemas.openxmlformats.org/drawingml/2006/main">
              <a:ext uri="{FF2B5EF4-FFF2-40B4-BE49-F238E27FC236}">
                <a16:creationId xmlns:a16="http://schemas.microsoft.com/office/drawing/2014/main" id="{825780E3-10DC-4A13-A190-6B76C202F223}"/>
              </a:ext>
            </a:extLst>
          </p:cNvPr>
          <p:cNvSpPr>
            <a:spLocks xmlns:a="http://schemas.openxmlformats.org/drawingml/2006/main" noGrp="1"/>
          </p:cNvSpPr>
          <p:nvPr/>
        </p:nvSpPr>
        <p:spPr>
          <a:xfrm xmlns:a="http://schemas.openxmlformats.org/drawingml/2006/main">
            <a:off x="685800" y="12954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36B"/>
                </a:solidFill>
                <a:latin typeface="Arial"/>
                <a:ea typeface="Arial"/>
                <a:cs typeface="Arial"/>
              </a:defRPr>
            </a:defPPr>
          </a:lstStyle>
          <a:p xmlns:a="http://schemas.openxmlformats.org/drawingml/2006/main">
            <a:pPr>
              <a:defRPr sz="1800" b="0">
                <a:solidFill>
                  <a:srgbClr val="53636B"/>
                </a:solidFill>
                <a:latin typeface="Arial"/>
                <a:ea typeface="Arial"/>
                <a:cs typeface="Arial"/>
              </a:defRPr>
            </a:pPr>
            <a:r>
              <a:rPr sz="1800" b="0">
                <a:solidFill>
                  <a:srgbClr val="53636B"/>
                </a:solidFill>
                <a:latin typeface="Arial"/>
                <a:ea typeface="Arial"/>
                <a:cs typeface="Arial"/>
              </a:rPr>
              <a:t>OP34276 item 2 / three 750 kVA units / recorded line USD 111,316.50</a:t>
            </a:r>
          </a:p>
        </p:txBody>
      </p:sp>
      <p:sp>
        <p:nvSpPr>
          <p:cNvPr id="3" name="">
            <a:extLst xmlns:a="http://schemas.openxmlformats.org/drawingml/2006/main">
              <a:ext uri="{FF2B5EF4-FFF2-40B4-BE49-F238E27FC236}">
                <a16:creationId xmlns:a16="http://schemas.microsoft.com/office/drawing/2014/main" id="{738FB2F8-9EE4-4F68-88B4-7FE6495C3E2B}"/>
              </a:ext>
            </a:extLst>
          </p:cNvPr>
          <p:cNvSpPr>
            <a:spLocks xmlns:a="http://schemas.openxmlformats.org/drawingml/2006/main" noGrp="1"/>
          </p:cNvSpPr>
          <p:nvPr/>
        </p:nvSpPr>
        <p:spPr>
          <a:xfrm xmlns:a="http://schemas.openxmlformats.org/drawingml/2006/main">
            <a:off x="685800" y="6343650"/>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B"/>
                </a:solidFill>
                <a:latin typeface="Arial"/>
                <a:ea typeface="Arial"/>
                <a:cs typeface="Arial"/>
              </a:defRPr>
            </a:defPPr>
          </a:lstStyle>
          <a:p xmlns:a="http://schemas.openxmlformats.org/drawingml/2006/main">
            <a:pPr>
              <a:defRPr sz="1200" b="0">
                <a:solidFill>
                  <a:srgbClr val="53636B"/>
                </a:solidFill>
                <a:latin typeface="Arial"/>
                <a:ea typeface="Arial"/>
                <a:cs typeface="Arial"/>
              </a:defRPr>
            </a:pPr>
            <a:r>
              <a:rPr sz="1200" b="0">
                <a:solidFill>
                  <a:srgbClr val="53636B"/>
                </a:solidFill>
                <a:latin typeface="Arial"/>
                <a:ea typeface="Arial"/>
                <a:cs typeface="Arial"/>
              </a:rPr>
              <a:t>TenderProof / SwissChivers / 05</a:t>
            </a:r>
          </a:p>
        </p:txBody>
      </p:sp>
      <p:pic>
        <p:nvPicPr>
          <p:cNvPr id="4" name="">
            <a:extLst xmlns:a="http://schemas.openxmlformats.org/drawingml/2006/main">
              <a:ext uri="{FF2B5EF4-FFF2-40B4-BE49-F238E27FC236}">
                <a16:creationId xmlns:a16="http://schemas.microsoft.com/office/drawing/2014/main" id="{5006C5E3-2592-4C99-A86B-992E809B55D6}"/>
              </a:ext>
            </a:extLst>
          </p:cNvPr>
          <p:cNvPicPr>
            <a:picLocks xmlns:a="http://schemas.openxmlformats.org/drawingml/2006/main" noChangeAspect="1"/>
          </p:cNvPicPr>
          <p:nvPr/>
        </p:nvPicPr>
        <p:blipFill>
          <a:blip xmlns:r="http://schemas.openxmlformats.org/officeDocument/2006/relationships" xmlns:a="http://schemas.openxmlformats.org/drawingml/2006/main" r:embed="R72e7df6497d6403f"/>
          <a:stretch xmlns:a="http://schemas.openxmlformats.org/drawingml/2006/main"/>
        </p:blipFill>
        <p:spPr>
          <a:xfrm xmlns:a="http://schemas.openxmlformats.org/drawingml/2006/main">
            <a:off x="685800" y="3010900"/>
            <a:ext cx="10820400" cy="1769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C37B237-9F65-4609-B644-9C19EA250C9D}"/>
              </a:ext>
            </a:extLst>
          </p:cNvPr>
          <p:cNvSpPr>
            <a:spLocks xmlns:a="http://schemas.openxmlformats.org/drawingml/2006/main" noGrp="1"/>
          </p:cNvSpPr>
          <p:nvPr/>
        </p:nvSpPr>
        <p:spPr>
          <a:xfrm xmlns:a="http://schemas.openxmlformats.org/drawingml/2006/main">
            <a:off x="685800" y="59245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76F69"/>
                </a:solidFill>
                <a:latin typeface="Arial"/>
                <a:ea typeface="Arial"/>
                <a:cs typeface="Arial"/>
              </a:defRPr>
            </a:defPPr>
          </a:lstStyle>
          <a:p xmlns:a="http://schemas.openxmlformats.org/drawingml/2006/main">
            <a:pPr>
              <a:defRPr sz="1575" b="1">
                <a:solidFill>
                  <a:srgbClr val="176F69"/>
                </a:solidFill>
                <a:latin typeface="Arial"/>
                <a:ea typeface="Arial"/>
                <a:cs typeface="Arial"/>
              </a:defRPr>
            </a:pPr>
            <a:r>
              <a:rPr sz="1575" b="1">
                <a:solidFill>
                  <a:srgbClr val="176F69"/>
                </a:solidFill>
                <a:latin typeface="Arial"/>
                <a:ea typeface="Arial"/>
                <a:cs typeface="Arial"/>
              </a:rPr>
              <a:t>PO unit price corrected with a source citation; original model output preserved.</a:t>
            </a:r>
          </a:p>
        </p:txBody>
      </p:sp>
    </p:spTree>
    <p:extLst>
      <p:ext uri="{BB962C8B-B14F-4D97-AF65-F5344CB8AC3E}">
        <p14:creationId xmlns:p14="http://schemas.microsoft.com/office/powerpoint/2010/main" val="1768259514"/>
      </p:ext>
    </p:extLst>
  </p:cSld>
</p:sld>
</file>

<file path=ppt/slides/slide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706993-9BB8-43AF-8492-D50FE587BBEA}"/>
              </a:ext>
            </a:extLst>
          </p:cNvPr>
          <p:cNvSpPr>
            <a:spLocks xmlns:a="http://schemas.openxmlformats.org/drawingml/2006/main" noGrp="1"/>
          </p:cNvSpPr>
          <p:nvPr/>
        </p:nvSpPr>
        <p:spPr>
          <a:xfrm xmlns:a="http://schemas.openxmlformats.org/drawingml/2006/main">
            <a:off x="685800" y="4762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2D3C"/>
                </a:solidFill>
                <a:latin typeface="Arial"/>
                <a:ea typeface="Arial"/>
                <a:cs typeface="Arial"/>
              </a:defRPr>
            </a:defPPr>
          </a:lstStyle>
          <a:p xmlns:a="http://schemas.openxmlformats.org/drawingml/2006/main">
            <a:pPr>
              <a:defRPr sz="3225" b="1">
                <a:solidFill>
                  <a:srgbClr val="142D3C"/>
                </a:solidFill>
                <a:latin typeface="Arial"/>
                <a:ea typeface="Arial"/>
                <a:cs typeface="Arial"/>
              </a:defRPr>
            </a:pPr>
            <a:r>
              <a:rPr sz="3225" b="1">
                <a:solidFill>
                  <a:srgbClr val="142D3C"/>
                </a:solidFill>
                <a:latin typeface="Arial"/>
                <a:ea typeface="Arial"/>
                <a:cs typeface="Arial"/>
              </a:rPr>
              <a:t>Actual Apertus output needs review</a:t>
            </a:r>
          </a:p>
        </p:txBody>
      </p:sp>
      <p:sp>
        <p:nvSpPr>
          <p:cNvPr id="2" name="">
            <a:extLst xmlns:a="http://schemas.openxmlformats.org/drawingml/2006/main">
              <a:ext uri="{FF2B5EF4-FFF2-40B4-BE49-F238E27FC236}">
                <a16:creationId xmlns:a16="http://schemas.microsoft.com/office/drawing/2014/main" id="{A117DB75-E783-4FCD-B1D6-62DDB230515D}"/>
              </a:ext>
            </a:extLst>
          </p:cNvPr>
          <p:cNvSpPr>
            <a:spLocks xmlns:a="http://schemas.openxmlformats.org/drawingml/2006/main" noGrp="1"/>
          </p:cNvSpPr>
          <p:nvPr/>
        </p:nvSpPr>
        <p:spPr>
          <a:xfrm xmlns:a="http://schemas.openxmlformats.org/drawingml/2006/main">
            <a:off x="685800" y="12954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36B"/>
                </a:solidFill>
                <a:latin typeface="Arial"/>
                <a:ea typeface="Arial"/>
                <a:cs typeface="Arial"/>
              </a:defRPr>
            </a:defPPr>
          </a:lstStyle>
          <a:p xmlns:a="http://schemas.openxmlformats.org/drawingml/2006/main">
            <a:pPr>
              <a:defRPr sz="1800" b="0">
                <a:solidFill>
                  <a:srgbClr val="53636B"/>
                </a:solidFill>
                <a:latin typeface="Arial"/>
                <a:ea typeface="Arial"/>
                <a:cs typeface="Arial"/>
              </a:defRPr>
            </a:pPr>
            <a:r>
              <a:rPr sz="1800" b="0">
                <a:solidFill>
                  <a:srgbClr val="53636B"/>
                </a:solidFill>
                <a:latin typeface="Arial"/>
                <a:ea typeface="Arial"/>
                <a:cs typeface="Arial"/>
              </a:rPr>
              <a:t>35 pending requirements / 4 pending offers / no approvals</a:t>
            </a:r>
          </a:p>
        </p:txBody>
      </p:sp>
      <p:sp>
        <p:nvSpPr>
          <p:cNvPr id="3" name="">
            <a:extLst xmlns:a="http://schemas.openxmlformats.org/drawingml/2006/main">
              <a:ext uri="{FF2B5EF4-FFF2-40B4-BE49-F238E27FC236}">
                <a16:creationId xmlns:a16="http://schemas.microsoft.com/office/drawing/2014/main" id="{9394D7EA-65DE-4CF9-97D6-0D6840A53C58}"/>
              </a:ext>
            </a:extLst>
          </p:cNvPr>
          <p:cNvSpPr>
            <a:spLocks xmlns:a="http://schemas.openxmlformats.org/drawingml/2006/main" noGrp="1"/>
          </p:cNvSpPr>
          <p:nvPr/>
        </p:nvSpPr>
        <p:spPr>
          <a:xfrm xmlns:a="http://schemas.openxmlformats.org/drawingml/2006/main">
            <a:off x="685800" y="6343650"/>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B"/>
                </a:solidFill>
                <a:latin typeface="Arial"/>
                <a:ea typeface="Arial"/>
                <a:cs typeface="Arial"/>
              </a:defRPr>
            </a:defPPr>
          </a:lstStyle>
          <a:p xmlns:a="http://schemas.openxmlformats.org/drawingml/2006/main">
            <a:pPr>
              <a:defRPr sz="1200" b="0">
                <a:solidFill>
                  <a:srgbClr val="53636B"/>
                </a:solidFill>
                <a:latin typeface="Arial"/>
                <a:ea typeface="Arial"/>
                <a:cs typeface="Arial"/>
              </a:defRPr>
            </a:pPr>
            <a:r>
              <a:rPr sz="1200" b="0">
                <a:solidFill>
                  <a:srgbClr val="53636B"/>
                </a:solidFill>
                <a:latin typeface="Arial"/>
                <a:ea typeface="Arial"/>
                <a:cs typeface="Arial"/>
              </a:rPr>
              <a:t>TenderProof / SwissChivers / 06</a:t>
            </a:r>
          </a:p>
        </p:txBody>
      </p:sp>
      <p:pic>
        <p:nvPicPr>
          <p:cNvPr id="4" name="">
            <a:extLst xmlns:a="http://schemas.openxmlformats.org/drawingml/2006/main">
              <a:ext uri="{FF2B5EF4-FFF2-40B4-BE49-F238E27FC236}">
                <a16:creationId xmlns:a16="http://schemas.microsoft.com/office/drawing/2014/main" id="{CBA48AB7-BE92-4F71-86FA-71A027BA3F0A}"/>
              </a:ext>
            </a:extLst>
          </p:cNvPr>
          <p:cNvPicPr>
            <a:picLocks xmlns:a="http://schemas.openxmlformats.org/drawingml/2006/main" noChangeAspect="1"/>
          </p:cNvPicPr>
          <p:nvPr/>
        </p:nvPicPr>
        <p:blipFill>
          <a:blip xmlns:r="http://schemas.openxmlformats.org/officeDocument/2006/relationships" xmlns:a="http://schemas.openxmlformats.org/drawingml/2006/main" r:embed="R56acbe67ca704334"/>
          <a:stretch xmlns:a="http://schemas.openxmlformats.org/drawingml/2006/main"/>
        </p:blipFill>
        <p:spPr>
          <a:xfrm xmlns:a="http://schemas.openxmlformats.org/drawingml/2006/main">
            <a:off x="1490853" y="1952625"/>
            <a:ext cx="9210294" cy="38862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8FD0B0C-10EF-4BAF-8893-D429322A8104}"/>
              </a:ext>
            </a:extLst>
          </p:cNvPr>
          <p:cNvSpPr>
            <a:spLocks xmlns:a="http://schemas.openxmlformats.org/drawingml/2006/main" noGrp="1"/>
          </p:cNvSpPr>
          <p:nvPr/>
        </p:nvSpPr>
        <p:spPr>
          <a:xfrm xmlns:a="http://schemas.openxmlformats.org/drawingml/2006/main">
            <a:off x="685800" y="59245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76F69"/>
                </a:solidFill>
                <a:latin typeface="Arial"/>
                <a:ea typeface="Arial"/>
                <a:cs typeface="Arial"/>
              </a:defRPr>
            </a:defPPr>
          </a:lstStyle>
          <a:p xmlns:a="http://schemas.openxmlformats.org/drawingml/2006/main">
            <a:pPr>
              <a:defRPr sz="1575" b="1">
                <a:solidFill>
                  <a:srgbClr val="176F69"/>
                </a:solidFill>
                <a:latin typeface="Arial"/>
                <a:ea typeface="Arial"/>
                <a:cs typeface="Arial"/>
              </a:defRPr>
            </a:pPr>
            <a:r>
              <a:rPr sz="1575" b="1">
                <a:solidFill>
                  <a:srgbClr val="176F69"/>
                </a:solidFill>
                <a:latin typeface="Arial"/>
                <a:ea typeface="Arial"/>
                <a:cs typeface="Arial"/>
              </a:rPr>
              <a:t>swiss-ai/Apertus-v1.5-8B / 427.12s API wall time / full tender</a:t>
            </a:r>
          </a:p>
        </p:txBody>
      </p:sp>
    </p:spTree>
    <p:extLst>
      <p:ext uri="{BB962C8B-B14F-4D97-AF65-F5344CB8AC3E}">
        <p14:creationId xmlns:p14="http://schemas.microsoft.com/office/powerpoint/2010/main" val="412837821"/>
      </p:ext>
    </p:extLst>
  </p:cSld>
</p:sld>
</file>

<file path=ppt/slides/slide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DEA1D7-E48C-4A9A-9A2A-449465F2C9AF}"/>
              </a:ext>
            </a:extLst>
          </p:cNvPr>
          <p:cNvSpPr>
            <a:spLocks xmlns:a="http://schemas.openxmlformats.org/drawingml/2006/main" noGrp="1"/>
          </p:cNvSpPr>
          <p:nvPr/>
        </p:nvSpPr>
        <p:spPr>
          <a:xfrm xmlns:a="http://schemas.openxmlformats.org/drawingml/2006/main">
            <a:off x="685800" y="4762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2D3C"/>
                </a:solidFill>
                <a:latin typeface="Arial"/>
                <a:ea typeface="Arial"/>
                <a:cs typeface="Arial"/>
              </a:defRPr>
            </a:defPPr>
          </a:lstStyle>
          <a:p xmlns:a="http://schemas.openxmlformats.org/drawingml/2006/main">
            <a:pPr>
              <a:defRPr sz="3225" b="1">
                <a:solidFill>
                  <a:srgbClr val="142D3C"/>
                </a:solidFill>
                <a:latin typeface="Arial"/>
                <a:ea typeface="Arial"/>
                <a:cs typeface="Arial"/>
              </a:defRPr>
            </a:pPr>
            <a:r>
              <a:rPr sz="3225" b="1">
                <a:solidFill>
                  <a:srgbClr val="142D3C"/>
                </a:solidFill>
                <a:latin typeface="Arial"/>
                <a:ea typeface="Arial"/>
                <a:cs typeface="Arial"/>
              </a:rPr>
              <a:t>Missing evidence blocks acceptance</a:t>
            </a:r>
          </a:p>
        </p:txBody>
      </p:sp>
      <p:sp>
        <p:nvSpPr>
          <p:cNvPr id="2" name="">
            <a:extLst xmlns:a="http://schemas.openxmlformats.org/drawingml/2006/main">
              <a:ext uri="{FF2B5EF4-FFF2-40B4-BE49-F238E27FC236}">
                <a16:creationId xmlns:a16="http://schemas.microsoft.com/office/drawing/2014/main" id="{4C59514D-D846-4587-A606-0C4145F00980}"/>
              </a:ext>
            </a:extLst>
          </p:cNvPr>
          <p:cNvSpPr>
            <a:spLocks xmlns:a="http://schemas.openxmlformats.org/drawingml/2006/main" noGrp="1"/>
          </p:cNvSpPr>
          <p:nvPr/>
        </p:nvSpPr>
        <p:spPr>
          <a:xfrm xmlns:a="http://schemas.openxmlformats.org/drawingml/2006/main">
            <a:off x="685800" y="12954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36B"/>
                </a:solidFill>
                <a:latin typeface="Arial"/>
                <a:ea typeface="Arial"/>
                <a:cs typeface="Arial"/>
              </a:defRPr>
            </a:defPPr>
          </a:lstStyle>
          <a:p xmlns:a="http://schemas.openxmlformats.org/drawingml/2006/main">
            <a:pPr>
              <a:defRPr sz="1800" b="0">
                <a:solidFill>
                  <a:srgbClr val="53636B"/>
                </a:solidFill>
                <a:latin typeface="Arial"/>
                <a:ea typeface="Arial"/>
                <a:cs typeface="Arial"/>
              </a:defRPr>
            </a:pPr>
            <a:r>
              <a:rPr sz="1800" b="0">
                <a:solidFill>
                  <a:srgbClr val="53636B"/>
                </a:solidFill>
                <a:latin typeface="Arial"/>
                <a:ea typeface="Arial"/>
                <a:cs typeface="Arial"/>
              </a:rPr>
              <a:t>Incomplete extraction and missing FAT remain visible at the gate</a:t>
            </a:r>
          </a:p>
        </p:txBody>
      </p:sp>
      <p:sp>
        <p:nvSpPr>
          <p:cNvPr id="3" name="">
            <a:extLst xmlns:a="http://schemas.openxmlformats.org/drawingml/2006/main">
              <a:ext uri="{FF2B5EF4-FFF2-40B4-BE49-F238E27FC236}">
                <a16:creationId xmlns:a16="http://schemas.microsoft.com/office/drawing/2014/main" id="{FE327BFA-127D-46AD-A00E-94D902D946C2}"/>
              </a:ext>
            </a:extLst>
          </p:cNvPr>
          <p:cNvSpPr>
            <a:spLocks xmlns:a="http://schemas.openxmlformats.org/drawingml/2006/main" noGrp="1"/>
          </p:cNvSpPr>
          <p:nvPr/>
        </p:nvSpPr>
        <p:spPr>
          <a:xfrm xmlns:a="http://schemas.openxmlformats.org/drawingml/2006/main">
            <a:off x="685800" y="6343650"/>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B"/>
                </a:solidFill>
                <a:latin typeface="Arial"/>
                <a:ea typeface="Arial"/>
                <a:cs typeface="Arial"/>
              </a:defRPr>
            </a:defPPr>
          </a:lstStyle>
          <a:p xmlns:a="http://schemas.openxmlformats.org/drawingml/2006/main">
            <a:pPr>
              <a:defRPr sz="1200" b="0">
                <a:solidFill>
                  <a:srgbClr val="53636B"/>
                </a:solidFill>
                <a:latin typeface="Arial"/>
                <a:ea typeface="Arial"/>
                <a:cs typeface="Arial"/>
              </a:defRPr>
            </a:pPr>
            <a:r>
              <a:rPr sz="1200" b="0">
                <a:solidFill>
                  <a:srgbClr val="53636B"/>
                </a:solidFill>
                <a:latin typeface="Arial"/>
                <a:ea typeface="Arial"/>
                <a:cs typeface="Arial"/>
              </a:rPr>
              <a:t>TenderProof / SwissChivers / 07</a:t>
            </a:r>
          </a:p>
        </p:txBody>
      </p:sp>
      <p:pic>
        <p:nvPicPr>
          <p:cNvPr id="4" name="">
            <a:extLst xmlns:a="http://schemas.openxmlformats.org/drawingml/2006/main">
              <a:ext uri="{FF2B5EF4-FFF2-40B4-BE49-F238E27FC236}">
                <a16:creationId xmlns:a16="http://schemas.microsoft.com/office/drawing/2014/main" id="{EB203D59-2A7F-438C-B4AF-B7E654FB74A6}"/>
              </a:ext>
            </a:extLst>
          </p:cNvPr>
          <p:cNvPicPr>
            <a:picLocks xmlns:a="http://schemas.openxmlformats.org/drawingml/2006/main" noChangeAspect="1"/>
          </p:cNvPicPr>
          <p:nvPr/>
        </p:nvPicPr>
        <p:blipFill>
          <a:blip xmlns:r="http://schemas.openxmlformats.org/officeDocument/2006/relationships" xmlns:a="http://schemas.openxmlformats.org/drawingml/2006/main" r:embed="R0a88d5c6d996433d"/>
          <a:stretch xmlns:a="http://schemas.openxmlformats.org/drawingml/2006/main"/>
        </p:blipFill>
        <p:spPr>
          <a:xfrm xmlns:a="http://schemas.openxmlformats.org/drawingml/2006/main">
            <a:off x="685800" y="2072631"/>
            <a:ext cx="10820400" cy="364618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DA20602-2DAE-4F7F-A5ED-D7EBCED09364}"/>
              </a:ext>
            </a:extLst>
          </p:cNvPr>
          <p:cNvSpPr>
            <a:spLocks xmlns:a="http://schemas.openxmlformats.org/drawingml/2006/main" noGrp="1"/>
          </p:cNvSpPr>
          <p:nvPr/>
        </p:nvSpPr>
        <p:spPr>
          <a:xfrm xmlns:a="http://schemas.openxmlformats.org/drawingml/2006/main">
            <a:off x="685800" y="59245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76F69"/>
                </a:solidFill>
                <a:latin typeface="Arial"/>
                <a:ea typeface="Arial"/>
                <a:cs typeface="Arial"/>
              </a:defRPr>
            </a:defPPr>
          </a:lstStyle>
          <a:p xmlns:a="http://schemas.openxmlformats.org/drawingml/2006/main">
            <a:pPr>
              <a:defRPr sz="1575" b="1">
                <a:solidFill>
                  <a:srgbClr val="176F69"/>
                </a:solidFill>
                <a:latin typeface="Arial"/>
                <a:ea typeface="Arial"/>
                <a:cs typeface="Arial"/>
              </a:defRPr>
            </a:pPr>
            <a:r>
              <a:rPr sz="1575" b="1">
                <a:solidFill>
                  <a:srgbClr val="176F69"/>
                </a:solidFill>
                <a:latin typeface="Arial"/>
                <a:ea typeface="Arial"/>
                <a:cs typeface="Arial"/>
              </a:rPr>
              <a:t>Acceptance stays unknown without applicable FAT, serial evidence and approved drawings.</a:t>
            </a:r>
          </a:p>
        </p:txBody>
      </p:sp>
    </p:spTree>
    <p:extLst>
      <p:ext uri="{BB962C8B-B14F-4D97-AF65-F5344CB8AC3E}">
        <p14:creationId xmlns:p14="http://schemas.microsoft.com/office/powerpoint/2010/main" val="630135464"/>
      </p:ext>
    </p:extLst>
  </p:cSld>
</p:sld>
</file>

<file path=ppt/slides/slide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DE58525-AEF3-4ED7-88B5-8FB5AD73EC91}"/>
              </a:ext>
            </a:extLst>
          </p:cNvPr>
          <p:cNvSpPr>
            <a:spLocks xmlns:a="http://schemas.openxmlformats.org/drawingml/2006/main" noGrp="1"/>
          </p:cNvSpPr>
          <p:nvPr/>
        </p:nvSpPr>
        <p:spPr>
          <a:xfrm xmlns:a="http://schemas.openxmlformats.org/drawingml/2006/main">
            <a:off x="685800" y="4762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2D3C"/>
                </a:solidFill>
                <a:latin typeface="Arial"/>
                <a:ea typeface="Arial"/>
                <a:cs typeface="Arial"/>
              </a:defRPr>
            </a:defPPr>
          </a:lstStyle>
          <a:p xmlns:a="http://schemas.openxmlformats.org/drawingml/2006/main">
            <a:pPr>
              <a:defRPr sz="3225" b="1">
                <a:solidFill>
                  <a:srgbClr val="142D3C"/>
                </a:solidFill>
                <a:latin typeface="Arial"/>
                <a:ea typeface="Arial"/>
                <a:cs typeface="Arial"/>
              </a:defRPr>
            </a:pPr>
            <a:r>
              <a:rPr sz="3225" b="1">
                <a:solidFill>
                  <a:srgbClr val="142D3C"/>
                </a:solidFill>
                <a:latin typeface="Arial"/>
                <a:ea typeface="Arial"/>
                <a:cs typeface="Arial"/>
              </a:rPr>
              <a:t>Designed for organizational control</a:t>
            </a:r>
          </a:p>
        </p:txBody>
      </p:sp>
      <p:sp>
        <p:nvSpPr>
          <p:cNvPr id="2" name="">
            <a:extLst xmlns:a="http://schemas.openxmlformats.org/drawingml/2006/main">
              <a:ext uri="{FF2B5EF4-FFF2-40B4-BE49-F238E27FC236}">
                <a16:creationId xmlns:a16="http://schemas.microsoft.com/office/drawing/2014/main" id="{AE000E3A-9EDA-4D1F-AB41-67AD019FB91C}"/>
              </a:ext>
            </a:extLst>
          </p:cNvPr>
          <p:cNvSpPr>
            <a:spLocks xmlns:a="http://schemas.openxmlformats.org/drawingml/2006/main" noGrp="1"/>
          </p:cNvSpPr>
          <p:nvPr/>
        </p:nvSpPr>
        <p:spPr>
          <a:xfrm xmlns:a="http://schemas.openxmlformats.org/drawingml/2006/main">
            <a:off x="685800" y="12954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36B"/>
                </a:solidFill>
                <a:latin typeface="Arial"/>
                <a:ea typeface="Arial"/>
                <a:cs typeface="Arial"/>
              </a:defRPr>
            </a:defPPr>
          </a:lstStyle>
          <a:p xmlns:a="http://schemas.openxmlformats.org/drawingml/2006/main">
            <a:pPr>
              <a:defRPr sz="1800" b="0">
                <a:solidFill>
                  <a:srgbClr val="53636B"/>
                </a:solidFill>
                <a:latin typeface="Arial"/>
                <a:ea typeface="Arial"/>
                <a:cs typeface="Arial"/>
              </a:defRPr>
            </a:pPr>
            <a:r>
              <a:rPr sz="1800" b="0">
                <a:solidFill>
                  <a:srgbClr val="53636B"/>
                </a:solidFill>
                <a:latin typeface="Arial"/>
                <a:ea typeface="Arial"/>
                <a:cs typeface="Arial"/>
              </a:rPr>
              <a:t>On-premise target / authenticated GPU execution / durable application state</a:t>
            </a:r>
          </a:p>
        </p:txBody>
      </p:sp>
      <p:sp>
        <p:nvSpPr>
          <p:cNvPr id="3" name="">
            <a:extLst xmlns:a="http://schemas.openxmlformats.org/drawingml/2006/main">
              <a:ext uri="{FF2B5EF4-FFF2-40B4-BE49-F238E27FC236}">
                <a16:creationId xmlns:a16="http://schemas.microsoft.com/office/drawing/2014/main" id="{E4FD40EF-EF79-44FF-B68C-191D70E66750}"/>
              </a:ext>
            </a:extLst>
          </p:cNvPr>
          <p:cNvSpPr>
            <a:spLocks xmlns:a="http://schemas.openxmlformats.org/drawingml/2006/main" noGrp="1"/>
          </p:cNvSpPr>
          <p:nvPr/>
        </p:nvSpPr>
        <p:spPr>
          <a:xfrm xmlns:a="http://schemas.openxmlformats.org/drawingml/2006/main">
            <a:off x="685800" y="6343650"/>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B"/>
                </a:solidFill>
                <a:latin typeface="Arial"/>
                <a:ea typeface="Arial"/>
                <a:cs typeface="Arial"/>
              </a:defRPr>
            </a:defPPr>
          </a:lstStyle>
          <a:p xmlns:a="http://schemas.openxmlformats.org/drawingml/2006/main">
            <a:pPr>
              <a:defRPr sz="1200" b="0">
                <a:solidFill>
                  <a:srgbClr val="53636B"/>
                </a:solidFill>
                <a:latin typeface="Arial"/>
                <a:ea typeface="Arial"/>
                <a:cs typeface="Arial"/>
              </a:defRPr>
            </a:pPr>
            <a:r>
              <a:rPr sz="1200" b="0">
                <a:solidFill>
                  <a:srgbClr val="53636B"/>
                </a:solidFill>
                <a:latin typeface="Arial"/>
                <a:ea typeface="Arial"/>
                <a:cs typeface="Arial"/>
              </a:rPr>
              <a:t>TenderProof / SwissChivers / 08</a:t>
            </a:r>
          </a:p>
        </p:txBody>
      </p:sp>
      <p:sp>
        <p:nvSpPr>
          <p:cNvPr id="4" name="">
            <a:extLst xmlns:a="http://schemas.openxmlformats.org/drawingml/2006/main">
              <a:ext uri="{FF2B5EF4-FFF2-40B4-BE49-F238E27FC236}">
                <a16:creationId xmlns:a16="http://schemas.microsoft.com/office/drawing/2014/main" id="{77BB9651-654A-48B0-917C-43F5BB2F6DB1}"/>
              </a:ext>
            </a:extLst>
          </p:cNvPr>
          <p:cNvSpPr>
            <a:spLocks xmlns:a="http://schemas.openxmlformats.org/drawingml/2006/main" noGrp="1"/>
          </p:cNvSpPr>
          <p:nvPr/>
        </p:nvSpPr>
        <p:spPr>
          <a:xfrm xmlns:a="http://schemas.openxmlformats.org/drawingml/2006/main">
            <a:off x="685800" y="2238375"/>
            <a:ext cx="2571750" cy="895350"/>
          </a:xfrm>
          <a:prstGeom xmlns:a="http://schemas.openxmlformats.org/drawingml/2006/main" prst="rect">
            <a:avLst/>
          </a:prstGeom>
          <a:solidFill xmlns:a="http://schemas.openxmlformats.org/drawingml/2006/main">
            <a:srgbClr val="E7EDE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8ED0C5A-3B46-4087-B9A9-8D28EDBA4765}"/>
              </a:ext>
            </a:extLst>
          </p:cNvPr>
          <p:cNvSpPr>
            <a:spLocks xmlns:a="http://schemas.openxmlformats.org/drawingml/2006/main" noGrp="1"/>
          </p:cNvSpPr>
          <p:nvPr/>
        </p:nvSpPr>
        <p:spPr>
          <a:xfrm xmlns:a="http://schemas.openxmlformats.org/drawingml/2006/main">
            <a:off x="838200" y="2352675"/>
            <a:ext cx="2266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D3C"/>
                </a:solidFill>
                <a:latin typeface="Arial"/>
                <a:ea typeface="Arial"/>
                <a:cs typeface="Arial"/>
              </a:defRPr>
            </a:defPPr>
          </a:lstStyle>
          <a:p xmlns:a="http://schemas.openxmlformats.org/drawingml/2006/main">
            <a:pPr>
              <a:defRPr sz="2025" b="1">
                <a:solidFill>
                  <a:srgbClr val="142D3C"/>
                </a:solidFill>
                <a:latin typeface="Arial"/>
                <a:ea typeface="Arial"/>
                <a:cs typeface="Arial"/>
              </a:defRPr>
            </a:pPr>
            <a:r>
              <a:rPr sz="2025" b="1">
                <a:solidFill>
                  <a:srgbClr val="142D3C"/>
                </a:solidFill>
                <a:latin typeface="Arial"/>
                <a:ea typeface="Arial"/>
                <a:cs typeface="Arial"/>
              </a:rPr>
              <a:t>React</a:t>
            </a:r>
          </a:p>
        </p:txBody>
      </p:sp>
      <p:sp>
        <p:nvSpPr>
          <p:cNvPr id="6" name="">
            <a:extLst xmlns:a="http://schemas.openxmlformats.org/drawingml/2006/main">
              <a:ext uri="{FF2B5EF4-FFF2-40B4-BE49-F238E27FC236}">
                <a16:creationId xmlns:a16="http://schemas.microsoft.com/office/drawing/2014/main" id="{D501CBDF-7A63-4DB2-A94C-540A3F1CB3CF}"/>
              </a:ext>
            </a:extLst>
          </p:cNvPr>
          <p:cNvSpPr>
            <a:spLocks xmlns:a="http://schemas.openxmlformats.org/drawingml/2006/main" noGrp="1"/>
          </p:cNvSpPr>
          <p:nvPr/>
        </p:nvSpPr>
        <p:spPr>
          <a:xfrm xmlns:a="http://schemas.openxmlformats.org/drawingml/2006/main">
            <a:off x="838200" y="2752725"/>
            <a:ext cx="2266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36B"/>
                </a:solidFill>
                <a:latin typeface="Arial"/>
                <a:ea typeface="Arial"/>
                <a:cs typeface="Arial"/>
              </a:defRPr>
            </a:defPPr>
          </a:lstStyle>
          <a:p xmlns:a="http://schemas.openxmlformats.org/drawingml/2006/main">
            <a:pPr>
              <a:defRPr sz="1350" b="0">
                <a:solidFill>
                  <a:srgbClr val="53636B"/>
                </a:solidFill>
                <a:latin typeface="Arial"/>
                <a:ea typeface="Arial"/>
                <a:cs typeface="Arial"/>
              </a:defRPr>
            </a:pPr>
            <a:r>
              <a:rPr sz="1350" b="0">
                <a:solidFill>
                  <a:srgbClr val="53636B"/>
                </a:solidFill>
                <a:latin typeface="Arial"/>
                <a:ea typeface="Arial"/>
                <a:cs typeface="Arial"/>
              </a:rPr>
              <a:t>Four review workspaces</a:t>
            </a:r>
          </a:p>
        </p:txBody>
      </p:sp>
      <p:sp>
        <p:nvSpPr>
          <p:cNvPr id="7" name="">
            <a:extLst xmlns:a="http://schemas.openxmlformats.org/drawingml/2006/main">
              <a:ext uri="{FF2B5EF4-FFF2-40B4-BE49-F238E27FC236}">
                <a16:creationId xmlns:a16="http://schemas.microsoft.com/office/drawing/2014/main" id="{81EEDB2C-31C3-4FA8-8747-23541303DA10}"/>
              </a:ext>
            </a:extLst>
          </p:cNvPr>
          <p:cNvSpPr>
            <a:spLocks xmlns:a="http://schemas.openxmlformats.org/drawingml/2006/main" noGrp="1"/>
          </p:cNvSpPr>
          <p:nvPr/>
        </p:nvSpPr>
        <p:spPr>
          <a:xfrm xmlns:a="http://schemas.openxmlformats.org/drawingml/2006/main">
            <a:off x="4667250" y="2238375"/>
            <a:ext cx="2857500" cy="895350"/>
          </a:xfrm>
          <a:prstGeom xmlns:a="http://schemas.openxmlformats.org/drawingml/2006/main" prst="rect">
            <a:avLst/>
          </a:prstGeom>
          <a:solidFill xmlns:a="http://schemas.openxmlformats.org/drawingml/2006/main">
            <a:srgbClr val="E7ED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FFD4C95-F7D7-44DD-890F-354F5DC04D8E}"/>
              </a:ext>
            </a:extLst>
          </p:cNvPr>
          <p:cNvSpPr>
            <a:spLocks xmlns:a="http://schemas.openxmlformats.org/drawingml/2006/main" noGrp="1"/>
          </p:cNvSpPr>
          <p:nvPr/>
        </p:nvSpPr>
        <p:spPr>
          <a:xfrm xmlns:a="http://schemas.openxmlformats.org/drawingml/2006/main">
            <a:off x="4819650" y="2352675"/>
            <a:ext cx="2552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D3C"/>
                </a:solidFill>
                <a:latin typeface="Arial"/>
                <a:ea typeface="Arial"/>
                <a:cs typeface="Arial"/>
              </a:defRPr>
            </a:defPPr>
          </a:lstStyle>
          <a:p xmlns:a="http://schemas.openxmlformats.org/drawingml/2006/main">
            <a:pPr>
              <a:defRPr sz="2025" b="1">
                <a:solidFill>
                  <a:srgbClr val="142D3C"/>
                </a:solidFill>
                <a:latin typeface="Arial"/>
                <a:ea typeface="Arial"/>
                <a:cs typeface="Arial"/>
              </a:defRPr>
            </a:pPr>
            <a:r>
              <a:rPr sz="2025" b="1">
                <a:solidFill>
                  <a:srgbClr val="142D3C"/>
                </a:solidFill>
                <a:latin typeface="Arial"/>
                <a:ea typeface="Arial"/>
                <a:cs typeface="Arial"/>
              </a:rPr>
              <a:t>FastAPI</a:t>
            </a:r>
          </a:p>
        </p:txBody>
      </p:sp>
      <p:sp>
        <p:nvSpPr>
          <p:cNvPr id="9" name="">
            <a:extLst xmlns:a="http://schemas.openxmlformats.org/drawingml/2006/main">
              <a:ext uri="{FF2B5EF4-FFF2-40B4-BE49-F238E27FC236}">
                <a16:creationId xmlns:a16="http://schemas.microsoft.com/office/drawing/2014/main" id="{8CA7330B-B476-4182-9A62-04083A319E74}"/>
              </a:ext>
            </a:extLst>
          </p:cNvPr>
          <p:cNvSpPr>
            <a:spLocks xmlns:a="http://schemas.openxmlformats.org/drawingml/2006/main" noGrp="1"/>
          </p:cNvSpPr>
          <p:nvPr/>
        </p:nvSpPr>
        <p:spPr>
          <a:xfrm xmlns:a="http://schemas.openxmlformats.org/drawingml/2006/main">
            <a:off x="4819650" y="2752725"/>
            <a:ext cx="2552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36B"/>
                </a:solidFill>
                <a:latin typeface="Arial"/>
                <a:ea typeface="Arial"/>
                <a:cs typeface="Arial"/>
              </a:defRPr>
            </a:defPPr>
          </a:lstStyle>
          <a:p xmlns:a="http://schemas.openxmlformats.org/drawingml/2006/main">
            <a:pPr>
              <a:defRPr sz="1350" b="0">
                <a:solidFill>
                  <a:srgbClr val="53636B"/>
                </a:solidFill>
                <a:latin typeface="Arial"/>
                <a:ea typeface="Arial"/>
                <a:cs typeface="Arial"/>
              </a:defRPr>
            </a:pPr>
            <a:r>
              <a:rPr sz="1350" b="0">
                <a:solidFill>
                  <a:srgbClr val="53636B"/>
                </a:solidFill>
                <a:latin typeface="Arial"/>
                <a:ea typeface="Arial"/>
                <a:cs typeface="Arial"/>
              </a:rPr>
              <a:t>Roles, checks, snapshots</a:t>
            </a:r>
          </a:p>
        </p:txBody>
      </p:sp>
      <p:sp>
        <p:nvSpPr>
          <p:cNvPr id="10" name="">
            <a:extLst xmlns:a="http://schemas.openxmlformats.org/drawingml/2006/main">
              <a:ext uri="{FF2B5EF4-FFF2-40B4-BE49-F238E27FC236}">
                <a16:creationId xmlns:a16="http://schemas.microsoft.com/office/drawing/2014/main" id="{BA14D0C3-2B45-4492-B658-0B1000DE0F8C}"/>
              </a:ext>
            </a:extLst>
          </p:cNvPr>
          <p:cNvSpPr>
            <a:spLocks xmlns:a="http://schemas.openxmlformats.org/drawingml/2006/main" noGrp="1"/>
          </p:cNvSpPr>
          <p:nvPr/>
        </p:nvSpPr>
        <p:spPr>
          <a:xfrm xmlns:a="http://schemas.openxmlformats.org/drawingml/2006/main">
            <a:off x="8934450" y="2238375"/>
            <a:ext cx="2571750" cy="895350"/>
          </a:xfrm>
          <a:prstGeom xmlns:a="http://schemas.openxmlformats.org/drawingml/2006/main" prst="rect">
            <a:avLst/>
          </a:prstGeom>
          <a:solidFill xmlns:a="http://schemas.openxmlformats.org/drawingml/2006/main">
            <a:srgbClr val="E7EDE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417CC4C-7EB1-44D7-9EB3-71018C0C23C9}"/>
              </a:ext>
            </a:extLst>
          </p:cNvPr>
          <p:cNvSpPr>
            <a:spLocks xmlns:a="http://schemas.openxmlformats.org/drawingml/2006/main" noGrp="1"/>
          </p:cNvSpPr>
          <p:nvPr/>
        </p:nvSpPr>
        <p:spPr>
          <a:xfrm xmlns:a="http://schemas.openxmlformats.org/drawingml/2006/main">
            <a:off x="9086850" y="2352675"/>
            <a:ext cx="2266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D3C"/>
                </a:solidFill>
                <a:latin typeface="Arial"/>
                <a:ea typeface="Arial"/>
                <a:cs typeface="Arial"/>
              </a:defRPr>
            </a:defPPr>
          </a:lstStyle>
          <a:p xmlns:a="http://schemas.openxmlformats.org/drawingml/2006/main">
            <a:pPr>
              <a:defRPr sz="2025" b="1">
                <a:solidFill>
                  <a:srgbClr val="142D3C"/>
                </a:solidFill>
                <a:latin typeface="Arial"/>
                <a:ea typeface="Arial"/>
                <a:cs typeface="Arial"/>
              </a:defRPr>
            </a:pPr>
            <a:r>
              <a:rPr sz="2025" b="1">
                <a:solidFill>
                  <a:srgbClr val="142D3C"/>
                </a:solidFill>
                <a:latin typeface="Arial"/>
                <a:ea typeface="Arial"/>
                <a:cs typeface="Arial"/>
              </a:rPr>
              <a:t>Apertus</a:t>
            </a:r>
          </a:p>
        </p:txBody>
      </p:sp>
      <p:sp>
        <p:nvSpPr>
          <p:cNvPr id="12" name="">
            <a:extLst xmlns:a="http://schemas.openxmlformats.org/drawingml/2006/main">
              <a:ext uri="{FF2B5EF4-FFF2-40B4-BE49-F238E27FC236}">
                <a16:creationId xmlns:a16="http://schemas.microsoft.com/office/drawing/2014/main" id="{4B840C60-6BAC-4072-906E-901FE1A72EF0}"/>
              </a:ext>
            </a:extLst>
          </p:cNvPr>
          <p:cNvSpPr>
            <a:spLocks xmlns:a="http://schemas.openxmlformats.org/drawingml/2006/main" noGrp="1"/>
          </p:cNvSpPr>
          <p:nvPr/>
        </p:nvSpPr>
        <p:spPr>
          <a:xfrm xmlns:a="http://schemas.openxmlformats.org/drawingml/2006/main">
            <a:off x="9086850" y="2752725"/>
            <a:ext cx="2266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36B"/>
                </a:solidFill>
                <a:latin typeface="Arial"/>
                <a:ea typeface="Arial"/>
                <a:cs typeface="Arial"/>
              </a:defRPr>
            </a:defPPr>
          </a:lstStyle>
          <a:p xmlns:a="http://schemas.openxmlformats.org/drawingml/2006/main">
            <a:pPr>
              <a:defRPr sz="1350" b="0">
                <a:solidFill>
                  <a:srgbClr val="53636B"/>
                </a:solidFill>
                <a:latin typeface="Arial"/>
                <a:ea typeface="Arial"/>
                <a:cs typeface="Arial"/>
              </a:defRPr>
            </a:pPr>
            <a:r>
              <a:rPr sz="1350" b="0">
                <a:solidFill>
                  <a:srgbClr val="53636B"/>
                </a:solidFill>
                <a:latin typeface="Arial"/>
                <a:ea typeface="Arial"/>
                <a:cs typeface="Arial"/>
              </a:rPr>
              <a:t>Structured proposals</a:t>
            </a:r>
          </a:p>
        </p:txBody>
      </p:sp>
      <p:sp>
        <p:nvSpPr>
          <p:cNvPr id="13" name="">
            <a:extLst xmlns:a="http://schemas.openxmlformats.org/drawingml/2006/main">
              <a:ext uri="{FF2B5EF4-FFF2-40B4-BE49-F238E27FC236}">
                <a16:creationId xmlns:a16="http://schemas.microsoft.com/office/drawing/2014/main" id="{E69F05F0-5D36-4E91-B652-3C69C46FBF4A}"/>
              </a:ext>
            </a:extLst>
          </p:cNvPr>
          <p:cNvSpPr>
            <a:spLocks xmlns:a="http://schemas.openxmlformats.org/drawingml/2006/main" noGrp="1"/>
          </p:cNvSpPr>
          <p:nvPr/>
        </p:nvSpPr>
        <p:spPr>
          <a:xfrm xmlns:a="http://schemas.openxmlformats.org/drawingml/2006/main">
            <a:off x="4667250" y="4476750"/>
            <a:ext cx="2857500" cy="895350"/>
          </a:xfrm>
          <a:prstGeom xmlns:a="http://schemas.openxmlformats.org/drawingml/2006/main" prst="rect">
            <a:avLst/>
          </a:prstGeom>
          <a:solidFill xmlns:a="http://schemas.openxmlformats.org/drawingml/2006/main">
            <a:srgbClr val="E7EDE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2477DF9-CC53-467F-A714-66F2D46176E4}"/>
              </a:ext>
            </a:extLst>
          </p:cNvPr>
          <p:cNvSpPr>
            <a:spLocks xmlns:a="http://schemas.openxmlformats.org/drawingml/2006/main" noGrp="1"/>
          </p:cNvSpPr>
          <p:nvPr/>
        </p:nvSpPr>
        <p:spPr>
          <a:xfrm xmlns:a="http://schemas.openxmlformats.org/drawingml/2006/main">
            <a:off x="4819650" y="4591050"/>
            <a:ext cx="2552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D3C"/>
                </a:solidFill>
                <a:latin typeface="Arial"/>
                <a:ea typeface="Arial"/>
                <a:cs typeface="Arial"/>
              </a:defRPr>
            </a:defPPr>
          </a:lstStyle>
          <a:p xmlns:a="http://schemas.openxmlformats.org/drawingml/2006/main">
            <a:pPr>
              <a:defRPr sz="2025" b="1">
                <a:solidFill>
                  <a:srgbClr val="142D3C"/>
                </a:solidFill>
                <a:latin typeface="Arial"/>
                <a:ea typeface="Arial"/>
                <a:cs typeface="Arial"/>
              </a:defRPr>
            </a:pPr>
            <a:r>
              <a:rPr sz="2025" b="1">
                <a:solidFill>
                  <a:srgbClr val="142D3C"/>
                </a:solidFill>
                <a:latin typeface="Arial"/>
                <a:ea typeface="Arial"/>
                <a:cs typeface="Arial"/>
              </a:rPr>
              <a:t>PostgreSQL</a:t>
            </a:r>
          </a:p>
        </p:txBody>
      </p:sp>
      <p:sp>
        <p:nvSpPr>
          <p:cNvPr id="15" name="">
            <a:extLst xmlns:a="http://schemas.openxmlformats.org/drawingml/2006/main">
              <a:ext uri="{FF2B5EF4-FFF2-40B4-BE49-F238E27FC236}">
                <a16:creationId xmlns:a16="http://schemas.microsoft.com/office/drawing/2014/main" id="{B7770E31-715B-4C8E-9718-07C6E406739C}"/>
              </a:ext>
            </a:extLst>
          </p:cNvPr>
          <p:cNvSpPr>
            <a:spLocks xmlns:a="http://schemas.openxmlformats.org/drawingml/2006/main" noGrp="1"/>
          </p:cNvSpPr>
          <p:nvPr/>
        </p:nvSpPr>
        <p:spPr>
          <a:xfrm xmlns:a="http://schemas.openxmlformats.org/drawingml/2006/main">
            <a:off x="4819650" y="4991100"/>
            <a:ext cx="2552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36B"/>
                </a:solidFill>
                <a:latin typeface="Arial"/>
                <a:ea typeface="Arial"/>
                <a:cs typeface="Arial"/>
              </a:defRPr>
            </a:defPPr>
          </a:lstStyle>
          <a:p xmlns:a="http://schemas.openxmlformats.org/drawingml/2006/main">
            <a:pPr>
              <a:defRPr sz="1350" b="0">
                <a:solidFill>
                  <a:srgbClr val="53636B"/>
                </a:solidFill>
                <a:latin typeface="Arial"/>
                <a:ea typeface="Arial"/>
                <a:cs typeface="Arial"/>
              </a:defRPr>
            </a:pPr>
            <a:r>
              <a:rPr sz="1350" b="0">
                <a:solidFill>
                  <a:srgbClr val="53636B"/>
                </a:solidFill>
                <a:latin typeface="Arial"/>
                <a:ea typeface="Arial"/>
                <a:cs typeface="Arial"/>
              </a:rPr>
              <a:t>Snapshots and audit</a:t>
            </a:r>
          </a:p>
        </p:txBody>
      </p:sp>
      <p:sp>
        <p:nvSpPr>
          <p:cNvPr id="16" name="">
            <a:extLst xmlns:a="http://schemas.openxmlformats.org/drawingml/2006/main">
              <a:ext uri="{FF2B5EF4-FFF2-40B4-BE49-F238E27FC236}">
                <a16:creationId xmlns:a16="http://schemas.microsoft.com/office/drawing/2014/main" id="{39FAC0A4-36EE-4E46-8E5A-B2E4D8C2791C}"/>
              </a:ext>
            </a:extLst>
          </p:cNvPr>
          <p:cNvSpPr>
            <a:spLocks xmlns:a="http://schemas.openxmlformats.org/drawingml/2006/main" noGrp="1"/>
          </p:cNvSpPr>
          <p:nvPr/>
        </p:nvSpPr>
        <p:spPr>
          <a:xfrm xmlns:a="http://schemas.openxmlformats.org/drawingml/2006/main">
            <a:off x="3476625" y="23907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176F69"/>
                </a:solidFill>
                <a:latin typeface="Arial"/>
                <a:ea typeface="Arial"/>
                <a:cs typeface="Arial"/>
              </a:defRPr>
            </a:defPPr>
          </a:lstStyle>
          <a:p xmlns:a="http://schemas.openxmlformats.org/drawingml/2006/main">
            <a:pPr>
              <a:defRPr sz="2700" b="0">
                <a:solidFill>
                  <a:srgbClr val="176F69"/>
                </a:solidFill>
                <a:latin typeface="Arial"/>
                <a:ea typeface="Arial"/>
                <a:cs typeface="Arial"/>
              </a:defRPr>
            </a:pPr>
            <a:r>
              <a:rPr sz="2700" b="0">
                <a:solidFill>
                  <a:srgbClr val="176F69"/>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0C3789DF-18D0-481C-B6AC-26F0871C1D88}"/>
              </a:ext>
            </a:extLst>
          </p:cNvPr>
          <p:cNvSpPr>
            <a:spLocks xmlns:a="http://schemas.openxmlformats.org/drawingml/2006/main" noGrp="1"/>
          </p:cNvSpPr>
          <p:nvPr/>
        </p:nvSpPr>
        <p:spPr>
          <a:xfrm xmlns:a="http://schemas.openxmlformats.org/drawingml/2006/main">
            <a:off x="7981950" y="23907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176F69"/>
                </a:solidFill>
                <a:latin typeface="Arial"/>
                <a:ea typeface="Arial"/>
                <a:cs typeface="Arial"/>
              </a:defRPr>
            </a:defPPr>
          </a:lstStyle>
          <a:p xmlns:a="http://schemas.openxmlformats.org/drawingml/2006/main">
            <a:pPr>
              <a:defRPr sz="2700" b="0">
                <a:solidFill>
                  <a:srgbClr val="176F69"/>
                </a:solidFill>
                <a:latin typeface="Arial"/>
                <a:ea typeface="Arial"/>
                <a:cs typeface="Arial"/>
              </a:defRPr>
            </a:pPr>
            <a:r>
              <a:rPr sz="2700" b="0">
                <a:solidFill>
                  <a:srgbClr val="176F69"/>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114F8220-D297-4424-90E5-CA86B175AE2E}"/>
              </a:ext>
            </a:extLst>
          </p:cNvPr>
          <p:cNvSpPr>
            <a:spLocks xmlns:a="http://schemas.openxmlformats.org/drawingml/2006/main" noGrp="1"/>
          </p:cNvSpPr>
          <p:nvPr/>
        </p:nvSpPr>
        <p:spPr>
          <a:xfrm xmlns:a="http://schemas.openxmlformats.org/drawingml/2006/main">
            <a:off x="5810250" y="35052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176F69"/>
                </a:solidFill>
                <a:latin typeface="Arial"/>
                <a:ea typeface="Arial"/>
                <a:cs typeface="Arial"/>
              </a:defRPr>
            </a:defPPr>
          </a:lstStyle>
          <a:p xmlns:a="http://schemas.openxmlformats.org/drawingml/2006/main">
            <a:pPr>
              <a:defRPr sz="2700" b="0">
                <a:solidFill>
                  <a:srgbClr val="176F69"/>
                </a:solidFill>
                <a:latin typeface="Arial"/>
                <a:ea typeface="Arial"/>
                <a:cs typeface="Arial"/>
              </a:defRPr>
            </a:pPr>
            <a:r>
              <a:rPr sz="2700" b="0">
                <a:solidFill>
                  <a:srgbClr val="176F69"/>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FDAB74BA-F1F3-4D2B-8ECE-E1DBE3F30A48}"/>
              </a:ext>
            </a:extLst>
          </p:cNvPr>
          <p:cNvSpPr>
            <a:spLocks xmlns:a="http://schemas.openxmlformats.org/drawingml/2006/main" noGrp="1"/>
          </p:cNvSpPr>
          <p:nvPr/>
        </p:nvSpPr>
        <p:spPr>
          <a:xfrm xmlns:a="http://schemas.openxmlformats.org/drawingml/2006/main">
            <a:off x="685800" y="4476750"/>
            <a:ext cx="3476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3636B"/>
                </a:solidFill>
                <a:latin typeface="Arial"/>
                <a:ea typeface="Arial"/>
                <a:cs typeface="Arial"/>
              </a:defRPr>
            </a:defPPr>
          </a:lstStyle>
          <a:p xmlns:a="http://schemas.openxmlformats.org/drawingml/2006/main">
            <a:pPr>
              <a:defRPr sz="1950" b="0">
                <a:solidFill>
                  <a:srgbClr val="53636B"/>
                </a:solidFill>
                <a:latin typeface="Arial"/>
                <a:ea typeface="Arial"/>
                <a:cs typeface="Arial"/>
              </a:defRPr>
            </a:pPr>
            <a:r>
              <a:rPr sz="1950" b="0">
                <a:solidFill>
                  <a:srgbClr val="53636B"/>
                </a:solidFill>
                <a:latin typeface="Arial"/>
                <a:ea typeface="Arial"/>
                <a:cs typeface="Arial"/>
              </a:rPr>
              <a:t>Docling parsing</a:t>
            </a:r>
          </a:p>
          <a:p xmlns:a="http://schemas.openxmlformats.org/drawingml/2006/main">
            <a:pPr>
              <a:defRPr sz="1950" b="0">
                <a:solidFill>
                  <a:srgbClr val="53636B"/>
                </a:solidFill>
                <a:latin typeface="Arial"/>
                <a:ea typeface="Arial"/>
                <a:cs typeface="Arial"/>
              </a:defRPr>
            </a:pPr>
            <a:r>
              <a:rPr sz="1950" b="0">
                <a:solidFill>
                  <a:srgbClr val="53636B"/>
                </a:solidFill>
                <a:latin typeface="Arial"/>
                <a:ea typeface="Arial"/>
                <a:cs typeface="Arial"/>
              </a:rPr>
              <a:t>Temporal activities</a:t>
            </a:r>
          </a:p>
          <a:p xmlns:a="http://schemas.openxmlformats.org/drawingml/2006/main">
            <a:pPr>
              <a:defRPr sz="1950" b="0">
                <a:solidFill>
                  <a:srgbClr val="53636B"/>
                </a:solidFill>
                <a:latin typeface="Arial"/>
                <a:ea typeface="Arial"/>
                <a:cs typeface="Arial"/>
              </a:defRPr>
            </a:pPr>
            <a:r>
              <a:rPr sz="1950" b="0">
                <a:solidFill>
                  <a:srgbClr val="53636B"/>
                </a:solidFill>
                <a:latin typeface="Arial"/>
                <a:ea typeface="Arial"/>
                <a:cs typeface="Arial"/>
              </a:rPr>
              <a:t>Scoped MCP access</a:t>
            </a:r>
          </a:p>
        </p:txBody>
      </p:sp>
      <p:sp>
        <p:nvSpPr>
          <p:cNvPr id="20" name="">
            <a:extLst xmlns:a="http://schemas.openxmlformats.org/drawingml/2006/main">
              <a:ext uri="{FF2B5EF4-FFF2-40B4-BE49-F238E27FC236}">
                <a16:creationId xmlns:a16="http://schemas.microsoft.com/office/drawing/2014/main" id="{2CC993A9-918D-4DC4-B442-51368FA5FA7A}"/>
              </a:ext>
            </a:extLst>
          </p:cNvPr>
          <p:cNvSpPr>
            <a:spLocks xmlns:a="http://schemas.openxmlformats.org/drawingml/2006/main" noGrp="1"/>
          </p:cNvSpPr>
          <p:nvPr/>
        </p:nvSpPr>
        <p:spPr>
          <a:xfrm xmlns:a="http://schemas.openxmlformats.org/drawingml/2006/main">
            <a:off x="8143875" y="4476750"/>
            <a:ext cx="33623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42D3C"/>
                </a:solidFill>
                <a:latin typeface="Arial"/>
                <a:ea typeface="Arial"/>
                <a:cs typeface="Arial"/>
              </a:defRPr>
            </a:defPPr>
          </a:lstStyle>
          <a:p xmlns:a="http://schemas.openxmlformats.org/drawingml/2006/main">
            <a:pPr>
              <a:defRPr sz="1875" b="1">
                <a:solidFill>
                  <a:srgbClr val="142D3C"/>
                </a:solidFill>
                <a:latin typeface="Arial"/>
                <a:ea typeface="Arial"/>
                <a:cs typeface="Arial"/>
              </a:defRPr>
            </a:pPr>
            <a:r>
              <a:rPr sz="1875" b="1">
                <a:solidFill>
                  <a:srgbClr val="142D3C"/>
                </a:solidFill>
                <a:latin typeface="Arial"/>
                <a:ea typeface="Arial"/>
                <a:cs typeface="Arial"/>
              </a:rPr>
              <a:t>Z3 + exact arithmetic</a:t>
            </a:r>
          </a:p>
          <a:p xmlns:a="http://schemas.openxmlformats.org/drawingml/2006/main">
            <a:pPr>
              <a:defRPr sz="1875" b="1">
                <a:solidFill>
                  <a:srgbClr val="142D3C"/>
                </a:solidFill>
                <a:latin typeface="Arial"/>
                <a:ea typeface="Arial"/>
                <a:cs typeface="Arial"/>
              </a:defRPr>
            </a:pPr>
            <a:r>
              <a:rPr sz="1875" b="1">
                <a:solidFill>
                  <a:srgbClr val="142D3C"/>
                </a:solidFill>
                <a:latin typeface="Arial"/>
                <a:ea typeface="Arial"/>
                <a:cs typeface="Arial"/>
              </a:rPr>
              <a:t>inside the API</a:t>
            </a:r>
          </a:p>
        </p:txBody>
      </p:sp>
    </p:spTree>
    <p:extLst>
      <p:ext uri="{BB962C8B-B14F-4D97-AF65-F5344CB8AC3E}">
        <p14:creationId xmlns:p14="http://schemas.microsoft.com/office/powerpoint/2010/main" val="1761337515"/>
      </p:ext>
    </p:extLst>
  </p:cSld>
</p:sld>
</file>

<file path=ppt/slides/slide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B90DE41-1542-4F9A-9234-0D67BBD9A718}"/>
              </a:ext>
            </a:extLst>
          </p:cNvPr>
          <p:cNvSpPr>
            <a:spLocks xmlns:a="http://schemas.openxmlformats.org/drawingml/2006/main" noGrp="1"/>
          </p:cNvSpPr>
          <p:nvPr/>
        </p:nvSpPr>
        <p:spPr>
          <a:xfrm xmlns:a="http://schemas.openxmlformats.org/drawingml/2006/main">
            <a:off x="685800" y="4762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2D3C"/>
                </a:solidFill>
                <a:latin typeface="Arial"/>
                <a:ea typeface="Arial"/>
                <a:cs typeface="Arial"/>
              </a:defRPr>
            </a:defPPr>
          </a:lstStyle>
          <a:p xmlns:a="http://schemas.openxmlformats.org/drawingml/2006/main">
            <a:pPr>
              <a:defRPr sz="3225" b="1">
                <a:solidFill>
                  <a:srgbClr val="142D3C"/>
                </a:solidFill>
                <a:latin typeface="Arial"/>
                <a:ea typeface="Arial"/>
                <a:cs typeface="Arial"/>
              </a:defRPr>
            </a:pPr>
            <a:r>
              <a:rPr sz="3225" b="1">
                <a:solidFill>
                  <a:srgbClr val="142D3C"/>
                </a:solidFill>
                <a:latin typeface="Arial"/>
                <a:ea typeface="Arial"/>
                <a:cs typeface="Arial"/>
              </a:rPr>
              <a:t>Enter through one real engineering package</a:t>
            </a:r>
          </a:p>
        </p:txBody>
      </p:sp>
      <p:sp>
        <p:nvSpPr>
          <p:cNvPr id="2" name="">
            <a:extLst xmlns:a="http://schemas.openxmlformats.org/drawingml/2006/main">
              <a:ext uri="{FF2B5EF4-FFF2-40B4-BE49-F238E27FC236}">
                <a16:creationId xmlns:a16="http://schemas.microsoft.com/office/drawing/2014/main" id="{2D2E4CC0-B19A-46E0-8C25-C424B5831649}"/>
              </a:ext>
            </a:extLst>
          </p:cNvPr>
          <p:cNvSpPr>
            <a:spLocks xmlns:a="http://schemas.openxmlformats.org/drawingml/2006/main" noGrp="1"/>
          </p:cNvSpPr>
          <p:nvPr/>
        </p:nvSpPr>
        <p:spPr>
          <a:xfrm xmlns:a="http://schemas.openxmlformats.org/drawingml/2006/main">
            <a:off x="685800" y="12954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36B"/>
                </a:solidFill>
                <a:latin typeface="Arial"/>
                <a:ea typeface="Arial"/>
                <a:cs typeface="Arial"/>
              </a:defRPr>
            </a:defPPr>
          </a:lstStyle>
          <a:p xmlns:a="http://schemas.openxmlformats.org/drawingml/2006/main">
            <a:pPr>
              <a:defRPr sz="1800" b="0">
                <a:solidFill>
                  <a:srgbClr val="53636B"/>
                </a:solidFill>
                <a:latin typeface="Arial"/>
                <a:ea typeface="Arial"/>
                <a:cs typeface="Arial"/>
              </a:defRPr>
            </a:pPr>
            <a:r>
              <a:rPr sz="1800" b="0">
                <a:solidFill>
                  <a:srgbClr val="53636B"/>
                </a:solidFill>
                <a:latin typeface="Arial"/>
                <a:ea typeface="Arial"/>
                <a:cs typeface="Arial"/>
              </a:rPr>
              <a:t>Proposed business wedge: enterprise / project deployment for equipment procurement</a:t>
            </a:r>
          </a:p>
        </p:txBody>
      </p:sp>
      <p:sp>
        <p:nvSpPr>
          <p:cNvPr id="3" name="">
            <a:extLst xmlns:a="http://schemas.openxmlformats.org/drawingml/2006/main">
              <a:ext uri="{FF2B5EF4-FFF2-40B4-BE49-F238E27FC236}">
                <a16:creationId xmlns:a16="http://schemas.microsoft.com/office/drawing/2014/main" id="{48E2DC10-2FC4-4BDF-B7CF-9728DCC477F7}"/>
              </a:ext>
            </a:extLst>
          </p:cNvPr>
          <p:cNvSpPr>
            <a:spLocks xmlns:a="http://schemas.openxmlformats.org/drawingml/2006/main" noGrp="1"/>
          </p:cNvSpPr>
          <p:nvPr/>
        </p:nvSpPr>
        <p:spPr>
          <a:xfrm xmlns:a="http://schemas.openxmlformats.org/drawingml/2006/main">
            <a:off x="685800" y="6343650"/>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B"/>
                </a:solidFill>
                <a:latin typeface="Arial"/>
                <a:ea typeface="Arial"/>
                <a:cs typeface="Arial"/>
              </a:defRPr>
            </a:defPPr>
          </a:lstStyle>
          <a:p xmlns:a="http://schemas.openxmlformats.org/drawingml/2006/main">
            <a:pPr>
              <a:defRPr sz="1200" b="0">
                <a:solidFill>
                  <a:srgbClr val="53636B"/>
                </a:solidFill>
                <a:latin typeface="Arial"/>
                <a:ea typeface="Arial"/>
                <a:cs typeface="Arial"/>
              </a:defRPr>
            </a:pPr>
            <a:r>
              <a:rPr sz="1200" b="0">
                <a:solidFill>
                  <a:srgbClr val="53636B"/>
                </a:solidFill>
                <a:latin typeface="Arial"/>
                <a:ea typeface="Arial"/>
                <a:cs typeface="Arial"/>
              </a:rPr>
              <a:t>TenderProof / SwissChivers / 09</a:t>
            </a:r>
          </a:p>
        </p:txBody>
      </p:sp>
      <p:sp>
        <p:nvSpPr>
          <p:cNvPr id="4" name="">
            <a:extLst xmlns:a="http://schemas.openxmlformats.org/drawingml/2006/main">
              <a:ext uri="{FF2B5EF4-FFF2-40B4-BE49-F238E27FC236}">
                <a16:creationId xmlns:a16="http://schemas.microsoft.com/office/drawing/2014/main" id="{EE2E03AD-2A79-4713-8B24-E4AC90AE8D51}"/>
              </a:ext>
            </a:extLst>
          </p:cNvPr>
          <p:cNvSpPr>
            <a:spLocks xmlns:a="http://schemas.openxmlformats.org/drawingml/2006/main" noGrp="1"/>
          </p:cNvSpPr>
          <p:nvPr/>
        </p:nvSpPr>
        <p:spPr>
          <a:xfrm xmlns:a="http://schemas.openxmlformats.org/drawingml/2006/main">
            <a:off x="685800" y="23526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6F69"/>
                </a:solidFill>
                <a:latin typeface="Arial"/>
                <a:ea typeface="Arial"/>
                <a:cs typeface="Arial"/>
              </a:defRPr>
            </a:defPPr>
          </a:lstStyle>
          <a:p xmlns:a="http://schemas.openxmlformats.org/drawingml/2006/main">
            <a:pPr>
              <a:defRPr sz="2100" b="1">
                <a:solidFill>
                  <a:srgbClr val="176F69"/>
                </a:solidFill>
                <a:latin typeface="Arial"/>
                <a:ea typeface="Arial"/>
                <a:cs typeface="Arial"/>
              </a:defRPr>
            </a:pPr>
            <a:r>
              <a:rPr sz="2100" b="1">
                <a:solidFill>
                  <a:srgbClr val="176F69"/>
                </a:solidFill>
                <a:latin typeface="Arial"/>
                <a:ea typeface="Arial"/>
                <a:cs typeface="Arial"/>
              </a:rPr>
              <a:t>Start</a:t>
            </a:r>
          </a:p>
        </p:txBody>
      </p:sp>
      <p:sp>
        <p:nvSpPr>
          <p:cNvPr id="5" name="">
            <a:extLst xmlns:a="http://schemas.openxmlformats.org/drawingml/2006/main">
              <a:ext uri="{FF2B5EF4-FFF2-40B4-BE49-F238E27FC236}">
                <a16:creationId xmlns:a16="http://schemas.microsoft.com/office/drawing/2014/main" id="{AC66B2F1-3547-4919-8855-503759EFF270}"/>
              </a:ext>
            </a:extLst>
          </p:cNvPr>
          <p:cNvSpPr>
            <a:spLocks xmlns:a="http://schemas.openxmlformats.org/drawingml/2006/main" noGrp="1"/>
          </p:cNvSpPr>
          <p:nvPr/>
        </p:nvSpPr>
        <p:spPr>
          <a:xfrm xmlns:a="http://schemas.openxmlformats.org/drawingml/2006/main">
            <a:off x="685800" y="3048000"/>
            <a:ext cx="3143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3C"/>
                </a:solidFill>
                <a:latin typeface="Arial"/>
                <a:ea typeface="Arial"/>
                <a:cs typeface="Arial"/>
              </a:defRPr>
            </a:defPPr>
          </a:lstStyle>
          <a:p xmlns:a="http://schemas.openxmlformats.org/drawingml/2006/main">
            <a:pPr>
              <a:defRPr sz="2175" b="0">
                <a:solidFill>
                  <a:srgbClr val="142D3C"/>
                </a:solidFill>
                <a:latin typeface="Arial"/>
                <a:ea typeface="Arial"/>
                <a:cs typeface="Arial"/>
              </a:defRPr>
            </a:pPr>
            <a:r>
              <a:rPr sz="2175" b="0">
                <a:solidFill>
                  <a:srgbClr val="142D3C"/>
                </a:solidFill>
                <a:latin typeface="Arial"/>
                <a:ea typeface="Arial"/>
                <a:cs typeface="Arial"/>
              </a:rPr>
              <a:t>One equipment package</a:t>
            </a:r>
          </a:p>
          <a:p xmlns:a="http://schemas.openxmlformats.org/drawingml/2006/main">
            <a:pPr>
              <a:defRPr sz="2175" b="0">
                <a:solidFill>
                  <a:srgbClr val="142D3C"/>
                </a:solidFill>
                <a:latin typeface="Arial"/>
                <a:ea typeface="Arial"/>
                <a:cs typeface="Arial"/>
              </a:defRPr>
            </a:pPr>
            <a:r>
              <a:rPr sz="2175" b="0">
                <a:solidFill>
                  <a:srgbClr val="142D3C"/>
                </a:solidFill>
                <a:latin typeface="Arial"/>
                <a:ea typeface="Arial"/>
                <a:cs typeface="Arial"/>
              </a:rPr>
              <a:t>A named review owner</a:t>
            </a:r>
          </a:p>
          <a:p xmlns:a="http://schemas.openxmlformats.org/drawingml/2006/main">
            <a:pPr>
              <a:defRPr sz="2175" b="0">
                <a:solidFill>
                  <a:srgbClr val="142D3C"/>
                </a:solidFill>
                <a:latin typeface="Arial"/>
                <a:ea typeface="Arial"/>
                <a:cs typeface="Arial"/>
              </a:defRPr>
            </a:pPr>
            <a:r>
              <a:rPr sz="2175" b="0">
                <a:solidFill>
                  <a:srgbClr val="142D3C"/>
                </a:solidFill>
                <a:latin typeface="Arial"/>
                <a:ea typeface="Arial"/>
                <a:cs typeface="Arial"/>
              </a:rPr>
              <a:t>Existing source documents</a:t>
            </a:r>
          </a:p>
        </p:txBody>
      </p:sp>
      <p:sp>
        <p:nvSpPr>
          <p:cNvPr id="6" name="">
            <a:extLst xmlns:a="http://schemas.openxmlformats.org/drawingml/2006/main">
              <a:ext uri="{FF2B5EF4-FFF2-40B4-BE49-F238E27FC236}">
                <a16:creationId xmlns:a16="http://schemas.microsoft.com/office/drawing/2014/main" id="{B0DB9E28-98F5-45C6-9C58-C36E6C6D9F0E}"/>
              </a:ext>
            </a:extLst>
          </p:cNvPr>
          <p:cNvSpPr>
            <a:spLocks xmlns:a="http://schemas.openxmlformats.org/drawingml/2006/main" noGrp="1"/>
          </p:cNvSpPr>
          <p:nvPr/>
        </p:nvSpPr>
        <p:spPr>
          <a:xfrm xmlns:a="http://schemas.openxmlformats.org/drawingml/2006/main">
            <a:off x="4438650" y="23526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6F69"/>
                </a:solidFill>
                <a:latin typeface="Arial"/>
                <a:ea typeface="Arial"/>
                <a:cs typeface="Arial"/>
              </a:defRPr>
            </a:defPPr>
          </a:lstStyle>
          <a:p xmlns:a="http://schemas.openxmlformats.org/drawingml/2006/main">
            <a:pPr>
              <a:defRPr sz="2100" b="1">
                <a:solidFill>
                  <a:srgbClr val="176F69"/>
                </a:solidFill>
                <a:latin typeface="Arial"/>
                <a:ea typeface="Arial"/>
                <a:cs typeface="Arial"/>
              </a:defRPr>
            </a:pPr>
            <a:r>
              <a:rPr sz="2100" b="1">
                <a:solidFill>
                  <a:srgbClr val="176F69"/>
                </a:solidFill>
                <a:latin typeface="Arial"/>
                <a:ea typeface="Arial"/>
                <a:cs typeface="Arial"/>
              </a:rPr>
              <a:t>Validate</a:t>
            </a:r>
          </a:p>
        </p:txBody>
      </p:sp>
      <p:sp>
        <p:nvSpPr>
          <p:cNvPr id="7" name="">
            <a:extLst xmlns:a="http://schemas.openxmlformats.org/drawingml/2006/main">
              <a:ext uri="{FF2B5EF4-FFF2-40B4-BE49-F238E27FC236}">
                <a16:creationId xmlns:a16="http://schemas.microsoft.com/office/drawing/2014/main" id="{B9A005B5-40DE-489C-A741-D30C4581224E}"/>
              </a:ext>
            </a:extLst>
          </p:cNvPr>
          <p:cNvSpPr>
            <a:spLocks xmlns:a="http://schemas.openxmlformats.org/drawingml/2006/main" noGrp="1"/>
          </p:cNvSpPr>
          <p:nvPr/>
        </p:nvSpPr>
        <p:spPr>
          <a:xfrm xmlns:a="http://schemas.openxmlformats.org/drawingml/2006/main">
            <a:off x="4438650" y="3048000"/>
            <a:ext cx="33147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3C"/>
                </a:solidFill>
                <a:latin typeface="Arial"/>
                <a:ea typeface="Arial"/>
                <a:cs typeface="Arial"/>
              </a:defRPr>
            </a:defPPr>
          </a:lstStyle>
          <a:p xmlns:a="http://schemas.openxmlformats.org/drawingml/2006/main">
            <a:pPr>
              <a:defRPr sz="2175" b="0">
                <a:solidFill>
                  <a:srgbClr val="142D3C"/>
                </a:solidFill>
                <a:latin typeface="Arial"/>
                <a:ea typeface="Arial"/>
                <a:cs typeface="Arial"/>
              </a:defRPr>
            </a:pPr>
            <a:r>
              <a:rPr sz="2175" b="0">
                <a:solidFill>
                  <a:srgbClr val="142D3C"/>
                </a:solidFill>
                <a:latin typeface="Arial"/>
                <a:ea typeface="Arial"/>
                <a:cs typeface="Arial"/>
              </a:rPr>
              <a:t>Expert-reviewed decisions</a:t>
            </a:r>
          </a:p>
          <a:p xmlns:a="http://schemas.openxmlformats.org/drawingml/2006/main">
            <a:pPr>
              <a:defRPr sz="2175" b="0">
                <a:solidFill>
                  <a:srgbClr val="142D3C"/>
                </a:solidFill>
                <a:latin typeface="Arial"/>
                <a:ea typeface="Arial"/>
                <a:cs typeface="Arial"/>
              </a:defRPr>
            </a:pPr>
            <a:r>
              <a:rPr sz="2175" b="0">
                <a:solidFill>
                  <a:srgbClr val="142D3C"/>
                </a:solidFill>
                <a:latin typeface="Arial"/>
                <a:ea typeface="Arial"/>
                <a:cs typeface="Arial"/>
              </a:rPr>
              <a:t>Corrections and effort</a:t>
            </a:r>
          </a:p>
          <a:p xmlns:a="http://schemas.openxmlformats.org/drawingml/2006/main">
            <a:pPr>
              <a:defRPr sz="2175" b="0">
                <a:solidFill>
                  <a:srgbClr val="142D3C"/>
                </a:solidFill>
                <a:latin typeface="Arial"/>
                <a:ea typeface="Arial"/>
                <a:cs typeface="Arial"/>
              </a:defRPr>
            </a:pPr>
            <a:r>
              <a:rPr sz="2175" b="0">
                <a:solidFill>
                  <a:srgbClr val="142D3C"/>
                </a:solidFill>
                <a:latin typeface="Arial"/>
                <a:ea typeface="Arial"/>
                <a:cs typeface="Arial"/>
              </a:rPr>
              <a:t>Deployment / operating cost</a:t>
            </a:r>
          </a:p>
        </p:txBody>
      </p:sp>
      <p:sp>
        <p:nvSpPr>
          <p:cNvPr id="8" name="">
            <a:extLst xmlns:a="http://schemas.openxmlformats.org/drawingml/2006/main">
              <a:ext uri="{FF2B5EF4-FFF2-40B4-BE49-F238E27FC236}">
                <a16:creationId xmlns:a16="http://schemas.microsoft.com/office/drawing/2014/main" id="{A223D1AA-5CB5-4848-A02E-2C009CE6D186}"/>
              </a:ext>
            </a:extLst>
          </p:cNvPr>
          <p:cNvSpPr>
            <a:spLocks xmlns:a="http://schemas.openxmlformats.org/drawingml/2006/main" noGrp="1"/>
          </p:cNvSpPr>
          <p:nvPr/>
        </p:nvSpPr>
        <p:spPr>
          <a:xfrm xmlns:a="http://schemas.openxmlformats.org/drawingml/2006/main">
            <a:off x="8191500" y="2352675"/>
            <a:ext cx="331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6F69"/>
                </a:solidFill>
                <a:latin typeface="Arial"/>
                <a:ea typeface="Arial"/>
                <a:cs typeface="Arial"/>
              </a:defRPr>
            </a:defPPr>
          </a:lstStyle>
          <a:p xmlns:a="http://schemas.openxmlformats.org/drawingml/2006/main">
            <a:pPr>
              <a:defRPr sz="2100" b="1">
                <a:solidFill>
                  <a:srgbClr val="176F69"/>
                </a:solidFill>
                <a:latin typeface="Arial"/>
                <a:ea typeface="Arial"/>
                <a:cs typeface="Arial"/>
              </a:defRPr>
            </a:pPr>
            <a:r>
              <a:rPr sz="2100" b="1">
                <a:solidFill>
                  <a:srgbClr val="176F69"/>
                </a:solidFill>
                <a:latin typeface="Arial"/>
                <a:ea typeface="Arial"/>
                <a:cs typeface="Arial"/>
              </a:rPr>
              <a:t>Expand</a:t>
            </a:r>
          </a:p>
        </p:txBody>
      </p:sp>
      <p:sp>
        <p:nvSpPr>
          <p:cNvPr id="9" name="">
            <a:extLst xmlns:a="http://schemas.openxmlformats.org/drawingml/2006/main">
              <a:ext uri="{FF2B5EF4-FFF2-40B4-BE49-F238E27FC236}">
                <a16:creationId xmlns:a16="http://schemas.microsoft.com/office/drawing/2014/main" id="{79B1736F-B796-4F29-93B6-EAF5F8263166}"/>
              </a:ext>
            </a:extLst>
          </p:cNvPr>
          <p:cNvSpPr>
            <a:spLocks xmlns:a="http://schemas.openxmlformats.org/drawingml/2006/main" noGrp="1"/>
          </p:cNvSpPr>
          <p:nvPr/>
        </p:nvSpPr>
        <p:spPr>
          <a:xfrm xmlns:a="http://schemas.openxmlformats.org/drawingml/2006/main">
            <a:off x="8191500" y="3048000"/>
            <a:ext cx="33147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3C"/>
                </a:solidFill>
                <a:latin typeface="Arial"/>
                <a:ea typeface="Arial"/>
                <a:cs typeface="Arial"/>
              </a:defRPr>
            </a:defPPr>
          </a:lstStyle>
          <a:p xmlns:a="http://schemas.openxmlformats.org/drawingml/2006/main">
            <a:pPr>
              <a:defRPr sz="2175" b="0">
                <a:solidFill>
                  <a:srgbClr val="142D3C"/>
                </a:solidFill>
                <a:latin typeface="Arial"/>
                <a:ea typeface="Arial"/>
                <a:cs typeface="Arial"/>
              </a:defRPr>
            </a:pPr>
            <a:r>
              <a:rPr sz="2175" b="0">
                <a:solidFill>
                  <a:srgbClr val="142D3C"/>
                </a:solidFill>
                <a:latin typeface="Arial"/>
                <a:ea typeface="Arial"/>
                <a:cs typeface="Arial"/>
              </a:rPr>
              <a:t>Additional project teams</a:t>
            </a:r>
          </a:p>
          <a:p xmlns:a="http://schemas.openxmlformats.org/drawingml/2006/main">
            <a:pPr>
              <a:defRPr sz="2175" b="0">
                <a:solidFill>
                  <a:srgbClr val="142D3C"/>
                </a:solidFill>
                <a:latin typeface="Arial"/>
                <a:ea typeface="Arial"/>
                <a:cs typeface="Arial"/>
              </a:defRPr>
            </a:pPr>
            <a:r>
              <a:rPr sz="2175" b="0">
                <a:solidFill>
                  <a:srgbClr val="142D3C"/>
                </a:solidFill>
                <a:latin typeface="Arial"/>
                <a:ea typeface="Arial"/>
                <a:cs typeface="Arial"/>
              </a:rPr>
              <a:t>Equipment schemas</a:t>
            </a:r>
          </a:p>
          <a:p xmlns:a="http://schemas.openxmlformats.org/drawingml/2006/main">
            <a:pPr>
              <a:defRPr sz="2175" b="0">
                <a:solidFill>
                  <a:srgbClr val="142D3C"/>
                </a:solidFill>
                <a:latin typeface="Arial"/>
                <a:ea typeface="Arial"/>
                <a:cs typeface="Arial"/>
              </a:defRPr>
            </a:pPr>
            <a:r>
              <a:rPr sz="2175" b="0">
                <a:solidFill>
                  <a:srgbClr val="142D3C"/>
                </a:solidFill>
                <a:latin typeface="Arial"/>
                <a:ea typeface="Arial"/>
                <a:cs typeface="Arial"/>
              </a:rPr>
              <a:t>Enterprise integrations</a:t>
            </a:r>
          </a:p>
        </p:txBody>
      </p:sp>
      <p:sp>
        <p:nvSpPr>
          <p:cNvPr id="10" name="">
            <a:extLst xmlns:a="http://schemas.openxmlformats.org/drawingml/2006/main">
              <a:ext uri="{FF2B5EF4-FFF2-40B4-BE49-F238E27FC236}">
                <a16:creationId xmlns:a16="http://schemas.microsoft.com/office/drawing/2014/main" id="{ACEFFC05-B53D-47AF-9BEE-212B38E96B73}"/>
              </a:ext>
            </a:extLst>
          </p:cNvPr>
          <p:cNvSpPr>
            <a:spLocks xmlns:a="http://schemas.openxmlformats.org/drawingml/2006/main" noGrp="1"/>
          </p:cNvSpPr>
          <p:nvPr/>
        </p:nvSpPr>
        <p:spPr>
          <a:xfrm xmlns:a="http://schemas.openxmlformats.org/drawingml/2006/main">
            <a:off x="685800" y="48577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3636B"/>
                </a:solidFill>
                <a:latin typeface="Arial"/>
                <a:ea typeface="Arial"/>
                <a:cs typeface="Arial"/>
              </a:defRPr>
            </a:defPPr>
          </a:lstStyle>
          <a:p xmlns:a="http://schemas.openxmlformats.org/drawingml/2006/main">
            <a:pPr>
              <a:defRPr sz="1575" b="0">
                <a:solidFill>
                  <a:srgbClr val="53636B"/>
                </a:solidFill>
                <a:latin typeface="Arial"/>
                <a:ea typeface="Arial"/>
                <a:cs typeface="Arial"/>
              </a:defRPr>
            </a:pPr>
            <a:r>
              <a:rPr sz="1575" b="0">
                <a:solidFill>
                  <a:srgbClr val="53636B"/>
                </a:solidFill>
                <a:latin typeface="Arial"/>
                <a:ea typeface="Arial"/>
                <a:cs typeface="Arial"/>
              </a:rPr>
              <a:t>Adjacent market: Mercanis raised &gt;$20m Series A (June 2025).</a:t>
            </a:r>
          </a:p>
        </p:txBody>
      </p:sp>
      <p:sp>
        <p:nvSpPr>
          <p:cNvPr id="11" name="">
            <a:extLst xmlns:a="http://schemas.openxmlformats.org/drawingml/2006/main">
              <a:ext uri="{FF2B5EF4-FFF2-40B4-BE49-F238E27FC236}">
                <a16:creationId xmlns:a16="http://schemas.microsoft.com/office/drawing/2014/main" id="{603F35C9-26F9-4D19-8A21-D9889C40BFFC}"/>
              </a:ext>
            </a:extLst>
          </p:cNvPr>
          <p:cNvSpPr>
            <a:spLocks xmlns:a="http://schemas.openxmlformats.org/drawingml/2006/main" noGrp="1"/>
          </p:cNvSpPr>
          <p:nvPr/>
        </p:nvSpPr>
        <p:spPr>
          <a:xfrm xmlns:a="http://schemas.openxmlformats.org/drawingml/2006/main">
            <a:off x="685800" y="5276850"/>
            <a:ext cx="10820400" cy="9525"/>
          </a:xfrm>
          <a:prstGeom xmlns:a="http://schemas.openxmlformats.org/drawingml/2006/main" prst="rect">
            <a:avLst/>
          </a:prstGeom>
          <a:solidFill xmlns:a="http://schemas.openxmlformats.org/drawingml/2006/main">
            <a:srgbClr val="C5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A77298A-2D6F-4233-9C66-81A80726D190}"/>
              </a:ext>
            </a:extLst>
          </p:cNvPr>
          <p:cNvSpPr>
            <a:spLocks xmlns:a="http://schemas.openxmlformats.org/drawingml/2006/main" noGrp="1"/>
          </p:cNvSpPr>
          <p:nvPr/>
        </p:nvSpPr>
        <p:spPr>
          <a:xfrm xmlns:a="http://schemas.openxmlformats.org/drawingml/2006/main">
            <a:off x="685800" y="56197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6F69"/>
                </a:solidFill>
                <a:latin typeface="Arial"/>
                <a:ea typeface="Arial"/>
                <a:cs typeface="Arial"/>
              </a:defRPr>
            </a:defPPr>
          </a:lstStyle>
          <a:p xmlns:a="http://schemas.openxmlformats.org/drawingml/2006/main">
            <a:pPr>
              <a:defRPr sz="2250" b="1">
                <a:solidFill>
                  <a:srgbClr val="176F69"/>
                </a:solidFill>
                <a:latin typeface="Arial"/>
                <a:ea typeface="Arial"/>
                <a:cs typeface="Arial"/>
              </a:defRPr>
            </a:pPr>
            <a:r>
              <a:rPr sz="2250" b="1">
                <a:solidFill>
                  <a:srgbClr val="176F69"/>
                </a:solidFill>
                <a:latin typeface="Arial"/>
                <a:ea typeface="Arial"/>
                <a:cs typeface="Arial"/>
              </a:rPr>
              <a:t>Next commercial test: a design partner with a held-out real package.</a:t>
            </a:r>
          </a:p>
        </p:txBody>
      </p:sp>
    </p:spTree>
    <p:extLst>
      <p:ext uri="{BB962C8B-B14F-4D97-AF65-F5344CB8AC3E}">
        <p14:creationId xmlns:p14="http://schemas.microsoft.com/office/powerpoint/2010/main" val="1320415494"/>
      </p:ext>
    </p:extLst>
  </p:cSld>
</p:sld>
</file>

<file path=ppt/slides/slide1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7A671E-2556-49EC-AB44-1CE36D4FAA91}"/>
              </a:ext>
            </a:extLst>
          </p:cNvPr>
          <p:cNvSpPr>
            <a:spLocks xmlns:a="http://schemas.openxmlformats.org/drawingml/2006/main" noGrp="1"/>
          </p:cNvSpPr>
          <p:nvPr/>
        </p:nvSpPr>
        <p:spPr>
          <a:xfrm xmlns:a="http://schemas.openxmlformats.org/drawingml/2006/main">
            <a:off x="685800" y="4762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2D3C"/>
                </a:solidFill>
                <a:latin typeface="Arial"/>
                <a:ea typeface="Arial"/>
                <a:cs typeface="Arial"/>
              </a:defRPr>
            </a:defPPr>
          </a:lstStyle>
          <a:p xmlns:a="http://schemas.openxmlformats.org/drawingml/2006/main">
            <a:pPr>
              <a:defRPr sz="3225" b="1">
                <a:solidFill>
                  <a:srgbClr val="142D3C"/>
                </a:solidFill>
                <a:latin typeface="Arial"/>
                <a:ea typeface="Arial"/>
                <a:cs typeface="Arial"/>
              </a:defRPr>
            </a:pPr>
            <a:r>
              <a:rPr sz="3225" b="1">
                <a:solidFill>
                  <a:srgbClr val="142D3C"/>
                </a:solidFill>
                <a:latin typeface="Arial"/>
                <a:ea typeface="Arial"/>
                <a:cs typeface="Arial"/>
              </a:rPr>
              <a:t>Measured behavior and remaining work</a:t>
            </a:r>
          </a:p>
        </p:txBody>
      </p:sp>
      <p:sp>
        <p:nvSpPr>
          <p:cNvPr id="2" name="">
            <a:extLst xmlns:a="http://schemas.openxmlformats.org/drawingml/2006/main">
              <a:ext uri="{FF2B5EF4-FFF2-40B4-BE49-F238E27FC236}">
                <a16:creationId xmlns:a16="http://schemas.microsoft.com/office/drawing/2014/main" id="{B14F164E-51E2-4DC7-BA8B-F712F4D9CAC6}"/>
              </a:ext>
            </a:extLst>
          </p:cNvPr>
          <p:cNvSpPr>
            <a:spLocks xmlns:a="http://schemas.openxmlformats.org/drawingml/2006/main" noGrp="1"/>
          </p:cNvSpPr>
          <p:nvPr/>
        </p:nvSpPr>
        <p:spPr>
          <a:xfrm xmlns:a="http://schemas.openxmlformats.org/drawingml/2006/main">
            <a:off x="685800" y="12954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36B"/>
                </a:solidFill>
                <a:latin typeface="Arial"/>
                <a:ea typeface="Arial"/>
                <a:cs typeface="Arial"/>
              </a:defRPr>
            </a:defPPr>
          </a:lstStyle>
          <a:p xmlns:a="http://schemas.openxmlformats.org/drawingml/2006/main">
            <a:pPr>
              <a:defRPr sz="1800" b="0">
                <a:solidFill>
                  <a:srgbClr val="53636B"/>
                </a:solidFill>
                <a:latin typeface="Arial"/>
                <a:ea typeface="Arial"/>
                <a:cs typeface="Arial"/>
              </a:defRPr>
            </a:pPr>
            <a:r>
              <a:rPr sz="1800" b="0">
                <a:solidFill>
                  <a:srgbClr val="53636B"/>
                </a:solidFill>
                <a:latin typeface="Arial"/>
                <a:ea typeface="Arial"/>
                <a:cs typeface="Arial"/>
              </a:rPr>
              <a:t>Evidence for the implementation, and the next validation step</a:t>
            </a:r>
          </a:p>
        </p:txBody>
      </p:sp>
      <p:sp>
        <p:nvSpPr>
          <p:cNvPr id="3" name="">
            <a:extLst xmlns:a="http://schemas.openxmlformats.org/drawingml/2006/main">
              <a:ext uri="{FF2B5EF4-FFF2-40B4-BE49-F238E27FC236}">
                <a16:creationId xmlns:a16="http://schemas.microsoft.com/office/drawing/2014/main" id="{A3DE5BBC-9EAC-4659-9A3B-2DA9C1047204}"/>
              </a:ext>
            </a:extLst>
          </p:cNvPr>
          <p:cNvSpPr>
            <a:spLocks xmlns:a="http://schemas.openxmlformats.org/drawingml/2006/main" noGrp="1"/>
          </p:cNvSpPr>
          <p:nvPr/>
        </p:nvSpPr>
        <p:spPr>
          <a:xfrm xmlns:a="http://schemas.openxmlformats.org/drawingml/2006/main">
            <a:off x="685800" y="6343650"/>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B"/>
                </a:solidFill>
                <a:latin typeface="Arial"/>
                <a:ea typeface="Arial"/>
                <a:cs typeface="Arial"/>
              </a:defRPr>
            </a:defPPr>
          </a:lstStyle>
          <a:p xmlns:a="http://schemas.openxmlformats.org/drawingml/2006/main">
            <a:pPr>
              <a:defRPr sz="1200" b="0">
                <a:solidFill>
                  <a:srgbClr val="53636B"/>
                </a:solidFill>
                <a:latin typeface="Arial"/>
                <a:ea typeface="Arial"/>
                <a:cs typeface="Arial"/>
              </a:defRPr>
            </a:pPr>
            <a:r>
              <a:rPr sz="1200" b="0">
                <a:solidFill>
                  <a:srgbClr val="53636B"/>
                </a:solidFill>
                <a:latin typeface="Arial"/>
                <a:ea typeface="Arial"/>
                <a:cs typeface="Arial"/>
              </a:rPr>
              <a:t>TenderProof / SwissChivers / 10</a:t>
            </a:r>
          </a:p>
        </p:txBody>
      </p:sp>
      <p:sp>
        <p:nvSpPr>
          <p:cNvPr id="4" name="">
            <a:extLst xmlns:a="http://schemas.openxmlformats.org/drawingml/2006/main">
              <a:ext uri="{FF2B5EF4-FFF2-40B4-BE49-F238E27FC236}">
                <a16:creationId xmlns:a16="http://schemas.microsoft.com/office/drawing/2014/main" id="{F8EE1EA2-CDC9-4E04-98C6-A9005585BDF6}"/>
              </a:ext>
            </a:extLst>
          </p:cNvPr>
          <p:cNvSpPr>
            <a:spLocks xmlns:a="http://schemas.openxmlformats.org/drawingml/2006/main" noGrp="1"/>
          </p:cNvSpPr>
          <p:nvPr/>
        </p:nvSpPr>
        <p:spPr>
          <a:xfrm xmlns:a="http://schemas.openxmlformats.org/drawingml/2006/main">
            <a:off x="685800" y="228600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F69"/>
                </a:solidFill>
                <a:latin typeface="Arial"/>
                <a:ea typeface="Arial"/>
                <a:cs typeface="Arial"/>
              </a:defRPr>
            </a:defPPr>
          </a:lstStyle>
          <a:p xmlns:a="http://schemas.openxmlformats.org/drawingml/2006/main">
            <a:pPr>
              <a:defRPr sz="2325" b="1">
                <a:solidFill>
                  <a:srgbClr val="176F69"/>
                </a:solidFill>
                <a:latin typeface="Arial"/>
                <a:ea typeface="Arial"/>
                <a:cs typeface="Arial"/>
              </a:defRPr>
            </a:pPr>
            <a:r>
              <a:rPr sz="2325" b="1">
                <a:solidFill>
                  <a:srgbClr val="176F69"/>
                </a:solidFill>
                <a:latin typeface="Arial"/>
                <a:ea typeface="Arial"/>
                <a:cs typeface="Arial"/>
              </a:rPr>
              <a:t>Observed</a:t>
            </a:r>
          </a:p>
        </p:txBody>
      </p:sp>
      <p:sp>
        <p:nvSpPr>
          <p:cNvPr id="5" name="">
            <a:extLst xmlns:a="http://schemas.openxmlformats.org/drawingml/2006/main">
              <a:ext uri="{FF2B5EF4-FFF2-40B4-BE49-F238E27FC236}">
                <a16:creationId xmlns:a16="http://schemas.microsoft.com/office/drawing/2014/main" id="{C0BCAA84-3519-4951-A78C-2394B945DEE1}"/>
              </a:ext>
            </a:extLst>
          </p:cNvPr>
          <p:cNvSpPr>
            <a:spLocks xmlns:a="http://schemas.openxmlformats.org/drawingml/2006/main" noGrp="1"/>
          </p:cNvSpPr>
          <p:nvPr/>
        </p:nvSpPr>
        <p:spPr>
          <a:xfrm xmlns:a="http://schemas.openxmlformats.org/drawingml/2006/main">
            <a:off x="685800" y="3048000"/>
            <a:ext cx="5048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D3C"/>
                </a:solidFill>
                <a:latin typeface="Arial"/>
                <a:ea typeface="Arial"/>
                <a:cs typeface="Arial"/>
              </a:defRPr>
            </a:defPPr>
          </a:lstStyle>
          <a:p xmlns:a="http://schemas.openxmlformats.org/drawingml/2006/main">
            <a:pPr>
              <a:defRPr sz="2025" b="0">
                <a:solidFill>
                  <a:srgbClr val="142D3C"/>
                </a:solidFill>
                <a:latin typeface="Arial"/>
                <a:ea typeface="Arial"/>
                <a:cs typeface="Arial"/>
              </a:defRPr>
            </a:pPr>
            <a:r>
              <a:rPr sz="2025" b="0">
                <a:solidFill>
                  <a:srgbClr val="142D3C"/>
                </a:solidFill>
                <a:latin typeface="Arial"/>
                <a:ea typeface="Arial"/>
                <a:cs typeface="Arial"/>
              </a:rPr>
              <a:t>330 backend / 39 frontend tests</a:t>
            </a:r>
          </a:p>
          <a:p xmlns:a="http://schemas.openxmlformats.org/drawingml/2006/main">
            <a:pPr>
              <a:defRPr sz="2025" b="0">
                <a:solidFill>
                  <a:srgbClr val="142D3C"/>
                </a:solidFill>
                <a:latin typeface="Arial"/>
                <a:ea typeface="Arial"/>
                <a:cs typeface="Arial"/>
              </a:defRPr>
            </a:pPr>
            <a:r>
              <a:rPr sz="2025" b="0">
                <a:solidFill>
                  <a:srgbClr val="142D3C"/>
                </a:solidFill>
                <a:latin typeface="Arial"/>
                <a:ea typeface="Arial"/>
                <a:cs typeface="Arial"/>
              </a:rPr>
              <a:t>5 completed real inference runs</a:t>
            </a:r>
          </a:p>
          <a:p xmlns:a="http://schemas.openxmlformats.org/drawingml/2006/main">
            <a:pPr>
              <a:defRPr sz="2025" b="0">
                <a:solidFill>
                  <a:srgbClr val="142D3C"/>
                </a:solidFill>
                <a:latin typeface="Arial"/>
                <a:ea typeface="Arial"/>
                <a:cs typeface="Arial"/>
              </a:defRPr>
            </a:pPr>
            <a:r>
              <a:rPr sz="2025" b="0">
                <a:solidFill>
                  <a:srgbClr val="142D3C"/>
                </a:solidFill>
                <a:latin typeface="Arial"/>
                <a:ea typeface="Arial"/>
                <a:cs typeface="Arial"/>
              </a:rPr>
              <a:t>64 preserved call traces</a:t>
            </a:r>
          </a:p>
          <a:p xmlns:a="http://schemas.openxmlformats.org/drawingml/2006/main">
            <a:pPr>
              <a:defRPr sz="2025" b="0">
                <a:solidFill>
                  <a:srgbClr val="142D3C"/>
                </a:solidFill>
                <a:latin typeface="Arial"/>
                <a:ea typeface="Arial"/>
                <a:cs typeface="Arial"/>
              </a:defRPr>
            </a:pPr>
            <a:r>
              <a:rPr sz="2025" b="0">
                <a:solidFill>
                  <a:srgbClr val="142D3C"/>
                </a:solidFill>
                <a:latin typeface="Arial"/>
                <a:ea typeface="Arial"/>
                <a:cs typeface="Arial"/>
              </a:rPr>
              <a:t>Snapshot-bound release controls</a:t>
            </a:r>
          </a:p>
        </p:txBody>
      </p:sp>
      <p:sp>
        <p:nvSpPr>
          <p:cNvPr id="6" name="">
            <a:extLst xmlns:a="http://schemas.openxmlformats.org/drawingml/2006/main">
              <a:ext uri="{FF2B5EF4-FFF2-40B4-BE49-F238E27FC236}">
                <a16:creationId xmlns:a16="http://schemas.microsoft.com/office/drawing/2014/main" id="{3708E189-EC13-4E57-8846-3614CFB1E55C}"/>
              </a:ext>
            </a:extLst>
          </p:cNvPr>
          <p:cNvSpPr>
            <a:spLocks xmlns:a="http://schemas.openxmlformats.org/drawingml/2006/main" noGrp="1"/>
          </p:cNvSpPr>
          <p:nvPr/>
        </p:nvSpPr>
        <p:spPr>
          <a:xfrm xmlns:a="http://schemas.openxmlformats.org/drawingml/2006/main">
            <a:off x="6477000" y="2286000"/>
            <a:ext cx="5029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F69"/>
                </a:solidFill>
                <a:latin typeface="Arial"/>
                <a:ea typeface="Arial"/>
                <a:cs typeface="Arial"/>
              </a:defRPr>
            </a:defPPr>
          </a:lstStyle>
          <a:p xmlns:a="http://schemas.openxmlformats.org/drawingml/2006/main">
            <a:pPr>
              <a:defRPr sz="2325" b="1">
                <a:solidFill>
                  <a:srgbClr val="176F69"/>
                </a:solidFill>
                <a:latin typeface="Arial"/>
                <a:ea typeface="Arial"/>
                <a:cs typeface="Arial"/>
              </a:defRPr>
            </a:pPr>
            <a:r>
              <a:rPr sz="2325" b="1">
                <a:solidFill>
                  <a:srgbClr val="176F69"/>
                </a:solidFill>
                <a:latin typeface="Arial"/>
                <a:ea typeface="Arial"/>
                <a:cs typeface="Arial"/>
              </a:rPr>
              <a:t>Still to validate</a:t>
            </a:r>
          </a:p>
        </p:txBody>
      </p:sp>
      <p:sp>
        <p:nvSpPr>
          <p:cNvPr id="7" name="">
            <a:extLst xmlns:a="http://schemas.openxmlformats.org/drawingml/2006/main">
              <a:ext uri="{FF2B5EF4-FFF2-40B4-BE49-F238E27FC236}">
                <a16:creationId xmlns:a16="http://schemas.microsoft.com/office/drawing/2014/main" id="{A46A7415-11C8-4C7D-8246-CFABC3868A38}"/>
              </a:ext>
            </a:extLst>
          </p:cNvPr>
          <p:cNvSpPr>
            <a:spLocks xmlns:a="http://schemas.openxmlformats.org/drawingml/2006/main" noGrp="1"/>
          </p:cNvSpPr>
          <p:nvPr/>
        </p:nvSpPr>
        <p:spPr>
          <a:xfrm xmlns:a="http://schemas.openxmlformats.org/drawingml/2006/main">
            <a:off x="6477000" y="3048000"/>
            <a:ext cx="50292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D3C"/>
                </a:solidFill>
                <a:latin typeface="Arial"/>
                <a:ea typeface="Arial"/>
                <a:cs typeface="Arial"/>
              </a:defRPr>
            </a:defPPr>
          </a:lstStyle>
          <a:p xmlns:a="http://schemas.openxmlformats.org/drawingml/2006/main">
            <a:pPr>
              <a:defRPr sz="2025" b="0">
                <a:solidFill>
                  <a:srgbClr val="142D3C"/>
                </a:solidFill>
                <a:latin typeface="Arial"/>
                <a:ea typeface="Arial"/>
                <a:cs typeface="Arial"/>
              </a:defRPr>
            </a:pPr>
            <a:r>
              <a:rPr sz="2025" b="0">
                <a:solidFill>
                  <a:srgbClr val="142D3C"/>
                </a:solidFill>
                <a:latin typeface="Arial"/>
                <a:ea typeface="Arial"/>
                <a:cs typeface="Arial"/>
              </a:rPr>
              <a:t>Held-out model / semantic quality</a:t>
            </a:r>
          </a:p>
          <a:p xmlns:a="http://schemas.openxmlformats.org/drawingml/2006/main">
            <a:pPr>
              <a:defRPr sz="2025" b="0">
                <a:solidFill>
                  <a:srgbClr val="142D3C"/>
                </a:solidFill>
                <a:latin typeface="Arial"/>
                <a:ea typeface="Arial"/>
                <a:cs typeface="Arial"/>
              </a:defRPr>
            </a:pPr>
            <a:r>
              <a:rPr sz="2025" b="0">
                <a:solidFill>
                  <a:srgbClr val="142D3C"/>
                </a:solidFill>
                <a:latin typeface="Arial"/>
                <a:ea typeface="Arial"/>
                <a:cs typeface="Arial"/>
              </a:rPr>
              <a:t>Engineering expert decisions</a:t>
            </a:r>
          </a:p>
          <a:p xmlns:a="http://schemas.openxmlformats.org/drawingml/2006/main">
            <a:pPr>
              <a:defRPr sz="2025" b="0">
                <a:solidFill>
                  <a:srgbClr val="142D3C"/>
                </a:solidFill>
                <a:latin typeface="Arial"/>
                <a:ea typeface="Arial"/>
                <a:cs typeface="Arial"/>
              </a:defRPr>
            </a:pPr>
            <a:r>
              <a:rPr sz="2025" b="0">
                <a:solidFill>
                  <a:srgbClr val="142D3C"/>
                </a:solidFill>
                <a:latin typeface="Arial"/>
                <a:ea typeface="Arial"/>
                <a:cs typeface="Arial"/>
              </a:rPr>
              <a:t>Customer workflow and economics</a:t>
            </a:r>
          </a:p>
          <a:p xmlns:a="http://schemas.openxmlformats.org/drawingml/2006/main">
            <a:pPr>
              <a:defRPr sz="2025" b="0">
                <a:solidFill>
                  <a:srgbClr val="142D3C"/>
                </a:solidFill>
                <a:latin typeface="Arial"/>
                <a:ea typeface="Arial"/>
                <a:cs typeface="Arial"/>
              </a:defRPr>
            </a:pPr>
            <a:r>
              <a:rPr sz="2025" b="0">
                <a:solidFill>
                  <a:srgbClr val="142D3C"/>
                </a:solidFill>
                <a:latin typeface="Arial"/>
                <a:ea typeface="Arial"/>
                <a:cs typeface="Arial"/>
              </a:rPr>
              <a:t>Production recovery / security</a:t>
            </a:r>
          </a:p>
        </p:txBody>
      </p:sp>
      <p:sp>
        <p:nvSpPr>
          <p:cNvPr id="8" name="">
            <a:extLst xmlns:a="http://schemas.openxmlformats.org/drawingml/2006/main">
              <a:ext uri="{FF2B5EF4-FFF2-40B4-BE49-F238E27FC236}">
                <a16:creationId xmlns:a16="http://schemas.microsoft.com/office/drawing/2014/main" id="{A4912B2A-15F6-4B22-833A-A5C436E47220}"/>
              </a:ext>
            </a:extLst>
          </p:cNvPr>
          <p:cNvSpPr>
            <a:spLocks xmlns:a="http://schemas.openxmlformats.org/drawingml/2006/main" noGrp="1"/>
          </p:cNvSpPr>
          <p:nvPr/>
        </p:nvSpPr>
        <p:spPr>
          <a:xfrm xmlns:a="http://schemas.openxmlformats.org/drawingml/2006/main">
            <a:off x="685800" y="572452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D3C"/>
                </a:solidFill>
                <a:latin typeface="Arial"/>
                <a:ea typeface="Arial"/>
                <a:cs typeface="Arial"/>
              </a:defRPr>
            </a:defPPr>
          </a:lstStyle>
          <a:p xmlns:a="http://schemas.openxmlformats.org/drawingml/2006/main">
            <a:pPr>
              <a:defRPr sz="2175" b="1">
                <a:solidFill>
                  <a:srgbClr val="142D3C"/>
                </a:solidFill>
                <a:latin typeface="Arial"/>
                <a:ea typeface="Arial"/>
                <a:cs typeface="Arial"/>
              </a:defRPr>
            </a:pPr>
            <a:r>
              <a:rPr sz="2175" b="1">
                <a:solidFill>
                  <a:srgbClr val="142D3C"/>
                </a:solidFill>
                <a:latin typeface="Arial"/>
                <a:ea typeface="Arial"/>
                <a:cs typeface="Arial"/>
              </a:rPr>
              <a:t>A real source starts the review. Release still needs applicable proof.</a:t>
            </a:r>
          </a:p>
        </p:txBody>
      </p:sp>
    </p:spTree>
    <p:extLst>
      <p:ext uri="{BB962C8B-B14F-4D97-AF65-F5344CB8AC3E}">
        <p14:creationId xmlns:p14="http://schemas.microsoft.com/office/powerpoint/2010/main" val="1226683614"/>
      </p:ext>
    </p:extLst>
  </p:cSld>
</p:sld>
</file>

<file path=ppt/slides/slide1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E379EC4-980D-4DD2-AA43-9132FFCA859B}"/>
              </a:ext>
            </a:extLst>
          </p:cNvPr>
          <p:cNvSpPr>
            <a:spLocks xmlns:a="http://schemas.openxmlformats.org/drawingml/2006/main" noGrp="1"/>
          </p:cNvSpPr>
          <p:nvPr/>
        </p:nvSpPr>
        <p:spPr>
          <a:xfrm xmlns:a="http://schemas.openxmlformats.org/drawingml/2006/main">
            <a:off x="685800" y="4762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2D3C"/>
                </a:solidFill>
                <a:latin typeface="Arial"/>
                <a:ea typeface="Arial"/>
                <a:cs typeface="Arial"/>
              </a:defRPr>
            </a:defPPr>
          </a:lstStyle>
          <a:p xmlns:a="http://schemas.openxmlformats.org/drawingml/2006/main">
            <a:pPr>
              <a:defRPr sz="3225" b="1">
                <a:solidFill>
                  <a:srgbClr val="142D3C"/>
                </a:solidFill>
                <a:latin typeface="Arial"/>
                <a:ea typeface="Arial"/>
                <a:cs typeface="Arial"/>
              </a:defRPr>
            </a:pPr>
            <a:r>
              <a:rPr sz="3225" b="1">
                <a:solidFill>
                  <a:srgbClr val="142D3C"/>
                </a:solidFill>
                <a:latin typeface="Arial"/>
                <a:ea typeface="Arial"/>
                <a:cs typeface="Arial"/>
              </a:rPr>
              <a:t>Appendix / Twenty planned extensions</a:t>
            </a:r>
          </a:p>
        </p:txBody>
      </p:sp>
      <p:sp>
        <p:nvSpPr>
          <p:cNvPr id="2" name="">
            <a:extLst xmlns:a="http://schemas.openxmlformats.org/drawingml/2006/main">
              <a:ext uri="{FF2B5EF4-FFF2-40B4-BE49-F238E27FC236}">
                <a16:creationId xmlns:a16="http://schemas.microsoft.com/office/drawing/2014/main" id="{D8D63154-0F6E-4439-9B0B-7F517357C0A9}"/>
              </a:ext>
            </a:extLst>
          </p:cNvPr>
          <p:cNvSpPr>
            <a:spLocks xmlns:a="http://schemas.openxmlformats.org/drawingml/2006/main" noGrp="1"/>
          </p:cNvSpPr>
          <p:nvPr/>
        </p:nvSpPr>
        <p:spPr>
          <a:xfrm xmlns:a="http://schemas.openxmlformats.org/drawingml/2006/main">
            <a:off x="685800" y="12954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36B"/>
                </a:solidFill>
                <a:latin typeface="Arial"/>
                <a:ea typeface="Arial"/>
                <a:cs typeface="Arial"/>
              </a:defRPr>
            </a:defPPr>
          </a:lstStyle>
          <a:p xmlns:a="http://schemas.openxmlformats.org/drawingml/2006/main">
            <a:pPr>
              <a:defRPr sz="1800" b="0">
                <a:solidFill>
                  <a:srgbClr val="53636B"/>
                </a:solidFill>
                <a:latin typeface="Arial"/>
                <a:ea typeface="Arial"/>
                <a:cs typeface="Arial"/>
              </a:defRPr>
            </a:pPr>
            <a:r>
              <a:rPr sz="1800" b="0">
                <a:solidFill>
                  <a:srgbClr val="53636B"/>
                </a:solidFill>
                <a:latin typeface="Arial"/>
                <a:ea typeface="Arial"/>
                <a:cs typeface="Arial"/>
              </a:rPr>
              <a:t>Sequenced expansion hypotheses; none is a current-demo integration</a:t>
            </a:r>
          </a:p>
        </p:txBody>
      </p:sp>
      <p:sp>
        <p:nvSpPr>
          <p:cNvPr id="3" name="">
            <a:extLst xmlns:a="http://schemas.openxmlformats.org/drawingml/2006/main">
              <a:ext uri="{FF2B5EF4-FFF2-40B4-BE49-F238E27FC236}">
                <a16:creationId xmlns:a16="http://schemas.microsoft.com/office/drawing/2014/main" id="{04793F6A-B035-4EB4-8103-A1E8081257B8}"/>
              </a:ext>
            </a:extLst>
          </p:cNvPr>
          <p:cNvSpPr>
            <a:spLocks xmlns:a="http://schemas.openxmlformats.org/drawingml/2006/main" noGrp="1"/>
          </p:cNvSpPr>
          <p:nvPr/>
        </p:nvSpPr>
        <p:spPr>
          <a:xfrm xmlns:a="http://schemas.openxmlformats.org/drawingml/2006/main">
            <a:off x="685800" y="6343650"/>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B"/>
                </a:solidFill>
                <a:latin typeface="Arial"/>
                <a:ea typeface="Arial"/>
                <a:cs typeface="Arial"/>
              </a:defRPr>
            </a:defPPr>
          </a:lstStyle>
          <a:p xmlns:a="http://schemas.openxmlformats.org/drawingml/2006/main">
            <a:pPr>
              <a:defRPr sz="1200" b="0">
                <a:solidFill>
                  <a:srgbClr val="53636B"/>
                </a:solidFill>
                <a:latin typeface="Arial"/>
                <a:ea typeface="Arial"/>
                <a:cs typeface="Arial"/>
              </a:defRPr>
            </a:pPr>
            <a:r>
              <a:rPr sz="1200" b="0">
                <a:solidFill>
                  <a:srgbClr val="53636B"/>
                </a:solidFill>
                <a:latin typeface="Arial"/>
                <a:ea typeface="Arial"/>
                <a:cs typeface="Arial"/>
              </a:rPr>
              <a:t>TenderProof / SwissChivers / 11</a:t>
            </a:r>
          </a:p>
        </p:txBody>
      </p:sp>
      <p:sp>
        <p:nvSpPr>
          <p:cNvPr id="4" name="">
            <a:extLst xmlns:a="http://schemas.openxmlformats.org/drawingml/2006/main">
              <a:ext uri="{FF2B5EF4-FFF2-40B4-BE49-F238E27FC236}">
                <a16:creationId xmlns:a16="http://schemas.microsoft.com/office/drawing/2014/main" id="{D116D847-4FB7-42F5-84A4-70FA4F084CF5}"/>
              </a:ext>
            </a:extLst>
          </p:cNvPr>
          <p:cNvSpPr>
            <a:spLocks xmlns:a="http://schemas.openxmlformats.org/drawingml/2006/main" noGrp="1"/>
          </p:cNvSpPr>
          <p:nvPr/>
        </p:nvSpPr>
        <p:spPr>
          <a:xfrm xmlns:a="http://schemas.openxmlformats.org/drawingml/2006/main">
            <a:off x="685800" y="2238375"/>
            <a:ext cx="2533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6F69"/>
                </a:solidFill>
                <a:latin typeface="Arial"/>
                <a:ea typeface="Arial"/>
                <a:cs typeface="Arial"/>
              </a:defRPr>
            </a:defPPr>
          </a:lstStyle>
          <a:p xmlns:a="http://schemas.openxmlformats.org/drawingml/2006/main">
            <a:pPr>
              <a:defRPr sz="1800" b="1">
                <a:solidFill>
                  <a:srgbClr val="176F69"/>
                </a:solidFill>
                <a:latin typeface="Arial"/>
                <a:ea typeface="Arial"/>
                <a:cs typeface="Arial"/>
              </a:defRPr>
            </a:pPr>
            <a:r>
              <a:rPr sz="1800" b="1">
                <a:solidFill>
                  <a:srgbClr val="176F69"/>
                </a:solidFill>
                <a:latin typeface="Arial"/>
                <a:ea typeface="Arial"/>
                <a:cs typeface="Arial"/>
              </a:rPr>
              <a:t>1 / Integrate</a:t>
            </a:r>
          </a:p>
        </p:txBody>
      </p:sp>
      <p:sp>
        <p:nvSpPr>
          <p:cNvPr id="5" name="">
            <a:extLst xmlns:a="http://schemas.openxmlformats.org/drawingml/2006/main">
              <a:ext uri="{FF2B5EF4-FFF2-40B4-BE49-F238E27FC236}">
                <a16:creationId xmlns:a16="http://schemas.microsoft.com/office/drawing/2014/main" id="{7098B51D-EE16-4BEE-B09E-B9525E50A89B}"/>
              </a:ext>
            </a:extLst>
          </p:cNvPr>
          <p:cNvSpPr>
            <a:spLocks xmlns:a="http://schemas.openxmlformats.org/drawingml/2006/main" noGrp="1"/>
          </p:cNvSpPr>
          <p:nvPr/>
        </p:nvSpPr>
        <p:spPr>
          <a:xfrm xmlns:a="http://schemas.openxmlformats.org/drawingml/2006/main">
            <a:off x="685800" y="2981325"/>
            <a:ext cx="2533650" cy="19050"/>
          </a:xfrm>
          <a:prstGeom xmlns:a="http://schemas.openxmlformats.org/drawingml/2006/main" prst="rect">
            <a:avLst/>
          </a:prstGeom>
          <a:solidFill xmlns:a="http://schemas.openxmlformats.org/drawingml/2006/main">
            <a:srgbClr val="C5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BA59421-58BA-46C2-90DA-519B2C7AF76C}"/>
              </a:ext>
            </a:extLst>
          </p:cNvPr>
          <p:cNvSpPr>
            <a:spLocks xmlns:a="http://schemas.openxmlformats.org/drawingml/2006/main" noGrp="1"/>
          </p:cNvSpPr>
          <p:nvPr/>
        </p:nvSpPr>
        <p:spPr>
          <a:xfrm xmlns:a="http://schemas.openxmlformats.org/drawingml/2006/main">
            <a:off x="685800" y="328612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05  ERP purchase orders</a:t>
            </a:r>
          </a:p>
        </p:txBody>
      </p:sp>
      <p:sp>
        <p:nvSpPr>
          <p:cNvPr id="7" name="">
            <a:extLst xmlns:a="http://schemas.openxmlformats.org/drawingml/2006/main">
              <a:ext uri="{FF2B5EF4-FFF2-40B4-BE49-F238E27FC236}">
                <a16:creationId xmlns:a16="http://schemas.microsoft.com/office/drawing/2014/main" id="{AE39F203-A5C9-46E0-BB55-925A5B79E28F}"/>
              </a:ext>
            </a:extLst>
          </p:cNvPr>
          <p:cNvSpPr>
            <a:spLocks xmlns:a="http://schemas.openxmlformats.org/drawingml/2006/main" noGrp="1"/>
          </p:cNvSpPr>
          <p:nvPr/>
        </p:nvSpPr>
        <p:spPr>
          <a:xfrm xmlns:a="http://schemas.openxmlformats.org/drawingml/2006/main">
            <a:off x="685800" y="380047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06  PLM synchronization</a:t>
            </a:r>
          </a:p>
        </p:txBody>
      </p:sp>
      <p:sp>
        <p:nvSpPr>
          <p:cNvPr id="8" name="">
            <a:extLst xmlns:a="http://schemas.openxmlformats.org/drawingml/2006/main">
              <a:ext uri="{FF2B5EF4-FFF2-40B4-BE49-F238E27FC236}">
                <a16:creationId xmlns:a16="http://schemas.microsoft.com/office/drawing/2014/main" id="{231637C0-7A26-4A36-B55E-F3EF049BA0D8}"/>
              </a:ext>
            </a:extLst>
          </p:cNvPr>
          <p:cNvSpPr>
            <a:spLocks xmlns:a="http://schemas.openxmlformats.org/drawingml/2006/main" noGrp="1"/>
          </p:cNvSpPr>
          <p:nvPr/>
        </p:nvSpPr>
        <p:spPr>
          <a:xfrm xmlns:a="http://schemas.openxmlformats.org/drawingml/2006/main">
            <a:off x="685800" y="431482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07  Supplier clarifications</a:t>
            </a:r>
          </a:p>
        </p:txBody>
      </p:sp>
      <p:sp>
        <p:nvSpPr>
          <p:cNvPr id="9" name="">
            <a:extLst xmlns:a="http://schemas.openxmlformats.org/drawingml/2006/main">
              <a:ext uri="{FF2B5EF4-FFF2-40B4-BE49-F238E27FC236}">
                <a16:creationId xmlns:a16="http://schemas.microsoft.com/office/drawing/2014/main" id="{BC67F16D-61AD-4D69-B764-A2D128DA3B87}"/>
              </a:ext>
            </a:extLst>
          </p:cNvPr>
          <p:cNvSpPr>
            <a:spLocks xmlns:a="http://schemas.openxmlformats.org/drawingml/2006/main" noGrp="1"/>
          </p:cNvSpPr>
          <p:nvPr/>
        </p:nvSpPr>
        <p:spPr>
          <a:xfrm xmlns:a="http://schemas.openxmlformats.org/drawingml/2006/main">
            <a:off x="685800" y="482917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08  Corporate SSO / authority</a:t>
            </a:r>
          </a:p>
        </p:txBody>
      </p:sp>
      <p:sp>
        <p:nvSpPr>
          <p:cNvPr id="10" name="">
            <a:extLst xmlns:a="http://schemas.openxmlformats.org/drawingml/2006/main">
              <a:ext uri="{FF2B5EF4-FFF2-40B4-BE49-F238E27FC236}">
                <a16:creationId xmlns:a16="http://schemas.microsoft.com/office/drawing/2014/main" id="{8553C281-EB52-4A1B-923C-802CBED78CA1}"/>
              </a:ext>
            </a:extLst>
          </p:cNvPr>
          <p:cNvSpPr>
            <a:spLocks xmlns:a="http://schemas.openxmlformats.org/drawingml/2006/main" noGrp="1"/>
          </p:cNvSpPr>
          <p:nvPr/>
        </p:nvSpPr>
        <p:spPr>
          <a:xfrm xmlns:a="http://schemas.openxmlformats.org/drawingml/2006/main">
            <a:off x="685800" y="534352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09  Cross-project packages</a:t>
            </a:r>
          </a:p>
        </p:txBody>
      </p:sp>
      <p:sp>
        <p:nvSpPr>
          <p:cNvPr id="11" name="">
            <a:extLst xmlns:a="http://schemas.openxmlformats.org/drawingml/2006/main">
              <a:ext uri="{FF2B5EF4-FFF2-40B4-BE49-F238E27FC236}">
                <a16:creationId xmlns:a16="http://schemas.microsoft.com/office/drawing/2014/main" id="{F98028EE-1191-421C-8494-895AA4685C35}"/>
              </a:ext>
            </a:extLst>
          </p:cNvPr>
          <p:cNvSpPr>
            <a:spLocks xmlns:a="http://schemas.openxmlformats.org/drawingml/2006/main" noGrp="1"/>
          </p:cNvSpPr>
          <p:nvPr/>
        </p:nvSpPr>
        <p:spPr>
          <a:xfrm xmlns:a="http://schemas.openxmlformats.org/drawingml/2006/main">
            <a:off x="3448050" y="2238375"/>
            <a:ext cx="2533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6F69"/>
                </a:solidFill>
                <a:latin typeface="Arial"/>
                <a:ea typeface="Arial"/>
                <a:cs typeface="Arial"/>
              </a:defRPr>
            </a:defPPr>
          </a:lstStyle>
          <a:p xmlns:a="http://schemas.openxmlformats.org/drawingml/2006/main">
            <a:pPr>
              <a:defRPr sz="1800" b="1">
                <a:solidFill>
                  <a:srgbClr val="176F69"/>
                </a:solidFill>
                <a:latin typeface="Arial"/>
                <a:ea typeface="Arial"/>
                <a:cs typeface="Arial"/>
              </a:defRPr>
            </a:pPr>
            <a:r>
              <a:rPr sz="1800" b="1">
                <a:solidFill>
                  <a:srgbClr val="176F69"/>
                </a:solidFill>
                <a:latin typeface="Arial"/>
                <a:ea typeface="Arial"/>
                <a:cs typeface="Arial"/>
              </a:rPr>
              <a:t>2 / Broaden engineering</a:t>
            </a:r>
          </a:p>
        </p:txBody>
      </p:sp>
      <p:sp>
        <p:nvSpPr>
          <p:cNvPr id="12" name="">
            <a:extLst xmlns:a="http://schemas.openxmlformats.org/drawingml/2006/main">
              <a:ext uri="{FF2B5EF4-FFF2-40B4-BE49-F238E27FC236}">
                <a16:creationId xmlns:a16="http://schemas.microsoft.com/office/drawing/2014/main" id="{F1990C8F-F5C4-486B-B7F4-9E92AEF477E3}"/>
              </a:ext>
            </a:extLst>
          </p:cNvPr>
          <p:cNvSpPr>
            <a:spLocks xmlns:a="http://schemas.openxmlformats.org/drawingml/2006/main" noGrp="1"/>
          </p:cNvSpPr>
          <p:nvPr/>
        </p:nvSpPr>
        <p:spPr>
          <a:xfrm xmlns:a="http://schemas.openxmlformats.org/drawingml/2006/main">
            <a:off x="3448050" y="2981325"/>
            <a:ext cx="2533650" cy="19050"/>
          </a:xfrm>
          <a:prstGeom xmlns:a="http://schemas.openxmlformats.org/drawingml/2006/main" prst="rect">
            <a:avLst/>
          </a:prstGeom>
          <a:solidFill xmlns:a="http://schemas.openxmlformats.org/drawingml/2006/main">
            <a:srgbClr val="C5CEC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D51EF34-7623-4E34-9C27-9D52C5D699A0}"/>
              </a:ext>
            </a:extLst>
          </p:cNvPr>
          <p:cNvSpPr>
            <a:spLocks xmlns:a="http://schemas.openxmlformats.org/drawingml/2006/main" noGrp="1"/>
          </p:cNvSpPr>
          <p:nvPr/>
        </p:nvSpPr>
        <p:spPr>
          <a:xfrm xmlns:a="http://schemas.openxmlformats.org/drawingml/2006/main">
            <a:off x="3448050" y="328612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10  Switchgear / protection</a:t>
            </a:r>
          </a:p>
        </p:txBody>
      </p:sp>
      <p:sp>
        <p:nvSpPr>
          <p:cNvPr id="14" name="">
            <a:extLst xmlns:a="http://schemas.openxmlformats.org/drawingml/2006/main">
              <a:ext uri="{FF2B5EF4-FFF2-40B4-BE49-F238E27FC236}">
                <a16:creationId xmlns:a16="http://schemas.microsoft.com/office/drawing/2014/main" id="{7708C353-7501-45AA-9BE2-1B80CE12C5D1}"/>
              </a:ext>
            </a:extLst>
          </p:cNvPr>
          <p:cNvSpPr>
            <a:spLocks xmlns:a="http://schemas.openxmlformats.org/drawingml/2006/main" noGrp="1"/>
          </p:cNvSpPr>
          <p:nvPr/>
        </p:nvSpPr>
        <p:spPr>
          <a:xfrm xmlns:a="http://schemas.openxmlformats.org/drawingml/2006/main">
            <a:off x="3448050" y="380047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11  Battery / inverter schemas</a:t>
            </a:r>
          </a:p>
        </p:txBody>
      </p:sp>
      <p:sp>
        <p:nvSpPr>
          <p:cNvPr id="15" name="">
            <a:extLst xmlns:a="http://schemas.openxmlformats.org/drawingml/2006/main">
              <a:ext uri="{FF2B5EF4-FFF2-40B4-BE49-F238E27FC236}">
                <a16:creationId xmlns:a16="http://schemas.microsoft.com/office/drawing/2014/main" id="{4B8038E0-1BCD-42EC-8F01-6B872FCE174B}"/>
              </a:ext>
            </a:extLst>
          </p:cNvPr>
          <p:cNvSpPr>
            <a:spLocks xmlns:a="http://schemas.openxmlformats.org/drawingml/2006/main" noGrp="1"/>
          </p:cNvSpPr>
          <p:nvPr/>
        </p:nvSpPr>
        <p:spPr>
          <a:xfrm xmlns:a="http://schemas.openxmlformats.org/drawingml/2006/main">
            <a:off x="3448050" y="431482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12  BIM / IFC asset links</a:t>
            </a:r>
          </a:p>
        </p:txBody>
      </p:sp>
      <p:sp>
        <p:nvSpPr>
          <p:cNvPr id="16" name="">
            <a:extLst xmlns:a="http://schemas.openxmlformats.org/drawingml/2006/main">
              <a:ext uri="{FF2B5EF4-FFF2-40B4-BE49-F238E27FC236}">
                <a16:creationId xmlns:a16="http://schemas.microsoft.com/office/drawing/2014/main" id="{A37924EB-BA6E-4AE9-9C26-B329437AE9A0}"/>
              </a:ext>
            </a:extLst>
          </p:cNvPr>
          <p:cNvSpPr>
            <a:spLocks xmlns:a="http://schemas.openxmlformats.org/drawingml/2006/main" noGrp="1"/>
          </p:cNvSpPr>
          <p:nvPr/>
        </p:nvSpPr>
        <p:spPr>
          <a:xfrm xmlns:a="http://schemas.openxmlformats.org/drawingml/2006/main">
            <a:off x="3448050" y="482917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13  Simulation adapters</a:t>
            </a:r>
          </a:p>
        </p:txBody>
      </p:sp>
      <p:sp>
        <p:nvSpPr>
          <p:cNvPr id="17" name="">
            <a:extLst xmlns:a="http://schemas.openxmlformats.org/drawingml/2006/main">
              <a:ext uri="{FF2B5EF4-FFF2-40B4-BE49-F238E27FC236}">
                <a16:creationId xmlns:a16="http://schemas.microsoft.com/office/drawing/2014/main" id="{2A58CE3E-2D8F-4283-B3C7-AD9EC8F85677}"/>
              </a:ext>
            </a:extLst>
          </p:cNvPr>
          <p:cNvSpPr>
            <a:spLocks xmlns:a="http://schemas.openxmlformats.org/drawingml/2006/main" noGrp="1"/>
          </p:cNvSpPr>
          <p:nvPr/>
        </p:nvSpPr>
        <p:spPr>
          <a:xfrm xmlns:a="http://schemas.openxmlformats.org/drawingml/2006/main">
            <a:off x="3448050" y="534352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14  Licensed standards library</a:t>
            </a:r>
          </a:p>
        </p:txBody>
      </p:sp>
      <p:sp>
        <p:nvSpPr>
          <p:cNvPr id="18" name="">
            <a:extLst xmlns:a="http://schemas.openxmlformats.org/drawingml/2006/main">
              <a:ext uri="{FF2B5EF4-FFF2-40B4-BE49-F238E27FC236}">
                <a16:creationId xmlns:a16="http://schemas.microsoft.com/office/drawing/2014/main" id="{CC0CDDA9-2468-448B-A5EB-3EF5B9C5FD6F}"/>
              </a:ext>
            </a:extLst>
          </p:cNvPr>
          <p:cNvSpPr>
            <a:spLocks xmlns:a="http://schemas.openxmlformats.org/drawingml/2006/main" noGrp="1"/>
          </p:cNvSpPr>
          <p:nvPr/>
        </p:nvSpPr>
        <p:spPr>
          <a:xfrm xmlns:a="http://schemas.openxmlformats.org/drawingml/2006/main">
            <a:off x="6210300" y="2238375"/>
            <a:ext cx="2533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6F69"/>
                </a:solidFill>
                <a:latin typeface="Arial"/>
                <a:ea typeface="Arial"/>
                <a:cs typeface="Arial"/>
              </a:defRPr>
            </a:defPPr>
          </a:lstStyle>
          <a:p xmlns:a="http://schemas.openxmlformats.org/drawingml/2006/main">
            <a:pPr>
              <a:defRPr sz="1800" b="1">
                <a:solidFill>
                  <a:srgbClr val="176F69"/>
                </a:solidFill>
                <a:latin typeface="Arial"/>
                <a:ea typeface="Arial"/>
                <a:cs typeface="Arial"/>
              </a:defRPr>
            </a:pPr>
            <a:r>
              <a:rPr sz="1800" b="1">
                <a:solidFill>
                  <a:srgbClr val="176F69"/>
                </a:solidFill>
                <a:latin typeface="Arial"/>
                <a:ea typeface="Arial"/>
                <a:cs typeface="Arial"/>
              </a:rPr>
              <a:t>3 / Follow execution</a:t>
            </a:r>
          </a:p>
        </p:txBody>
      </p:sp>
      <p:sp>
        <p:nvSpPr>
          <p:cNvPr id="19" name="">
            <a:extLst xmlns:a="http://schemas.openxmlformats.org/drawingml/2006/main">
              <a:ext uri="{FF2B5EF4-FFF2-40B4-BE49-F238E27FC236}">
                <a16:creationId xmlns:a16="http://schemas.microsoft.com/office/drawing/2014/main" id="{7A692659-466A-4671-B15B-4D2AFA3019E8}"/>
              </a:ext>
            </a:extLst>
          </p:cNvPr>
          <p:cNvSpPr>
            <a:spLocks xmlns:a="http://schemas.openxmlformats.org/drawingml/2006/main" noGrp="1"/>
          </p:cNvSpPr>
          <p:nvPr/>
        </p:nvSpPr>
        <p:spPr>
          <a:xfrm xmlns:a="http://schemas.openxmlformats.org/drawingml/2006/main">
            <a:off x="6210300" y="2981325"/>
            <a:ext cx="2533650" cy="19050"/>
          </a:xfrm>
          <a:prstGeom xmlns:a="http://schemas.openxmlformats.org/drawingml/2006/main" prst="rect">
            <a:avLst/>
          </a:prstGeom>
          <a:solidFill xmlns:a="http://schemas.openxmlformats.org/drawingml/2006/main">
            <a:srgbClr val="C5CEC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6671E53-1CDF-4AA9-BD93-7746C237369C}"/>
              </a:ext>
            </a:extLst>
          </p:cNvPr>
          <p:cNvSpPr>
            <a:spLocks xmlns:a="http://schemas.openxmlformats.org/drawingml/2006/main" noGrp="1"/>
          </p:cNvSpPr>
          <p:nvPr/>
        </p:nvSpPr>
        <p:spPr>
          <a:xfrm xmlns:a="http://schemas.openxmlformats.org/drawingml/2006/main">
            <a:off x="6210300" y="328612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15  Manufacturing hold points</a:t>
            </a:r>
          </a:p>
        </p:txBody>
      </p:sp>
      <p:sp>
        <p:nvSpPr>
          <p:cNvPr id="21" name="">
            <a:extLst xmlns:a="http://schemas.openxmlformats.org/drawingml/2006/main">
              <a:ext uri="{FF2B5EF4-FFF2-40B4-BE49-F238E27FC236}">
                <a16:creationId xmlns:a16="http://schemas.microsoft.com/office/drawing/2014/main" id="{993196AE-D2A8-4494-A6B2-C3BB0F46C6A9}"/>
              </a:ext>
            </a:extLst>
          </p:cNvPr>
          <p:cNvSpPr>
            <a:spLocks xmlns:a="http://schemas.openxmlformats.org/drawingml/2006/main" noGrp="1"/>
          </p:cNvSpPr>
          <p:nvPr/>
        </p:nvSpPr>
        <p:spPr>
          <a:xfrm xmlns:a="http://schemas.openxmlformats.org/drawingml/2006/main">
            <a:off x="6210300" y="380047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16  Shipping documentation</a:t>
            </a:r>
          </a:p>
        </p:txBody>
      </p:sp>
      <p:sp>
        <p:nvSpPr>
          <p:cNvPr id="22" name="">
            <a:extLst xmlns:a="http://schemas.openxmlformats.org/drawingml/2006/main">
              <a:ext uri="{FF2B5EF4-FFF2-40B4-BE49-F238E27FC236}">
                <a16:creationId xmlns:a16="http://schemas.microsoft.com/office/drawing/2014/main" id="{CCB55A93-2DF6-4191-B29A-AA51445C02E0}"/>
              </a:ext>
            </a:extLst>
          </p:cNvPr>
          <p:cNvSpPr>
            <a:spLocks xmlns:a="http://schemas.openxmlformats.org/drawingml/2006/main" noGrp="1"/>
          </p:cNvSpPr>
          <p:nvPr/>
        </p:nvSpPr>
        <p:spPr>
          <a:xfrm xmlns:a="http://schemas.openxmlformats.org/drawingml/2006/main">
            <a:off x="6210300" y="431482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17  Site acceptance</a:t>
            </a:r>
          </a:p>
        </p:txBody>
      </p:sp>
      <p:sp>
        <p:nvSpPr>
          <p:cNvPr id="23" name="">
            <a:extLst xmlns:a="http://schemas.openxmlformats.org/drawingml/2006/main">
              <a:ext uri="{FF2B5EF4-FFF2-40B4-BE49-F238E27FC236}">
                <a16:creationId xmlns:a16="http://schemas.microsoft.com/office/drawing/2014/main" id="{AC3B0C03-1501-433A-BD6F-25F591C88ABD}"/>
              </a:ext>
            </a:extLst>
          </p:cNvPr>
          <p:cNvSpPr>
            <a:spLocks xmlns:a="http://schemas.openxmlformats.org/drawingml/2006/main" noGrp="1"/>
          </p:cNvSpPr>
          <p:nvPr/>
        </p:nvSpPr>
        <p:spPr>
          <a:xfrm xmlns:a="http://schemas.openxmlformats.org/drawingml/2006/main">
            <a:off x="6210300" y="482917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18  Contract change orders</a:t>
            </a:r>
          </a:p>
        </p:txBody>
      </p:sp>
      <p:sp>
        <p:nvSpPr>
          <p:cNvPr id="24" name="">
            <a:extLst xmlns:a="http://schemas.openxmlformats.org/drawingml/2006/main">
              <a:ext uri="{FF2B5EF4-FFF2-40B4-BE49-F238E27FC236}">
                <a16:creationId xmlns:a16="http://schemas.microsoft.com/office/drawing/2014/main" id="{DD77DD15-F003-47CD-AAD3-9B37ED43C395}"/>
              </a:ext>
            </a:extLst>
          </p:cNvPr>
          <p:cNvSpPr>
            <a:spLocks xmlns:a="http://schemas.openxmlformats.org/drawingml/2006/main" noGrp="1"/>
          </p:cNvSpPr>
          <p:nvPr/>
        </p:nvSpPr>
        <p:spPr>
          <a:xfrm xmlns:a="http://schemas.openxmlformats.org/drawingml/2006/main">
            <a:off x="6210300" y="534352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19  Warranty investigations</a:t>
            </a:r>
          </a:p>
        </p:txBody>
      </p:sp>
      <p:sp>
        <p:nvSpPr>
          <p:cNvPr id="25" name="">
            <a:extLst xmlns:a="http://schemas.openxmlformats.org/drawingml/2006/main">
              <a:ext uri="{FF2B5EF4-FFF2-40B4-BE49-F238E27FC236}">
                <a16:creationId xmlns:a16="http://schemas.microsoft.com/office/drawing/2014/main" id="{9535405D-C10F-4DAB-BD09-300C4D437DAF}"/>
              </a:ext>
            </a:extLst>
          </p:cNvPr>
          <p:cNvSpPr>
            <a:spLocks xmlns:a="http://schemas.openxmlformats.org/drawingml/2006/main" noGrp="1"/>
          </p:cNvSpPr>
          <p:nvPr/>
        </p:nvSpPr>
        <p:spPr>
          <a:xfrm xmlns:a="http://schemas.openxmlformats.org/drawingml/2006/main">
            <a:off x="8972550" y="2238375"/>
            <a:ext cx="2533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6F69"/>
                </a:solidFill>
                <a:latin typeface="Arial"/>
                <a:ea typeface="Arial"/>
                <a:cs typeface="Arial"/>
              </a:defRPr>
            </a:defPPr>
          </a:lstStyle>
          <a:p xmlns:a="http://schemas.openxmlformats.org/drawingml/2006/main">
            <a:pPr>
              <a:defRPr sz="1800" b="1">
                <a:solidFill>
                  <a:srgbClr val="176F69"/>
                </a:solidFill>
                <a:latin typeface="Arial"/>
                <a:ea typeface="Arial"/>
                <a:cs typeface="Arial"/>
              </a:defRPr>
            </a:pPr>
            <a:r>
              <a:rPr sz="1800" b="1">
                <a:solidFill>
                  <a:srgbClr val="176F69"/>
                </a:solidFill>
                <a:latin typeface="Arial"/>
                <a:ea typeface="Arial"/>
                <a:cs typeface="Arial"/>
              </a:rPr>
              <a:t>4 / Learn and optimize</a:t>
            </a:r>
          </a:p>
        </p:txBody>
      </p:sp>
      <p:sp>
        <p:nvSpPr>
          <p:cNvPr id="26" name="">
            <a:extLst xmlns:a="http://schemas.openxmlformats.org/drawingml/2006/main">
              <a:ext uri="{FF2B5EF4-FFF2-40B4-BE49-F238E27FC236}">
                <a16:creationId xmlns:a16="http://schemas.microsoft.com/office/drawing/2014/main" id="{88C4433E-F3C6-4B16-8779-A5D1FD15096C}"/>
              </a:ext>
            </a:extLst>
          </p:cNvPr>
          <p:cNvSpPr>
            <a:spLocks xmlns:a="http://schemas.openxmlformats.org/drawingml/2006/main" noGrp="1"/>
          </p:cNvSpPr>
          <p:nvPr/>
        </p:nvSpPr>
        <p:spPr>
          <a:xfrm xmlns:a="http://schemas.openxmlformats.org/drawingml/2006/main">
            <a:off x="8972550" y="2981325"/>
            <a:ext cx="2533650" cy="19050"/>
          </a:xfrm>
          <a:prstGeom xmlns:a="http://schemas.openxmlformats.org/drawingml/2006/main" prst="rect">
            <a:avLst/>
          </a:prstGeom>
          <a:solidFill xmlns:a="http://schemas.openxmlformats.org/drawingml/2006/main">
            <a:srgbClr val="C5CEC9"/>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C205036-BA14-4112-8D10-4AB9E19B271A}"/>
              </a:ext>
            </a:extLst>
          </p:cNvPr>
          <p:cNvSpPr>
            <a:spLocks xmlns:a="http://schemas.openxmlformats.org/drawingml/2006/main" noGrp="1"/>
          </p:cNvSpPr>
          <p:nvPr/>
        </p:nvSpPr>
        <p:spPr>
          <a:xfrm xmlns:a="http://schemas.openxmlformats.org/drawingml/2006/main">
            <a:off x="8972550" y="328612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20  Lifecycle energy losses</a:t>
            </a:r>
          </a:p>
        </p:txBody>
      </p:sp>
      <p:sp>
        <p:nvSpPr>
          <p:cNvPr id="28" name="">
            <a:extLst xmlns:a="http://schemas.openxmlformats.org/drawingml/2006/main">
              <a:ext uri="{FF2B5EF4-FFF2-40B4-BE49-F238E27FC236}">
                <a16:creationId xmlns:a16="http://schemas.microsoft.com/office/drawing/2014/main" id="{50BE584C-C87E-4F1C-841A-D2793243FA4C}"/>
              </a:ext>
            </a:extLst>
          </p:cNvPr>
          <p:cNvSpPr>
            <a:spLocks xmlns:a="http://schemas.openxmlformats.org/drawingml/2006/main" noGrp="1"/>
          </p:cNvSpPr>
          <p:nvPr/>
        </p:nvSpPr>
        <p:spPr>
          <a:xfrm xmlns:a="http://schemas.openxmlformats.org/drawingml/2006/main">
            <a:off x="8972550" y="380047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21  Supplier outcome analytics</a:t>
            </a:r>
          </a:p>
        </p:txBody>
      </p:sp>
      <p:sp>
        <p:nvSpPr>
          <p:cNvPr id="29" name="">
            <a:extLst xmlns:a="http://schemas.openxmlformats.org/drawingml/2006/main">
              <a:ext uri="{FF2B5EF4-FFF2-40B4-BE49-F238E27FC236}">
                <a16:creationId xmlns:a16="http://schemas.microsoft.com/office/drawing/2014/main" id="{D15F137F-3732-4294-93D3-94A7A755B640}"/>
              </a:ext>
            </a:extLst>
          </p:cNvPr>
          <p:cNvSpPr>
            <a:spLocks xmlns:a="http://schemas.openxmlformats.org/drawingml/2006/main" noGrp="1"/>
          </p:cNvSpPr>
          <p:nvPr/>
        </p:nvSpPr>
        <p:spPr>
          <a:xfrm xmlns:a="http://schemas.openxmlformats.org/drawingml/2006/main">
            <a:off x="8972550" y="431482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22  Spare interchangeability</a:t>
            </a:r>
          </a:p>
        </p:txBody>
      </p:sp>
      <p:sp>
        <p:nvSpPr>
          <p:cNvPr id="30" name="">
            <a:extLst xmlns:a="http://schemas.openxmlformats.org/drawingml/2006/main">
              <a:ext uri="{FF2B5EF4-FFF2-40B4-BE49-F238E27FC236}">
                <a16:creationId xmlns:a16="http://schemas.microsoft.com/office/drawing/2014/main" id="{E695BFFF-5E76-4CAE-B696-E6C4DB2AB6CC}"/>
              </a:ext>
            </a:extLst>
          </p:cNvPr>
          <p:cNvSpPr>
            <a:spLocks xmlns:a="http://schemas.openxmlformats.org/drawingml/2006/main" noGrp="1"/>
          </p:cNvSpPr>
          <p:nvPr/>
        </p:nvSpPr>
        <p:spPr>
          <a:xfrm xmlns:a="http://schemas.openxmlformats.org/drawingml/2006/main">
            <a:off x="8972550" y="482917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23  Authorized expert learning</a:t>
            </a:r>
          </a:p>
        </p:txBody>
      </p:sp>
      <p:sp>
        <p:nvSpPr>
          <p:cNvPr id="31" name="">
            <a:extLst xmlns:a="http://schemas.openxmlformats.org/drawingml/2006/main">
              <a:ext uri="{FF2B5EF4-FFF2-40B4-BE49-F238E27FC236}">
                <a16:creationId xmlns:a16="http://schemas.microsoft.com/office/drawing/2014/main" id="{BFF3CA09-3F66-46F2-86BD-6B91008A383D}"/>
              </a:ext>
            </a:extLst>
          </p:cNvPr>
          <p:cNvSpPr>
            <a:spLocks xmlns:a="http://schemas.openxmlformats.org/drawingml/2006/main" noGrp="1"/>
          </p:cNvSpPr>
          <p:nvPr/>
        </p:nvSpPr>
        <p:spPr>
          <a:xfrm xmlns:a="http://schemas.openxmlformats.org/drawingml/2006/main">
            <a:off x="8972550" y="5343525"/>
            <a:ext cx="2533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3C"/>
                </a:solidFill>
                <a:latin typeface="Arial"/>
                <a:ea typeface="Arial"/>
                <a:cs typeface="Arial"/>
              </a:defRPr>
            </a:defPPr>
          </a:lstStyle>
          <a:p xmlns:a="http://schemas.openxmlformats.org/drawingml/2006/main">
            <a:pPr>
              <a:defRPr sz="1500" b="0">
                <a:solidFill>
                  <a:srgbClr val="142D3C"/>
                </a:solidFill>
                <a:latin typeface="Arial"/>
                <a:ea typeface="Arial"/>
                <a:cs typeface="Arial"/>
              </a:defRPr>
            </a:pPr>
            <a:r>
              <a:rPr sz="1500" b="0">
                <a:solidFill>
                  <a:srgbClr val="142D3C"/>
                </a:solidFill>
                <a:latin typeface="Arial"/>
                <a:ea typeface="Arial"/>
                <a:cs typeface="Arial"/>
              </a:rPr>
              <a:t>24  Cross-project sourcing</a:t>
            </a:r>
          </a:p>
        </p:txBody>
      </p:sp>
      <p:sp>
        <p:nvSpPr>
          <p:cNvPr id="32" name="">
            <a:extLst xmlns:a="http://schemas.openxmlformats.org/drawingml/2006/main">
              <a:ext uri="{FF2B5EF4-FFF2-40B4-BE49-F238E27FC236}">
                <a16:creationId xmlns:a16="http://schemas.microsoft.com/office/drawing/2014/main" id="{EA460823-114B-4A76-82E2-93494FE9EBC0}"/>
              </a:ext>
            </a:extLst>
          </p:cNvPr>
          <p:cNvSpPr>
            <a:spLocks xmlns:a="http://schemas.openxmlformats.org/drawingml/2006/main" noGrp="1"/>
          </p:cNvSpPr>
          <p:nvPr/>
        </p:nvSpPr>
        <p:spPr>
          <a:xfrm xmlns:a="http://schemas.openxmlformats.org/drawingml/2006/main">
            <a:off x="685800" y="59721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36B"/>
                </a:solidFill>
                <a:latin typeface="Arial"/>
                <a:ea typeface="Arial"/>
                <a:cs typeface="Arial"/>
              </a:defRPr>
            </a:defPPr>
          </a:lstStyle>
          <a:p xmlns:a="http://schemas.openxmlformats.org/drawingml/2006/main">
            <a:pPr>
              <a:defRPr sz="1725" b="0">
                <a:solidFill>
                  <a:srgbClr val="53636B"/>
                </a:solidFill>
                <a:latin typeface="Arial"/>
                <a:ea typeface="Arial"/>
                <a:cs typeface="Arial"/>
              </a:defRPr>
            </a:pPr>
            <a:r>
              <a:rPr sz="1725" b="0">
                <a:solidFill>
                  <a:srgbClr val="53636B"/>
                </a:solidFill>
                <a:latin typeface="Arial"/>
                <a:ea typeface="Arial"/>
                <a:cs typeface="Arial"/>
              </a:rPr>
              <a:t>Sequence depends on validated demand, source rights and engineering review.</a:t>
            </a:r>
          </a:p>
        </p:txBody>
      </p:sp>
    </p:spTree>
    <p:extLst>
      <p:ext uri="{BB962C8B-B14F-4D97-AF65-F5344CB8AC3E}">
        <p14:creationId xmlns:p14="http://schemas.microsoft.com/office/powerpoint/2010/main" val="1016384629"/>
      </p:ext>
    </p:extLst>
  </p:cSld>
</p:sld>
</file>

<file path=ppt/slides/slide1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1A2E06-F2C9-4A66-AD1B-417645D9EFAF}"/>
              </a:ext>
            </a:extLst>
          </p:cNvPr>
          <p:cNvSpPr>
            <a:spLocks xmlns:a="http://schemas.openxmlformats.org/drawingml/2006/main" noGrp="1"/>
          </p:cNvSpPr>
          <p:nvPr/>
        </p:nvSpPr>
        <p:spPr>
          <a:xfrm xmlns:a="http://schemas.openxmlformats.org/drawingml/2006/main">
            <a:off x="685800" y="4762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2D3C"/>
                </a:solidFill>
                <a:latin typeface="Arial"/>
                <a:ea typeface="Arial"/>
                <a:cs typeface="Arial"/>
              </a:defRPr>
            </a:defPPr>
          </a:lstStyle>
          <a:p xmlns:a="http://schemas.openxmlformats.org/drawingml/2006/main">
            <a:pPr>
              <a:defRPr sz="3225" b="1">
                <a:solidFill>
                  <a:srgbClr val="142D3C"/>
                </a:solidFill>
                <a:latin typeface="Arial"/>
                <a:ea typeface="Arial"/>
                <a:cs typeface="Arial"/>
              </a:defRPr>
            </a:pPr>
            <a:r>
              <a:rPr sz="3225" b="1">
                <a:solidFill>
                  <a:srgbClr val="142D3C"/>
                </a:solidFill>
                <a:latin typeface="Arial"/>
                <a:ea typeface="Arial"/>
                <a:cs typeface="Arial"/>
              </a:rPr>
              <a:t>Appendix / Recorded source details</a:t>
            </a:r>
          </a:p>
        </p:txBody>
      </p:sp>
      <p:sp>
        <p:nvSpPr>
          <p:cNvPr id="2" name="">
            <a:extLst xmlns:a="http://schemas.openxmlformats.org/drawingml/2006/main">
              <a:ext uri="{FF2B5EF4-FFF2-40B4-BE49-F238E27FC236}">
                <a16:creationId xmlns:a16="http://schemas.microsoft.com/office/drawing/2014/main" id="{E7806E59-C97C-47B7-B278-96D2900DCD8A}"/>
              </a:ext>
            </a:extLst>
          </p:cNvPr>
          <p:cNvSpPr>
            <a:spLocks xmlns:a="http://schemas.openxmlformats.org/drawingml/2006/main" noGrp="1"/>
          </p:cNvSpPr>
          <p:nvPr/>
        </p:nvSpPr>
        <p:spPr>
          <a:xfrm xmlns:a="http://schemas.openxmlformats.org/drawingml/2006/main">
            <a:off x="685800" y="12954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36B"/>
                </a:solidFill>
                <a:latin typeface="Arial"/>
                <a:ea typeface="Arial"/>
                <a:cs typeface="Arial"/>
              </a:defRPr>
            </a:defPPr>
          </a:lstStyle>
          <a:p xmlns:a="http://schemas.openxmlformats.org/drawingml/2006/main">
            <a:pPr>
              <a:defRPr sz="1800" b="0">
                <a:solidFill>
                  <a:srgbClr val="53636B"/>
                </a:solidFill>
                <a:latin typeface="Arial"/>
                <a:ea typeface="Arial"/>
                <a:cs typeface="Arial"/>
              </a:defRPr>
            </a:pPr>
            <a:r>
              <a:rPr sz="1800" b="0">
                <a:solidFill>
                  <a:srgbClr val="53636B"/>
                </a:solidFill>
                <a:latin typeface="Arial"/>
                <a:ea typeface="Arial"/>
                <a:cs typeface="Arial"/>
              </a:rPr>
              <a:t>Actual item-2 price tabulations and the governing clarification</a:t>
            </a:r>
          </a:p>
        </p:txBody>
      </p:sp>
      <p:sp>
        <p:nvSpPr>
          <p:cNvPr id="3" name="">
            <a:extLst xmlns:a="http://schemas.openxmlformats.org/drawingml/2006/main">
              <a:ext uri="{FF2B5EF4-FFF2-40B4-BE49-F238E27FC236}">
                <a16:creationId xmlns:a16="http://schemas.microsoft.com/office/drawing/2014/main" id="{439051DD-4DCF-4B68-A962-BF2F4A1E5628}"/>
              </a:ext>
            </a:extLst>
          </p:cNvPr>
          <p:cNvSpPr>
            <a:spLocks xmlns:a="http://schemas.openxmlformats.org/drawingml/2006/main" noGrp="1"/>
          </p:cNvSpPr>
          <p:nvPr/>
        </p:nvSpPr>
        <p:spPr>
          <a:xfrm xmlns:a="http://schemas.openxmlformats.org/drawingml/2006/main">
            <a:off x="685800" y="6343650"/>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36B"/>
                </a:solidFill>
                <a:latin typeface="Arial"/>
                <a:ea typeface="Arial"/>
                <a:cs typeface="Arial"/>
              </a:defRPr>
            </a:defPPr>
          </a:lstStyle>
          <a:p xmlns:a="http://schemas.openxmlformats.org/drawingml/2006/main">
            <a:pPr>
              <a:defRPr sz="1200" b="0">
                <a:solidFill>
                  <a:srgbClr val="53636B"/>
                </a:solidFill>
                <a:latin typeface="Arial"/>
                <a:ea typeface="Arial"/>
                <a:cs typeface="Arial"/>
              </a:defRPr>
            </a:pPr>
            <a:r>
              <a:rPr sz="1200" b="0">
                <a:solidFill>
                  <a:srgbClr val="53636B"/>
                </a:solidFill>
                <a:latin typeface="Arial"/>
                <a:ea typeface="Arial"/>
                <a:cs typeface="Arial"/>
              </a:rPr>
              <a:t>TenderProof / SwissChivers / 12</a:t>
            </a:r>
          </a:p>
        </p:txBody>
      </p:sp>
      <p:graphicFrame>
        <p:nvGraphicFramePr>
          <p:cNvPr id="4" name="">
            <a:extLst xmlns:a="http://schemas.openxmlformats.org/drawingml/2006/main">
              <a:ext uri="{FF2B5EF4-FFF2-40B4-BE49-F238E27FC236}">
                <a16:creationId xmlns:a16="http://schemas.microsoft.com/office/drawing/2014/main" id="{73899B4E-72BC-4647-9B99-88C141049F91}"/>
              </a:ext>
            </a:extLst>
          </p:cNvPr>
          <p:cNvGraphicFramePr/>
          <p:nvPr/>
        </p:nvGraphicFramePr>
        <p:xfrm>
          <a:off xmlns:a="http://schemas.openxmlformats.org/drawingml/2006/main" x="685800" y="2066925"/>
          <a:ext xmlns:a="http://schemas.openxmlformats.org/drawingml/2006/main" cx="10820400" cy="3095625"/>
        </p:xfrm>
        <a:graphic xmlns:a="http://schemas.openxmlformats.org/drawingml/2006/main">
          <a:graphicData uri="http://schemas.openxmlformats.org/drawingml/2006/table">
            <a:tbl>
              <a:tblPr/>
              <a:tblGrid>
                <a:gridCol w="4762500"/>
                <a:gridCol w="3028950"/>
                <a:gridCol w="3028950"/>
              </a:tblGrid>
              <a:tr h="619125">
                <a:tc>
                  <a:txBody>
                    <a:bodyPr/>
                    <a:lstStyle/>
                    <a:p>
                      <a:r>
                        <a:rPr sz="1650" b="1">
                          <a:solidFill>
                            <a:srgbClr val="FFFFFF"/>
                          </a:solidFill>
                          <a:latin typeface="Arial"/>
                          <a:ea typeface="Arial"/>
                          <a:cs typeface="Arial"/>
                        </a:rPr>
                        <a:t>Bidder as written</a:t>
                      </a:r>
                    </a:p>
                  </a:txBody>
                  <a:tcPr marL="91440" marR="91440" marT="45720" marB="45720">
                    <a:lnL w="9525">
                      <a:solidFill>
                        <a:srgbClr val="C5CEC9"/>
                      </a:solidFill>
                      <a:prstDash val="solid"/>
                    </a:lnL>
                    <a:lnR w="9525">
                      <a:solidFill>
                        <a:srgbClr val="C5CEC9"/>
                      </a:solidFill>
                      <a:prstDash val="solid"/>
                    </a:lnR>
                    <a:lnT w="9525">
                      <a:solidFill>
                        <a:srgbClr val="C5CEC9"/>
                      </a:solidFill>
                      <a:prstDash val="solid"/>
                    </a:lnT>
                    <a:lnB w="9525">
                      <a:solidFill>
                        <a:srgbClr val="C5CEC9"/>
                      </a:solidFill>
                      <a:prstDash val="solid"/>
                    </a:lnB>
                    <a:solidFill>
                      <a:srgbClr val="142D3C"/>
                    </a:solidFill>
                  </a:tcPr>
                </a:tc>
                <a:tc>
                  <a:txBody>
                    <a:bodyPr/>
                    <a:lstStyle/>
                    <a:p>
                      <a:r>
                        <a:rPr sz="1650" b="1">
                          <a:solidFill>
                            <a:srgbClr val="FFFFFF"/>
                          </a:solidFill>
                          <a:latin typeface="Arial"/>
                          <a:ea typeface="Arial"/>
                          <a:cs typeface="Arial"/>
                        </a:rPr>
                        <a:t>Basic USD/unit</a:t>
                      </a:r>
                    </a:p>
                  </a:txBody>
                  <a:tcPr marL="91440" marR="91440" marT="45720" marB="45720">
                    <a:lnR w="9525">
                      <a:solidFill>
                        <a:srgbClr val="C5CEC9"/>
                      </a:solidFill>
                      <a:prstDash val="solid"/>
                    </a:lnR>
                    <a:lnT w="9525">
                      <a:solidFill>
                        <a:srgbClr val="C5CEC9"/>
                      </a:solidFill>
                      <a:prstDash val="solid"/>
                    </a:lnT>
                    <a:lnB w="9525">
                      <a:solidFill>
                        <a:srgbClr val="C5CEC9"/>
                      </a:solidFill>
                      <a:prstDash val="solid"/>
                    </a:lnB>
                    <a:solidFill>
                      <a:srgbClr val="142D3C"/>
                    </a:solidFill>
                  </a:tcPr>
                </a:tc>
                <a:tc>
                  <a:txBody>
                    <a:bodyPr/>
                    <a:lstStyle/>
                    <a:p>
                      <a:r>
                        <a:rPr sz="1650" b="1">
                          <a:solidFill>
                            <a:srgbClr val="FFFFFF"/>
                          </a:solidFill>
                          <a:latin typeface="Arial"/>
                          <a:ea typeface="Arial"/>
                          <a:cs typeface="Arial"/>
                        </a:rPr>
                        <a:t>Alternate USD/unit</a:t>
                      </a:r>
                    </a:p>
                  </a:txBody>
                  <a:tcPr marL="91440" marR="91440" marT="45720" marB="45720">
                    <a:lnR w="9525">
                      <a:solidFill>
                        <a:srgbClr val="C5CEC9"/>
                      </a:solidFill>
                      <a:prstDash val="solid"/>
                    </a:lnR>
                    <a:lnT w="9525">
                      <a:solidFill>
                        <a:srgbClr val="C5CEC9"/>
                      </a:solidFill>
                      <a:prstDash val="solid"/>
                    </a:lnT>
                    <a:lnB w="9525">
                      <a:solidFill>
                        <a:srgbClr val="C5CEC9"/>
                      </a:solidFill>
                      <a:prstDash val="solid"/>
                    </a:lnB>
                    <a:solidFill>
                      <a:srgbClr val="142D3C"/>
                    </a:solidFill>
                  </a:tcPr>
                </a:tc>
              </a:tr>
              <a:tr h="619125">
                <a:tc>
                  <a:txBody>
                    <a:bodyPr/>
                    <a:lstStyle/>
                    <a:p>
                      <a:r>
                        <a:rPr sz="1650" b="0">
                          <a:solidFill>
                            <a:srgbClr val="142D3C"/>
                          </a:solidFill>
                          <a:latin typeface="Arial"/>
                          <a:ea typeface="Arial"/>
                          <a:cs typeface="Arial"/>
                        </a:rPr>
                        <a:t>R&amp;D Marketing</a:t>
                      </a:r>
                    </a:p>
                  </a:txBody>
                  <a:tcPr marL="91440" marR="91440" marT="45720" marB="45720">
                    <a:lnL w="9525">
                      <a:solidFill>
                        <a:srgbClr val="C5CEC9"/>
                      </a:solidFill>
                      <a:prstDash val="solid"/>
                    </a:lnL>
                    <a:lnR w="9525">
                      <a:solidFill>
                        <a:srgbClr val="C5CEC9"/>
                      </a:solidFill>
                      <a:prstDash val="solid"/>
                    </a:lnR>
                    <a:lnB w="9525">
                      <a:solidFill>
                        <a:srgbClr val="C5CEC9"/>
                      </a:solidFill>
                      <a:prstDash val="solid"/>
                    </a:lnB>
                    <a:solidFill>
                      <a:srgbClr val="F5F2EA"/>
                    </a:solidFill>
                  </a:tcPr>
                </a:tc>
                <a:tc>
                  <a:txBody>
                    <a:bodyPr/>
                    <a:lstStyle/>
                    <a:p>
                      <a:r>
                        <a:rPr sz="1650" b="0">
                          <a:solidFill>
                            <a:srgbClr val="142D3C"/>
                          </a:solidFill>
                          <a:latin typeface="Arial"/>
                          <a:ea typeface="Arial"/>
                          <a:cs typeface="Arial"/>
                        </a:rPr>
                        <a:t>37,105.50</a:t>
                      </a:r>
                    </a:p>
                  </a:txBody>
                  <a:tcPr marL="91440" marR="91440" marT="45720" marB="45720">
                    <a:lnR w="9525">
                      <a:solidFill>
                        <a:srgbClr val="C5CEC9"/>
                      </a:solidFill>
                      <a:prstDash val="solid"/>
                    </a:lnR>
                    <a:lnB w="9525">
                      <a:solidFill>
                        <a:srgbClr val="C5CEC9"/>
                      </a:solidFill>
                      <a:prstDash val="solid"/>
                    </a:lnB>
                    <a:solidFill>
                      <a:srgbClr val="F5F2EA"/>
                    </a:solidFill>
                  </a:tcPr>
                </a:tc>
                <a:tc>
                  <a:txBody>
                    <a:bodyPr/>
                    <a:lstStyle/>
                    <a:p>
                      <a:r>
                        <a:rPr sz="1650" b="0">
                          <a:solidFill>
                            <a:srgbClr val="142D3C"/>
                          </a:solidFill>
                          <a:latin typeface="Arial"/>
                          <a:ea typeface="Arial"/>
                          <a:cs typeface="Arial"/>
                        </a:rPr>
                        <a:t>Blank</a:t>
                      </a:r>
                    </a:p>
                  </a:txBody>
                  <a:tcPr marL="91440" marR="91440" marT="45720" marB="45720">
                    <a:lnR w="9525">
                      <a:solidFill>
                        <a:srgbClr val="C5CEC9"/>
                      </a:solidFill>
                      <a:prstDash val="solid"/>
                    </a:lnR>
                    <a:lnB w="9525">
                      <a:solidFill>
                        <a:srgbClr val="C5CEC9"/>
                      </a:solidFill>
                      <a:prstDash val="solid"/>
                    </a:lnB>
                    <a:solidFill>
                      <a:srgbClr val="F5F2EA"/>
                    </a:solidFill>
                  </a:tcPr>
                </a:tc>
              </a:tr>
              <a:tr h="619125">
                <a:tc>
                  <a:txBody>
                    <a:bodyPr/>
                    <a:lstStyle/>
                    <a:p>
                      <a:r>
                        <a:rPr sz="1650" b="0">
                          <a:solidFill>
                            <a:srgbClr val="142D3C"/>
                          </a:solidFill>
                          <a:latin typeface="Arial"/>
                          <a:ea typeface="Arial"/>
                          <a:cs typeface="Arial"/>
                        </a:rPr>
                        <a:t>Benson Guam Enterprises Inc.</a:t>
                      </a:r>
                    </a:p>
                  </a:txBody>
                  <a:tcPr marL="91440" marR="91440" marT="45720" marB="45720">
                    <a:lnL w="9525">
                      <a:solidFill>
                        <a:srgbClr val="C5CEC9"/>
                      </a:solidFill>
                      <a:prstDash val="solid"/>
                    </a:lnL>
                    <a:lnR w="9525">
                      <a:solidFill>
                        <a:srgbClr val="C5CEC9"/>
                      </a:solidFill>
                      <a:prstDash val="solid"/>
                    </a:lnR>
                    <a:lnB w="9525">
                      <a:solidFill>
                        <a:srgbClr val="C5CEC9"/>
                      </a:solidFill>
                      <a:prstDash val="solid"/>
                    </a:lnB>
                    <a:solidFill>
                      <a:srgbClr val="E7EDE5"/>
                    </a:solidFill>
                  </a:tcPr>
                </a:tc>
                <a:tc>
                  <a:txBody>
                    <a:bodyPr/>
                    <a:lstStyle/>
                    <a:p>
                      <a:r>
                        <a:rPr sz="1650" b="0">
                          <a:solidFill>
                            <a:srgbClr val="142D3C"/>
                          </a:solidFill>
                          <a:latin typeface="Arial"/>
                          <a:ea typeface="Arial"/>
                          <a:cs typeface="Arial"/>
                        </a:rPr>
                        <a:t>25,600.00</a:t>
                      </a:r>
                    </a:p>
                  </a:txBody>
                  <a:tcPr marL="91440" marR="91440" marT="45720" marB="45720">
                    <a:lnR w="9525">
                      <a:solidFill>
                        <a:srgbClr val="C5CEC9"/>
                      </a:solidFill>
                      <a:prstDash val="solid"/>
                    </a:lnR>
                    <a:lnB w="9525">
                      <a:solidFill>
                        <a:srgbClr val="C5CEC9"/>
                      </a:solidFill>
                      <a:prstDash val="solid"/>
                    </a:lnB>
                    <a:solidFill>
                      <a:srgbClr val="E7EDE5"/>
                    </a:solidFill>
                  </a:tcPr>
                </a:tc>
                <a:tc>
                  <a:txBody>
                    <a:bodyPr/>
                    <a:lstStyle/>
                    <a:p>
                      <a:r>
                        <a:rPr sz="1650" b="0">
                          <a:solidFill>
                            <a:srgbClr val="142D3C"/>
                          </a:solidFill>
                          <a:latin typeface="Arial"/>
                          <a:ea typeface="Arial"/>
                          <a:cs typeface="Arial"/>
                        </a:rPr>
                        <a:t>22,845.00</a:t>
                      </a:r>
                    </a:p>
                  </a:txBody>
                  <a:tcPr marL="91440" marR="91440" marT="45720" marB="45720">
                    <a:lnR w="9525">
                      <a:solidFill>
                        <a:srgbClr val="C5CEC9"/>
                      </a:solidFill>
                      <a:prstDash val="solid"/>
                    </a:lnR>
                    <a:lnB w="9525">
                      <a:solidFill>
                        <a:srgbClr val="C5CEC9"/>
                      </a:solidFill>
                      <a:prstDash val="solid"/>
                    </a:lnB>
                    <a:solidFill>
                      <a:srgbClr val="E7EDE5"/>
                    </a:solidFill>
                  </a:tcPr>
                </a:tc>
              </a:tr>
              <a:tr h="619125">
                <a:tc>
                  <a:txBody>
                    <a:bodyPr/>
                    <a:lstStyle/>
                    <a:p>
                      <a:r>
                        <a:rPr sz="1650" b="0">
                          <a:solidFill>
                            <a:srgbClr val="142D3C"/>
                          </a:solidFill>
                          <a:latin typeface="Arial"/>
                          <a:ea typeface="Arial"/>
                          <a:cs typeface="Arial"/>
                        </a:rPr>
                        <a:t>Polyphase System Inc.</a:t>
                      </a:r>
                    </a:p>
                  </a:txBody>
                  <a:tcPr marL="91440" marR="91440" marT="45720" marB="45720">
                    <a:lnL w="9525">
                      <a:solidFill>
                        <a:srgbClr val="C5CEC9"/>
                      </a:solidFill>
                      <a:prstDash val="solid"/>
                    </a:lnL>
                    <a:lnR w="9525">
                      <a:solidFill>
                        <a:srgbClr val="C5CEC9"/>
                      </a:solidFill>
                      <a:prstDash val="solid"/>
                    </a:lnR>
                    <a:lnB w="9525">
                      <a:solidFill>
                        <a:srgbClr val="C5CEC9"/>
                      </a:solidFill>
                      <a:prstDash val="solid"/>
                    </a:lnB>
                    <a:solidFill>
                      <a:srgbClr val="F5F2EA"/>
                    </a:solidFill>
                  </a:tcPr>
                </a:tc>
                <a:tc>
                  <a:txBody>
                    <a:bodyPr/>
                    <a:lstStyle/>
                    <a:p>
                      <a:r>
                        <a:rPr sz="1650" b="0">
                          <a:solidFill>
                            <a:srgbClr val="142D3C"/>
                          </a:solidFill>
                          <a:latin typeface="Arial"/>
                          <a:ea typeface="Arial"/>
                          <a:cs typeface="Arial"/>
                        </a:rPr>
                        <a:t>27,252.26</a:t>
                      </a:r>
                    </a:p>
                  </a:txBody>
                  <a:tcPr marL="91440" marR="91440" marT="45720" marB="45720">
                    <a:lnR w="9525">
                      <a:solidFill>
                        <a:srgbClr val="C5CEC9"/>
                      </a:solidFill>
                      <a:prstDash val="solid"/>
                    </a:lnR>
                    <a:lnB w="9525">
                      <a:solidFill>
                        <a:srgbClr val="C5CEC9"/>
                      </a:solidFill>
                      <a:prstDash val="solid"/>
                    </a:lnB>
                    <a:solidFill>
                      <a:srgbClr val="F5F2EA"/>
                    </a:solidFill>
                  </a:tcPr>
                </a:tc>
                <a:tc>
                  <a:txBody>
                    <a:bodyPr/>
                    <a:lstStyle/>
                    <a:p>
                      <a:r>
                        <a:rPr sz="1650" b="0">
                          <a:solidFill>
                            <a:srgbClr val="142D3C"/>
                          </a:solidFill>
                          <a:latin typeface="Arial"/>
                          <a:ea typeface="Arial"/>
                          <a:cs typeface="Arial"/>
                        </a:rPr>
                        <a:t>Item-2 blank</a:t>
                      </a:r>
                    </a:p>
                  </a:txBody>
                  <a:tcPr marL="91440" marR="91440" marT="45720" marB="45720">
                    <a:lnR w="9525">
                      <a:solidFill>
                        <a:srgbClr val="C5CEC9"/>
                      </a:solidFill>
                      <a:prstDash val="solid"/>
                    </a:lnR>
                    <a:lnB w="9525">
                      <a:solidFill>
                        <a:srgbClr val="C5CEC9"/>
                      </a:solidFill>
                      <a:prstDash val="solid"/>
                    </a:lnB>
                    <a:solidFill>
                      <a:srgbClr val="F5F2EA"/>
                    </a:solidFill>
                  </a:tcPr>
                </a:tc>
              </a:tr>
              <a:tr h="619125">
                <a:tc>
                  <a:txBody>
                    <a:bodyPr/>
                    <a:lstStyle/>
                    <a:p>
                      <a:r>
                        <a:rPr sz="1650" b="0">
                          <a:solidFill>
                            <a:srgbClr val="142D3C"/>
                          </a:solidFill>
                          <a:latin typeface="Arial"/>
                          <a:ea typeface="Arial"/>
                          <a:cs typeface="Arial"/>
                        </a:rPr>
                        <a:t>JMI Edison</a:t>
                      </a:r>
                    </a:p>
                  </a:txBody>
                  <a:tcPr marL="91440" marR="91440" marT="45720" marB="45720">
                    <a:lnL w="9525">
                      <a:solidFill>
                        <a:srgbClr val="C5CEC9"/>
                      </a:solidFill>
                      <a:prstDash val="solid"/>
                    </a:lnL>
                    <a:lnR w="9525">
                      <a:solidFill>
                        <a:srgbClr val="C5CEC9"/>
                      </a:solidFill>
                      <a:prstDash val="solid"/>
                    </a:lnR>
                    <a:lnB w="9525">
                      <a:solidFill>
                        <a:srgbClr val="C5CEC9"/>
                      </a:solidFill>
                      <a:prstDash val="solid"/>
                    </a:lnB>
                    <a:solidFill>
                      <a:srgbClr val="E7EDE5"/>
                    </a:solidFill>
                  </a:tcPr>
                </a:tc>
                <a:tc>
                  <a:txBody>
                    <a:bodyPr/>
                    <a:lstStyle/>
                    <a:p>
                      <a:r>
                        <a:rPr sz="1650" b="0">
                          <a:solidFill>
                            <a:srgbClr val="142D3C"/>
                          </a:solidFill>
                          <a:latin typeface="Arial"/>
                          <a:ea typeface="Arial"/>
                          <a:cs typeface="Arial"/>
                        </a:rPr>
                        <a:t>34,250.00</a:t>
                      </a:r>
                    </a:p>
                  </a:txBody>
                  <a:tcPr marL="91440" marR="91440" marT="45720" marB="45720">
                    <a:lnR w="9525">
                      <a:solidFill>
                        <a:srgbClr val="C5CEC9"/>
                      </a:solidFill>
                      <a:prstDash val="solid"/>
                    </a:lnR>
                    <a:lnB w="9525">
                      <a:solidFill>
                        <a:srgbClr val="C5CEC9"/>
                      </a:solidFill>
                      <a:prstDash val="solid"/>
                    </a:lnB>
                    <a:solidFill>
                      <a:srgbClr val="E7EDE5"/>
                    </a:solidFill>
                  </a:tcPr>
                </a:tc>
                <a:tc>
                  <a:txBody>
                    <a:bodyPr/>
                    <a:lstStyle/>
                    <a:p>
                      <a:r>
                        <a:rPr sz="1650" b="0">
                          <a:solidFill>
                            <a:srgbClr val="142D3C"/>
                          </a:solidFill>
                          <a:latin typeface="Arial"/>
                          <a:ea typeface="Arial"/>
                          <a:cs typeface="Arial"/>
                        </a:rPr>
                        <a:t>Blank</a:t>
                      </a:r>
                    </a:p>
                  </a:txBody>
                  <a:tcPr marL="91440" marR="91440" marT="45720" marB="45720">
                    <a:lnR w="9525">
                      <a:solidFill>
                        <a:srgbClr val="C5CEC9"/>
                      </a:solidFill>
                      <a:prstDash val="solid"/>
                    </a:lnR>
                    <a:lnB w="9525">
                      <a:solidFill>
                        <a:srgbClr val="C5CEC9"/>
                      </a:solidFill>
                      <a:prstDash val="solid"/>
                    </a:lnB>
                    <a:solidFill>
                      <a:srgbClr val="E7EDE5"/>
                    </a:solidFill>
                  </a:tcPr>
                </a:tc>
              </a:tr>
            </a:tbl>
          </a:graphicData>
        </a:graphic>
      </p:graphicFrame>
      <p:sp>
        <p:nvSpPr>
          <p:cNvPr id="5" name="">
            <a:extLst xmlns:a="http://schemas.openxmlformats.org/drawingml/2006/main">
              <a:ext uri="{FF2B5EF4-FFF2-40B4-BE49-F238E27FC236}">
                <a16:creationId xmlns:a16="http://schemas.microsoft.com/office/drawing/2014/main" id="{66CA07DB-67A3-4101-81E5-85F9E7D15FE4}"/>
              </a:ext>
            </a:extLst>
          </p:cNvPr>
          <p:cNvSpPr>
            <a:spLocks xmlns:a="http://schemas.openxmlformats.org/drawingml/2006/main" noGrp="1"/>
          </p:cNvSpPr>
          <p:nvPr/>
        </p:nvSpPr>
        <p:spPr>
          <a:xfrm xmlns:a="http://schemas.openxmlformats.org/drawingml/2006/main">
            <a:off x="685800" y="53625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6F69"/>
                </a:solidFill>
                <a:latin typeface="Arial"/>
                <a:ea typeface="Arial"/>
                <a:cs typeface="Arial"/>
              </a:defRPr>
            </a:defPPr>
          </a:lstStyle>
          <a:p xmlns:a="http://schemas.openxmlformats.org/drawingml/2006/main">
            <a:pPr>
              <a:defRPr sz="1800" b="1">
                <a:solidFill>
                  <a:srgbClr val="176F69"/>
                </a:solidFill>
                <a:latin typeface="Arial"/>
                <a:ea typeface="Arial"/>
                <a:cs typeface="Arial"/>
              </a:defRPr>
            </a:pPr>
            <a:r>
              <a:rPr sz="1800" b="1">
                <a:solidFill>
                  <a:srgbClr val="176F69"/>
                </a:solidFill>
                <a:latin typeface="Arial"/>
                <a:ea typeface="Arial"/>
                <a:cs typeface="Arial"/>
              </a:rPr>
              <a:t>Amendment II: flip-top response “no.” Delivery: 24 weeks after approved drawings.</a:t>
            </a:r>
          </a:p>
        </p:txBody>
      </p:sp>
      <p:sp>
        <p:nvSpPr>
          <p:cNvPr id="6" name="">
            <a:extLst xmlns:a="http://schemas.openxmlformats.org/drawingml/2006/main">
              <a:ext uri="{FF2B5EF4-FFF2-40B4-BE49-F238E27FC236}">
                <a16:creationId xmlns:a16="http://schemas.microsoft.com/office/drawing/2014/main" id="{8E19041D-7443-47E6-813D-0C0C83752D6A}"/>
              </a:ext>
            </a:extLst>
          </p:cNvPr>
          <p:cNvSpPr>
            <a:spLocks xmlns:a="http://schemas.openxmlformats.org/drawingml/2006/main" noGrp="1"/>
          </p:cNvSpPr>
          <p:nvPr/>
        </p:nvSpPr>
        <p:spPr>
          <a:xfrm xmlns:a="http://schemas.openxmlformats.org/drawingml/2006/main">
            <a:off x="685800" y="59721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3636B"/>
                </a:solidFill>
                <a:latin typeface="Arial"/>
                <a:ea typeface="Arial"/>
                <a:cs typeface="Arial"/>
              </a:defRPr>
            </a:defPPr>
          </a:lstStyle>
          <a:p xmlns:a="http://schemas.openxmlformats.org/drawingml/2006/main">
            <a:pPr>
              <a:defRPr sz="1575" b="0">
                <a:solidFill>
                  <a:srgbClr val="53636B"/>
                </a:solidFill>
                <a:latin typeface="Arial"/>
                <a:ea typeface="Arial"/>
                <a:cs typeface="Arial"/>
              </a:defRPr>
            </a:pPr>
            <a:r>
              <a:rPr sz="1575" b="0">
                <a:solidFill>
                  <a:srgbClr val="53636B"/>
                </a:solidFill>
                <a:latin typeface="Arial"/>
                <a:ea typeface="Arial"/>
                <a:cs typeface="Arial"/>
              </a:rPr>
              <a:t>Source readings require review; price alone does not establish compliance or TCO.</a:t>
            </a:r>
          </a:p>
        </p:txBody>
      </p:sp>
    </p:spTree>
    <p:extLst>
      <p:ext uri="{BB962C8B-B14F-4D97-AF65-F5344CB8AC3E}">
        <p14:creationId xmlns:p14="http://schemas.microsoft.com/office/powerpoint/2010/main" val="21431334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2026-10-15T14:49:24.7230000Z</dcterms:created>
  <dcterms:modified xsi:type="dcterms:W3CDTF">2026-10-15T14:49:24.7230000Z</dcterms:modified>
</coreProperties>
</file>